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65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04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24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83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5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16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6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47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26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19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224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AFE76-3ED4-4AB6-BE0D-6584BF48C196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AFFDC-EC59-4AEE-BD8C-7B467E18FD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09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ltk.org/book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Természetes nyelvek feldolgozása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err="1" smtClean="0"/>
              <a:t>SpaCy</a:t>
            </a:r>
            <a:r>
              <a:rPr lang="hu-HU" sz="3200" i="1" dirty="0" smtClean="0"/>
              <a:t>, </a:t>
            </a:r>
            <a:r>
              <a:rPr lang="hu-HU" sz="3200" i="1" dirty="0" smtClean="0"/>
              <a:t>Stanza és E-magyar</a:t>
            </a:r>
            <a:endParaRPr lang="en-GB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Pethő Gergely</a:t>
            </a:r>
          </a:p>
          <a:p>
            <a:r>
              <a:rPr lang="hu-HU" dirty="0" smtClean="0"/>
              <a:t>2025.10.31.</a:t>
            </a:r>
            <a:endParaRPr lang="hu-HU" dirty="0"/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46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</a:t>
            </a:r>
            <a:r>
              <a:rPr lang="hu-HU" dirty="0" smtClean="0"/>
              <a:t> </a:t>
            </a:r>
            <a:r>
              <a:rPr lang="es-ES" dirty="0" smtClean="0"/>
              <a:t>feldolgozási </a:t>
            </a:r>
            <a:r>
              <a:rPr lang="hu-HU" dirty="0" smtClean="0"/>
              <a:t>munkafolyamat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természetes nyelvi szövegek feldolgozásában (</a:t>
            </a:r>
            <a:r>
              <a:rPr lang="hu-HU" dirty="0" err="1" smtClean="0"/>
              <a:t>NLP-ben</a:t>
            </a:r>
            <a:r>
              <a:rPr lang="hu-HU" dirty="0" smtClean="0"/>
              <a:t>) a feldolgozási munkafolyamat vagy lánc (</a:t>
            </a:r>
            <a:r>
              <a:rPr lang="hu-HU" dirty="0" err="1" smtClean="0"/>
              <a:t>pipeline</a:t>
            </a:r>
            <a:r>
              <a:rPr lang="hu-HU" dirty="0" smtClean="0"/>
              <a:t>) tipikus lépések sorozatából áll:</a:t>
            </a:r>
          </a:p>
          <a:p>
            <a:pPr lvl="1"/>
            <a:r>
              <a:rPr lang="en-GB" dirty="0" err="1" smtClean="0"/>
              <a:t>Szöveg</a:t>
            </a:r>
            <a:r>
              <a:rPr lang="en-GB" dirty="0" smtClean="0"/>
              <a:t> </a:t>
            </a:r>
            <a:r>
              <a:rPr lang="en-GB" dirty="0" err="1" smtClean="0"/>
              <a:t>kinyerése</a:t>
            </a:r>
            <a:r>
              <a:rPr lang="en-GB" dirty="0" smtClean="0"/>
              <a:t> a </a:t>
            </a:r>
            <a:r>
              <a:rPr lang="en-GB" dirty="0" err="1" smtClean="0"/>
              <a:t>forrásdokumentumból</a:t>
            </a:r>
            <a:endParaRPr lang="hu-HU" dirty="0" smtClean="0"/>
          </a:p>
          <a:p>
            <a:pPr lvl="2"/>
            <a:r>
              <a:rPr lang="en-GB" dirty="0" smtClean="0"/>
              <a:t>PDF, HTML, e-</a:t>
            </a:r>
            <a:r>
              <a:rPr lang="en-GB" dirty="0" err="1" smtClean="0"/>
              <a:t>könyv</a:t>
            </a:r>
            <a:r>
              <a:rPr lang="hu-HU" dirty="0" smtClean="0"/>
              <a:t> </a:t>
            </a:r>
            <a:r>
              <a:rPr lang="en-GB" dirty="0" err="1" smtClean="0"/>
              <a:t>formátum</a:t>
            </a:r>
            <a:r>
              <a:rPr lang="en-GB" dirty="0" smtClean="0"/>
              <a:t>, </a:t>
            </a:r>
            <a:r>
              <a:rPr lang="en-GB" dirty="0" err="1" smtClean="0"/>
              <a:t>docx</a:t>
            </a:r>
            <a:r>
              <a:rPr lang="en-GB" dirty="0" smtClean="0"/>
              <a:t>, </a:t>
            </a:r>
            <a:r>
              <a:rPr lang="en-GB" dirty="0" err="1" smtClean="0"/>
              <a:t>stb</a:t>
            </a:r>
            <a:r>
              <a:rPr lang="en-GB" dirty="0" smtClean="0"/>
              <a:t>. </a:t>
            </a:r>
            <a:r>
              <a:rPr lang="en-GB" dirty="0" err="1" smtClean="0"/>
              <a:t>forrásokból</a:t>
            </a:r>
            <a:endParaRPr lang="hu-HU" dirty="0" smtClean="0"/>
          </a:p>
          <a:p>
            <a:pPr lvl="1"/>
            <a:r>
              <a:rPr lang="hu-HU" dirty="0" err="1" smtClean="0"/>
              <a:t>Előfeldolgozás</a:t>
            </a:r>
            <a:endParaRPr lang="hu-HU" dirty="0" smtClean="0"/>
          </a:p>
          <a:p>
            <a:pPr lvl="2"/>
            <a:r>
              <a:rPr lang="en-GB" dirty="0" err="1" smtClean="0"/>
              <a:t>Reklámok</a:t>
            </a:r>
            <a:r>
              <a:rPr lang="en-GB" dirty="0" smtClean="0"/>
              <a:t>, </a:t>
            </a:r>
            <a:r>
              <a:rPr lang="en-GB" dirty="0" err="1" smtClean="0"/>
              <a:t>navigációs</a:t>
            </a:r>
            <a:r>
              <a:rPr lang="en-GB" dirty="0" smtClean="0"/>
              <a:t> </a:t>
            </a:r>
            <a:r>
              <a:rPr lang="en-GB" dirty="0" err="1" smtClean="0"/>
              <a:t>elemek</a:t>
            </a:r>
            <a:r>
              <a:rPr lang="en-GB" dirty="0" smtClean="0"/>
              <a:t>, </a:t>
            </a:r>
            <a:r>
              <a:rPr lang="en-GB" dirty="0" err="1" smtClean="0"/>
              <a:t>hiperlinkek</a:t>
            </a:r>
            <a:r>
              <a:rPr lang="en-GB" dirty="0" smtClean="0"/>
              <a:t> </a:t>
            </a:r>
            <a:r>
              <a:rPr lang="en-GB" dirty="0" err="1" smtClean="0"/>
              <a:t>eltávolítása</a:t>
            </a:r>
            <a:r>
              <a:rPr lang="hu-HU" dirty="0" smtClean="0"/>
              <a:t>; </a:t>
            </a:r>
            <a:r>
              <a:rPr lang="hu-HU" dirty="0"/>
              <a:t>f</a:t>
            </a:r>
            <a:r>
              <a:rPr lang="en-GB" dirty="0" err="1" smtClean="0"/>
              <a:t>elesleges</a:t>
            </a:r>
            <a:r>
              <a:rPr lang="en-GB" dirty="0" smtClean="0"/>
              <a:t> </a:t>
            </a:r>
            <a:r>
              <a:rPr lang="en-GB" dirty="0" err="1" smtClean="0"/>
              <a:t>szóközök</a:t>
            </a:r>
            <a:r>
              <a:rPr lang="en-GB" dirty="0" smtClean="0"/>
              <a:t> </a:t>
            </a:r>
            <a:r>
              <a:rPr lang="en-GB" dirty="0" err="1" smtClean="0"/>
              <a:t>kezelése</a:t>
            </a:r>
            <a:r>
              <a:rPr lang="hu-HU" dirty="0" smtClean="0"/>
              <a:t>; k</a:t>
            </a:r>
            <a:r>
              <a:rPr lang="en-GB" dirty="0" err="1" smtClean="0"/>
              <a:t>arakterkódolási</a:t>
            </a:r>
            <a:r>
              <a:rPr lang="en-GB" dirty="0" smtClean="0"/>
              <a:t> </a:t>
            </a:r>
            <a:r>
              <a:rPr lang="en-GB" dirty="0" err="1" smtClean="0"/>
              <a:t>problémák</a:t>
            </a:r>
            <a:r>
              <a:rPr lang="en-GB" dirty="0" smtClean="0"/>
              <a:t> </a:t>
            </a:r>
            <a:r>
              <a:rPr lang="en-GB" dirty="0" err="1" smtClean="0"/>
              <a:t>kezelése</a:t>
            </a:r>
            <a:r>
              <a:rPr lang="hu-HU" dirty="0" smtClean="0"/>
              <a:t>; szemét kiszűrése (pl. más nyelven írt szövegek)</a:t>
            </a:r>
          </a:p>
          <a:p>
            <a:pPr lvl="1"/>
            <a:r>
              <a:rPr lang="en-GB" dirty="0" err="1" smtClean="0"/>
              <a:t>Nyelvi</a:t>
            </a:r>
            <a:r>
              <a:rPr lang="en-GB" dirty="0" smtClean="0"/>
              <a:t> </a:t>
            </a:r>
            <a:r>
              <a:rPr lang="en-GB" dirty="0" err="1" smtClean="0"/>
              <a:t>feldolgozás</a:t>
            </a:r>
            <a:endParaRPr lang="hu-HU" dirty="0" smtClean="0"/>
          </a:p>
          <a:p>
            <a:pPr lvl="2"/>
            <a:r>
              <a:rPr lang="hu-HU" b="1" dirty="0" smtClean="0"/>
              <a:t>Nyelvfelismerés</a:t>
            </a:r>
            <a:r>
              <a:rPr lang="hu-HU" dirty="0" smtClean="0"/>
              <a:t>, ha a bemenet nem egynyelvű</a:t>
            </a:r>
          </a:p>
          <a:p>
            <a:pPr lvl="2"/>
            <a:r>
              <a:rPr lang="en-GB" b="1" dirty="0" err="1" smtClean="0"/>
              <a:t>Mondathatár-észlelés</a:t>
            </a:r>
            <a:r>
              <a:rPr lang="en-GB" dirty="0" smtClean="0"/>
              <a:t>: a </a:t>
            </a:r>
            <a:r>
              <a:rPr lang="en-GB" dirty="0" err="1" smtClean="0"/>
              <a:t>szöveg</a:t>
            </a:r>
            <a:r>
              <a:rPr lang="en-GB" dirty="0" smtClean="0"/>
              <a:t> </a:t>
            </a:r>
            <a:r>
              <a:rPr lang="en-GB" dirty="0" err="1" smtClean="0"/>
              <a:t>felosztása</a:t>
            </a:r>
            <a:r>
              <a:rPr lang="en-GB" dirty="0" smtClean="0"/>
              <a:t> </a:t>
            </a:r>
            <a:r>
              <a:rPr lang="en-GB" dirty="0" err="1" smtClean="0"/>
              <a:t>mondatokra</a:t>
            </a:r>
            <a:r>
              <a:rPr lang="en-GB" dirty="0" smtClean="0"/>
              <a:t>, </a:t>
            </a:r>
            <a:r>
              <a:rPr lang="hu-HU" dirty="0" smtClean="0"/>
              <a:t>ezek szolgálnak </a:t>
            </a:r>
            <a:r>
              <a:rPr lang="en-GB" dirty="0" err="1" smtClean="0"/>
              <a:t>feldolgozási</a:t>
            </a:r>
            <a:r>
              <a:rPr lang="en-GB" dirty="0" smtClean="0"/>
              <a:t> </a:t>
            </a:r>
            <a:r>
              <a:rPr lang="en-GB" dirty="0" err="1" smtClean="0"/>
              <a:t>egységként</a:t>
            </a:r>
            <a:r>
              <a:rPr lang="en-GB" dirty="0" smtClean="0"/>
              <a:t>, pl. </a:t>
            </a:r>
            <a:r>
              <a:rPr lang="en-GB" dirty="0" err="1" smtClean="0"/>
              <a:t>szintaktikai</a:t>
            </a:r>
            <a:r>
              <a:rPr lang="en-GB" dirty="0" smtClean="0"/>
              <a:t> </a:t>
            </a:r>
            <a:r>
              <a:rPr lang="en-GB" dirty="0" err="1" smtClean="0"/>
              <a:t>elemzéshez</a:t>
            </a:r>
            <a:endParaRPr lang="hu-HU" dirty="0" smtClean="0"/>
          </a:p>
          <a:p>
            <a:pPr lvl="2"/>
            <a:r>
              <a:rPr lang="hu-HU" b="1" dirty="0" err="1" smtClean="0"/>
              <a:t>Tokenizálás</a:t>
            </a:r>
            <a:r>
              <a:rPr lang="hu-HU" dirty="0"/>
              <a:t>:</a:t>
            </a:r>
            <a:r>
              <a:rPr lang="hu-HU" dirty="0" smtClean="0"/>
              <a:t> a szöveg felosztása szó- vagy </a:t>
            </a:r>
            <a:r>
              <a:rPr lang="hu-HU" dirty="0" err="1" smtClean="0"/>
              <a:t>részszótokenekre</a:t>
            </a:r>
            <a:r>
              <a:rPr lang="hu-HU" dirty="0" smtClean="0"/>
              <a:t>, ami a legtöbb további lépés előfeltétele</a:t>
            </a:r>
          </a:p>
          <a:p>
            <a:pPr lvl="2"/>
            <a:r>
              <a:rPr lang="hu-HU" b="1" dirty="0" smtClean="0"/>
              <a:t>Szótövezés</a:t>
            </a:r>
            <a:r>
              <a:rPr lang="hu-HU" dirty="0" smtClean="0"/>
              <a:t> (</a:t>
            </a:r>
            <a:r>
              <a:rPr lang="hu-HU" dirty="0" err="1" smtClean="0"/>
              <a:t>stemming</a:t>
            </a:r>
            <a:r>
              <a:rPr lang="hu-HU" dirty="0" smtClean="0"/>
              <a:t>) vagy </a:t>
            </a:r>
            <a:r>
              <a:rPr lang="hu-HU" b="1" dirty="0" smtClean="0"/>
              <a:t>lemmatizálás</a:t>
            </a:r>
            <a:r>
              <a:rPr lang="hu-HU" dirty="0" smtClean="0"/>
              <a:t>: annak meghatározása, hogy mi az egyes szavak (durva) </a:t>
            </a:r>
            <a:r>
              <a:rPr lang="hu-HU" b="1" dirty="0" smtClean="0"/>
              <a:t>morfológiai </a:t>
            </a:r>
            <a:r>
              <a:rPr lang="hu-HU" dirty="0" smtClean="0"/>
              <a:t>(alaktani) </a:t>
            </a:r>
            <a:r>
              <a:rPr lang="hu-HU" b="1" dirty="0" smtClean="0"/>
              <a:t>töve </a:t>
            </a:r>
            <a:r>
              <a:rPr lang="hu-HU" dirty="0" smtClean="0"/>
              <a:t>a morfológiai toldalékok (végződések) eltávolításával, illetve az egyes szavak szótári alakjának (lemma) meghatározása</a:t>
            </a:r>
          </a:p>
          <a:p>
            <a:pPr lvl="2"/>
            <a:r>
              <a:rPr lang="hu-HU" b="1" dirty="0" smtClean="0"/>
              <a:t>Szófajcímkézés</a:t>
            </a:r>
            <a:r>
              <a:rPr lang="hu-HU" dirty="0"/>
              <a:t>,</a:t>
            </a:r>
            <a:r>
              <a:rPr lang="hu-HU" dirty="0" smtClean="0"/>
              <a:t> szófaj meghatározása: főnév, ige, melléknév, határozószó, partikula, stb.</a:t>
            </a:r>
          </a:p>
          <a:p>
            <a:pPr lvl="2"/>
            <a:r>
              <a:rPr lang="hu-HU" b="1" dirty="0" smtClean="0"/>
              <a:t>Morfológiai elemzés</a:t>
            </a:r>
            <a:r>
              <a:rPr lang="hu-HU" dirty="0" smtClean="0"/>
              <a:t>, a szó alakjának vagy szerkezetének meghatározása: eset és szám a főneveknél; idő, mód, szám, személy az igéknél, stb.; néha összevonják a szófajcímkézéssel, különösen olyan nyelvek esetében, mint az angol, ahol kevés alakja van egy-egy szónak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66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</a:t>
            </a:r>
            <a:r>
              <a:rPr lang="hu-HU" dirty="0" smtClean="0"/>
              <a:t> </a:t>
            </a:r>
            <a:r>
              <a:rPr lang="es-ES" dirty="0" smtClean="0"/>
              <a:t>feldolgozási </a:t>
            </a:r>
            <a:r>
              <a:rPr lang="hu-HU" dirty="0" smtClean="0"/>
              <a:t>munkafolyamat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Nyelvi feldolgozás</a:t>
            </a:r>
          </a:p>
          <a:p>
            <a:pPr lvl="1"/>
            <a:r>
              <a:rPr lang="hu-HU" b="1" dirty="0" err="1" smtClean="0"/>
              <a:t>Chunking</a:t>
            </a:r>
            <a:r>
              <a:rPr lang="hu-HU" b="1" dirty="0" smtClean="0"/>
              <a:t> (kb. darabolás) vagy szintaktikai elemzés (</a:t>
            </a:r>
            <a:r>
              <a:rPr lang="hu-HU" b="1" dirty="0" err="1" smtClean="0"/>
              <a:t>parsing</a:t>
            </a:r>
            <a:r>
              <a:rPr lang="hu-HU" b="1" dirty="0" smtClean="0"/>
              <a:t>)</a:t>
            </a:r>
            <a:r>
              <a:rPr lang="hu-HU" dirty="0" smtClean="0"/>
              <a:t>: a mondatban melyik szó melyik másik szót módosítja, melyik főnév az alanya és melyik a tárgya az igei állítmánynak</a:t>
            </a:r>
          </a:p>
          <a:p>
            <a:pPr lvl="2"/>
            <a:r>
              <a:rPr lang="en-GB" dirty="0" err="1" smtClean="0"/>
              <a:t>Ezek</a:t>
            </a:r>
            <a:r>
              <a:rPr lang="en-GB" dirty="0" smtClean="0"/>
              <a:t> </a:t>
            </a:r>
            <a:r>
              <a:rPr lang="en-GB" dirty="0" err="1" smtClean="0"/>
              <a:t>kritikusak</a:t>
            </a:r>
            <a:r>
              <a:rPr lang="en-GB" dirty="0" smtClean="0"/>
              <a:t> a </a:t>
            </a:r>
            <a:r>
              <a:rPr lang="en-GB" dirty="0" err="1" smtClean="0"/>
              <a:t>helyes</a:t>
            </a:r>
            <a:r>
              <a:rPr lang="en-GB" dirty="0" smtClean="0"/>
              <a:t> </a:t>
            </a:r>
            <a:r>
              <a:rPr lang="en-GB" dirty="0" err="1" smtClean="0"/>
              <a:t>értelmezéshez</a:t>
            </a:r>
            <a:endParaRPr lang="hu-HU" dirty="0" smtClean="0"/>
          </a:p>
          <a:p>
            <a:pPr lvl="2"/>
            <a:r>
              <a:rPr lang="hu-HU" dirty="0" err="1" smtClean="0"/>
              <a:t>Chunking</a:t>
            </a:r>
            <a:r>
              <a:rPr lang="hu-HU" dirty="0"/>
              <a:t>:</a:t>
            </a:r>
            <a:r>
              <a:rPr lang="hu-HU" dirty="0" smtClean="0"/>
              <a:t> a kifejezések részleges, felületes azonosítása, pl. egy főneves kifejezés, amely magából a főnévből és a főnevet módosító melléknevekből és névelőkből áll</a:t>
            </a:r>
          </a:p>
          <a:p>
            <a:pPr lvl="2"/>
            <a:r>
              <a:rPr lang="hu-HU" dirty="0" smtClean="0"/>
              <a:t>Szintaktikai elemzés: </a:t>
            </a:r>
            <a:r>
              <a:rPr lang="hu-HU" dirty="0"/>
              <a:t>a</a:t>
            </a:r>
            <a:r>
              <a:rPr lang="en-GB" dirty="0" smtClean="0"/>
              <a:t> </a:t>
            </a:r>
            <a:r>
              <a:rPr lang="en-GB" dirty="0" err="1" smtClean="0"/>
              <a:t>teljes</a:t>
            </a:r>
            <a:r>
              <a:rPr lang="en-GB" dirty="0" smtClean="0"/>
              <a:t> </a:t>
            </a:r>
            <a:r>
              <a:rPr lang="en-GB" dirty="0" err="1" smtClean="0"/>
              <a:t>szintaktikai</a:t>
            </a:r>
            <a:r>
              <a:rPr lang="en-GB" dirty="0" smtClean="0"/>
              <a:t> </a:t>
            </a:r>
            <a:r>
              <a:rPr lang="en-GB" dirty="0" err="1" smtClean="0"/>
              <a:t>szerkezet</a:t>
            </a:r>
            <a:r>
              <a:rPr lang="en-GB" dirty="0" smtClean="0"/>
              <a:t> </a:t>
            </a:r>
            <a:r>
              <a:rPr lang="en-GB" dirty="0" err="1" smtClean="0"/>
              <a:t>rekonstrukciója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elemzési</a:t>
            </a:r>
            <a:r>
              <a:rPr lang="en-GB" dirty="0" smtClean="0"/>
              <a:t> </a:t>
            </a:r>
            <a:r>
              <a:rPr lang="en-GB" dirty="0" err="1" smtClean="0"/>
              <a:t>keretrendszer</a:t>
            </a:r>
            <a:r>
              <a:rPr lang="en-GB" dirty="0" smtClean="0"/>
              <a:t> </a:t>
            </a:r>
            <a:r>
              <a:rPr lang="en-GB" dirty="0" err="1" smtClean="0"/>
              <a:t>szerint</a:t>
            </a:r>
            <a:r>
              <a:rPr lang="en-GB" dirty="0" smtClean="0"/>
              <a:t>, </a:t>
            </a:r>
            <a:r>
              <a:rPr lang="en-GB" dirty="0" err="1" smtClean="0"/>
              <a:t>amely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elemzési</a:t>
            </a:r>
            <a:r>
              <a:rPr lang="en-GB" dirty="0" smtClean="0"/>
              <a:t> </a:t>
            </a:r>
            <a:r>
              <a:rPr lang="en-GB" dirty="0" err="1" smtClean="0"/>
              <a:t>fát</a:t>
            </a:r>
            <a:r>
              <a:rPr lang="en-GB" dirty="0" smtClean="0"/>
              <a:t> </a:t>
            </a:r>
            <a:r>
              <a:rPr lang="en-GB" dirty="0" err="1" smtClean="0"/>
              <a:t>eredményez</a:t>
            </a:r>
            <a:endParaRPr lang="hu-HU" dirty="0" smtClean="0"/>
          </a:p>
          <a:p>
            <a:pPr lvl="1"/>
            <a:r>
              <a:rPr lang="hu-HU" b="1" dirty="0" smtClean="0"/>
              <a:t>Nyelvtani szavak eltávolítása </a:t>
            </a:r>
            <a:r>
              <a:rPr lang="hu-HU" dirty="0" smtClean="0"/>
              <a:t>(</a:t>
            </a:r>
            <a:r>
              <a:rPr lang="hu-HU" dirty="0" err="1" smtClean="0"/>
              <a:t>stopword</a:t>
            </a:r>
            <a:r>
              <a:rPr lang="hu-HU" dirty="0" smtClean="0"/>
              <a:t> </a:t>
            </a:r>
            <a:r>
              <a:rPr lang="hu-HU" dirty="0" err="1" smtClean="0"/>
              <a:t>removal</a:t>
            </a:r>
            <a:r>
              <a:rPr lang="hu-HU" dirty="0" smtClean="0"/>
              <a:t>)</a:t>
            </a:r>
            <a:r>
              <a:rPr lang="hu-HU" dirty="0" smtClean="0"/>
              <a:t>: olyan szavak, amelyeknek kevés a jelentéstartalmuk, főként a mondatszerkezetben látnak el funkciót (névmások, kötőszavak, elöljárószavak/névutók, stb.)</a:t>
            </a:r>
          </a:p>
          <a:p>
            <a:pPr lvl="1"/>
            <a:r>
              <a:rPr lang="hu-HU" b="1" dirty="0" smtClean="0"/>
              <a:t>Névelem-felismerés</a:t>
            </a:r>
            <a:r>
              <a:rPr lang="hu-HU" dirty="0" smtClean="0"/>
              <a:t>: főleg tulajdonnevek és típusaik (személy-, hely-, intézménynév) azonosítása</a:t>
            </a:r>
          </a:p>
          <a:p>
            <a:pPr lvl="1"/>
            <a:r>
              <a:rPr lang="hu-HU" b="1" dirty="0" err="1" smtClean="0"/>
              <a:t>Szentimentelemzés</a:t>
            </a:r>
            <a:r>
              <a:rPr lang="hu-HU" dirty="0" smtClean="0"/>
              <a:t>: a szöveg pozitív, negatív vagy semleges viszonyulást fejez-e ki a tárgyát, témáját illetően</a:t>
            </a:r>
          </a:p>
          <a:p>
            <a:pPr lvl="1"/>
            <a:r>
              <a:rPr lang="hu-HU" b="1" dirty="0" err="1" smtClean="0"/>
              <a:t>Koreferenciaelemzés</a:t>
            </a:r>
            <a:r>
              <a:rPr lang="hu-HU" dirty="0" smtClean="0"/>
              <a:t>: mely kifejezések (főneves kifejezések, nevek, névelők) utalnak ugyanarra a való világbeli entitásra</a:t>
            </a:r>
          </a:p>
          <a:p>
            <a:pPr lvl="2"/>
            <a:r>
              <a:rPr lang="hu-HU" dirty="0" err="1" smtClean="0">
                <a:solidFill>
                  <a:srgbClr val="FF0000"/>
                </a:solidFill>
              </a:rPr>
              <a:t>III</a:t>
            </a:r>
            <a:r>
              <a:rPr lang="hu-HU" dirty="0" smtClean="0">
                <a:solidFill>
                  <a:srgbClr val="FF0000"/>
                </a:solidFill>
              </a:rPr>
              <a:t>. Károly király </a:t>
            </a:r>
            <a:r>
              <a:rPr lang="hu-HU" dirty="0" smtClean="0"/>
              <a:t>hivatalosan is kezdeményezte, hogy </a:t>
            </a:r>
            <a:r>
              <a:rPr lang="hu-HU" dirty="0" smtClean="0">
                <a:solidFill>
                  <a:schemeClr val="accent2">
                    <a:lumMod val="75000"/>
                  </a:schemeClr>
                </a:solidFill>
              </a:rPr>
              <a:t>András herceget</a:t>
            </a:r>
            <a:r>
              <a:rPr lang="hu-HU" dirty="0" smtClean="0"/>
              <a:t> </a:t>
            </a:r>
            <a:r>
              <a:rPr lang="hu-HU" dirty="0" smtClean="0">
                <a:solidFill>
                  <a:srgbClr val="00B050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fosszák meg a </a:t>
            </a:r>
            <a:r>
              <a:rPr lang="hu-HU" dirty="0" smtClean="0">
                <a:solidFill>
                  <a:schemeClr val="accent2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hercegi címétől is, így hamarosan már csak </a:t>
            </a:r>
            <a:r>
              <a:rPr lang="hu-HU" dirty="0" smtClean="0">
                <a:solidFill>
                  <a:schemeClr val="accent2">
                    <a:lumMod val="75000"/>
                  </a:schemeClr>
                </a:solidFill>
              </a:rPr>
              <a:t>Andrew </a:t>
            </a:r>
            <a:r>
              <a:rPr lang="hu-HU" dirty="0" err="1" smtClean="0">
                <a:solidFill>
                  <a:schemeClr val="accent2">
                    <a:lumMod val="75000"/>
                  </a:schemeClr>
                </a:solidFill>
              </a:rPr>
              <a:t>Mountbatten</a:t>
            </a:r>
            <a:r>
              <a:rPr lang="hu-HU" dirty="0" smtClean="0">
                <a:solidFill>
                  <a:schemeClr val="accent2">
                    <a:lumMod val="75000"/>
                  </a:schemeClr>
                </a:solidFill>
              </a:rPr>
              <a:t> Windsor</a:t>
            </a:r>
            <a:r>
              <a:rPr lang="hu-HU" dirty="0" smtClean="0"/>
              <a:t> lesz a </a:t>
            </a:r>
            <a:r>
              <a:rPr lang="hu-HU" dirty="0" smtClean="0">
                <a:solidFill>
                  <a:schemeClr val="accent2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neve. Azt is bejelentették </a:t>
            </a:r>
            <a:r>
              <a:rPr lang="hu-HU" dirty="0" smtClean="0">
                <a:solidFill>
                  <a:srgbClr val="FFC000"/>
                </a:solidFill>
              </a:rPr>
              <a:t>Ø</a:t>
            </a:r>
            <a:r>
              <a:rPr lang="hu-HU" dirty="0" smtClean="0"/>
              <a:t>, hogy </a:t>
            </a:r>
            <a:r>
              <a:rPr lang="hu-HU" dirty="0" smtClean="0">
                <a:solidFill>
                  <a:schemeClr val="accent2">
                    <a:lumMod val="75000"/>
                  </a:schemeClr>
                </a:solidFill>
              </a:rPr>
              <a:t>Andrásnak</a:t>
            </a:r>
            <a:r>
              <a:rPr lang="hu-HU" dirty="0" smtClean="0"/>
              <a:t> el kell hagynia a windsori </a:t>
            </a:r>
            <a:r>
              <a:rPr lang="hu-HU" dirty="0" smtClean="0">
                <a:solidFill>
                  <a:schemeClr val="accent3"/>
                </a:solidFill>
              </a:rPr>
              <a:t>Royal </a:t>
            </a:r>
            <a:r>
              <a:rPr lang="hu-HU" dirty="0" err="1" smtClean="0">
                <a:solidFill>
                  <a:schemeClr val="accent3"/>
                </a:solidFill>
              </a:rPr>
              <a:t>Lodge-ot</a:t>
            </a:r>
            <a:r>
              <a:rPr lang="hu-HU" dirty="0" smtClean="0"/>
              <a:t>, </a:t>
            </a:r>
            <a:r>
              <a:rPr lang="hu-HU" dirty="0" smtClean="0">
                <a:solidFill>
                  <a:schemeClr val="accent3"/>
                </a:solidFill>
              </a:rPr>
              <a:t>ahol </a:t>
            </a:r>
            <a:r>
              <a:rPr lang="hu-HU" dirty="0" smtClean="0">
                <a:solidFill>
                  <a:schemeClr val="accent2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>
                <a:solidFill>
                  <a:srgbClr val="7030A0"/>
                </a:solidFill>
              </a:rPr>
              <a:t>volt feleségével</a:t>
            </a:r>
            <a:r>
              <a:rPr lang="hu-HU" dirty="0" smtClean="0"/>
              <a:t>, </a:t>
            </a:r>
            <a:r>
              <a:rPr lang="hu-HU" dirty="0" err="1" smtClean="0">
                <a:solidFill>
                  <a:srgbClr val="7030A0"/>
                </a:solidFill>
              </a:rPr>
              <a:t>Sarah</a:t>
            </a:r>
            <a:r>
              <a:rPr lang="hu-HU" dirty="0" smtClean="0">
                <a:solidFill>
                  <a:srgbClr val="7030A0"/>
                </a:solidFill>
              </a:rPr>
              <a:t> </a:t>
            </a:r>
            <a:r>
              <a:rPr lang="hu-HU" dirty="0" err="1" smtClean="0">
                <a:solidFill>
                  <a:srgbClr val="7030A0"/>
                </a:solidFill>
              </a:rPr>
              <a:t>Fergusonnal</a:t>
            </a:r>
            <a:r>
              <a:rPr lang="hu-HU" dirty="0" smtClean="0"/>
              <a:t> a </a:t>
            </a:r>
            <a:r>
              <a:rPr lang="hu-HU" dirty="0" smtClean="0">
                <a:solidFill>
                  <a:srgbClr val="00B0F0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válásuk ellenére </a:t>
            </a:r>
            <a:r>
              <a:rPr lang="hu-HU" dirty="0" smtClean="0">
                <a:solidFill>
                  <a:srgbClr val="00B0F0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együtt éltek. Bár már 20 éve </a:t>
            </a:r>
            <a:r>
              <a:rPr lang="hu-HU" dirty="0" smtClean="0">
                <a:solidFill>
                  <a:srgbClr val="00B0F0"/>
                </a:solidFill>
              </a:rPr>
              <a:t>Ø</a:t>
            </a:r>
            <a:r>
              <a:rPr lang="hu-HU" dirty="0" smtClean="0"/>
              <a:t> </a:t>
            </a:r>
            <a:r>
              <a:rPr lang="hu-HU" dirty="0" smtClean="0"/>
              <a:t>nem fizettek </a:t>
            </a:r>
            <a:r>
              <a:rPr lang="hu-HU" dirty="0" smtClean="0">
                <a:solidFill>
                  <a:schemeClr val="accent3"/>
                </a:solidFill>
              </a:rPr>
              <a:t>érte</a:t>
            </a:r>
            <a:r>
              <a:rPr lang="hu-HU" dirty="0" smtClean="0"/>
              <a:t> semmit, </a:t>
            </a:r>
            <a:r>
              <a:rPr lang="hu-HU" dirty="0" smtClean="0">
                <a:solidFill>
                  <a:schemeClr val="accent3"/>
                </a:solidFill>
              </a:rPr>
              <a:t>a kastélyra </a:t>
            </a:r>
            <a:r>
              <a:rPr lang="hu-HU" dirty="0" smtClean="0"/>
              <a:t>kötött bérleti szerződés 2078-ig volt érvényes.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9284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</a:t>
            </a:r>
            <a:r>
              <a:rPr lang="hu-HU" dirty="0" smtClean="0"/>
              <a:t> </a:t>
            </a:r>
            <a:r>
              <a:rPr lang="es-ES" dirty="0" smtClean="0"/>
              <a:t>feldolgozási </a:t>
            </a:r>
            <a:r>
              <a:rPr lang="hu-HU" dirty="0" smtClean="0"/>
              <a:t>munkafolyamat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Láttuk, hogy </a:t>
            </a:r>
            <a:r>
              <a:rPr lang="hu-HU" dirty="0" smtClean="0"/>
              <a:t>a szöveg különféle forrásokból történő kinyerésére </a:t>
            </a:r>
            <a:r>
              <a:rPr lang="hu-HU" dirty="0" smtClean="0"/>
              <a:t>léteznek standard eszközök</a:t>
            </a:r>
          </a:p>
          <a:p>
            <a:r>
              <a:rPr lang="hu-HU" dirty="0" smtClean="0"/>
              <a:t>Az </a:t>
            </a:r>
            <a:r>
              <a:rPr lang="hu-HU" dirty="0" err="1" smtClean="0"/>
              <a:t>előfeldolgozásra</a:t>
            </a:r>
            <a:r>
              <a:rPr lang="hu-HU" dirty="0" smtClean="0"/>
              <a:t> nincsenek kész megoldások, ezt manuálisan kell elvégezni a nyelvtől, forrástól stb. függően, vagy kihagyható, ha nem elengedhetetlen</a:t>
            </a:r>
          </a:p>
          <a:p>
            <a:r>
              <a:rPr lang="hu-HU" dirty="0" smtClean="0"/>
              <a:t>Számos jól bevált, széles körben használt csomag létezik az elektronikus szövegek nyelvi feldolgozására, amelyek az </a:t>
            </a:r>
            <a:r>
              <a:rPr lang="hu-HU" dirty="0" err="1" smtClean="0"/>
              <a:t>NLP</a:t>
            </a:r>
            <a:r>
              <a:rPr lang="hu-HU" dirty="0" smtClean="0"/>
              <a:t> feldolgozási lánc legtöbb lépését megvalósítják.</a:t>
            </a:r>
          </a:p>
          <a:p>
            <a:pPr lvl="1"/>
            <a:r>
              <a:rPr lang="en-GB" b="1" dirty="0" err="1" smtClean="0"/>
              <a:t>Jav</a:t>
            </a:r>
            <a:r>
              <a:rPr lang="hu-HU" b="1" dirty="0" err="1" smtClean="0"/>
              <a:t>ában</a:t>
            </a:r>
            <a:r>
              <a:rPr lang="en-GB" dirty="0" smtClean="0"/>
              <a:t> a </a:t>
            </a:r>
            <a:r>
              <a:rPr lang="en-GB" dirty="0" err="1" smtClean="0"/>
              <a:t>legelterjedtebb</a:t>
            </a:r>
            <a:r>
              <a:rPr lang="en-GB" dirty="0" smtClean="0"/>
              <a:t> </a:t>
            </a:r>
            <a:r>
              <a:rPr lang="en-GB" dirty="0" err="1" smtClean="0"/>
              <a:t>eszköztár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b="1" dirty="0" smtClean="0"/>
              <a:t>Apache </a:t>
            </a:r>
            <a:r>
              <a:rPr lang="en-GB" b="1" dirty="0" err="1" smtClean="0"/>
              <a:t>OpenNLP</a:t>
            </a:r>
            <a:r>
              <a:rPr lang="en-GB" dirty="0" smtClean="0"/>
              <a:t> (2004 </a:t>
            </a:r>
            <a:r>
              <a:rPr lang="en-GB" dirty="0" err="1" smtClean="0"/>
              <a:t>óta</a:t>
            </a:r>
            <a:r>
              <a:rPr lang="en-GB" dirty="0" smtClean="0"/>
              <a:t>).</a:t>
            </a:r>
          </a:p>
          <a:p>
            <a:pPr lvl="1"/>
            <a:r>
              <a:rPr lang="en-GB" dirty="0" err="1" smtClean="0"/>
              <a:t>Szintén</a:t>
            </a:r>
            <a:r>
              <a:rPr lang="en-GB" dirty="0" smtClean="0"/>
              <a:t> </a:t>
            </a:r>
            <a:r>
              <a:rPr lang="hu-HU" dirty="0" smtClean="0"/>
              <a:t>Javában </a:t>
            </a:r>
            <a:r>
              <a:rPr lang="en-GB" dirty="0" err="1" smtClean="0"/>
              <a:t>másik</a:t>
            </a:r>
            <a:r>
              <a:rPr lang="en-GB" dirty="0" smtClean="0"/>
              <a:t> </a:t>
            </a:r>
            <a:r>
              <a:rPr lang="en-GB" dirty="0" err="1" smtClean="0"/>
              <a:t>alternatíva</a:t>
            </a:r>
            <a:r>
              <a:rPr lang="en-GB" dirty="0" smtClean="0"/>
              <a:t> a </a:t>
            </a:r>
            <a:r>
              <a:rPr lang="en-GB" b="1" dirty="0" smtClean="0"/>
              <a:t>Stanford </a:t>
            </a:r>
            <a:r>
              <a:rPr lang="en-GB" b="1" dirty="0" err="1" smtClean="0"/>
              <a:t>CoreNLP</a:t>
            </a:r>
            <a:r>
              <a:rPr lang="en-GB" dirty="0" smtClean="0"/>
              <a:t> (2010 </a:t>
            </a:r>
            <a:r>
              <a:rPr lang="en-GB" dirty="0" err="1" smtClean="0"/>
              <a:t>óta</a:t>
            </a:r>
            <a:r>
              <a:rPr lang="en-GB" dirty="0" smtClean="0"/>
              <a:t>).</a:t>
            </a:r>
          </a:p>
          <a:p>
            <a:pPr lvl="1"/>
            <a:r>
              <a:rPr lang="en-GB" b="1" dirty="0" smtClean="0"/>
              <a:t>Python</a:t>
            </a:r>
            <a:r>
              <a:rPr lang="hu-HU" b="1" dirty="0" err="1" smtClean="0"/>
              <a:t>ban</a:t>
            </a:r>
            <a:r>
              <a:rPr lang="hu-HU" b="1" dirty="0" smtClean="0"/>
              <a:t> </a:t>
            </a:r>
            <a:r>
              <a:rPr lang="en-GB" dirty="0" err="1" smtClean="0"/>
              <a:t>hosszú</a:t>
            </a:r>
            <a:r>
              <a:rPr lang="en-GB" dirty="0" smtClean="0"/>
              <a:t> </a:t>
            </a:r>
            <a:r>
              <a:rPr lang="en-GB" dirty="0" err="1" smtClean="0"/>
              <a:t>ideig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b="1" dirty="0" err="1" smtClean="0"/>
              <a:t>NLTK</a:t>
            </a:r>
            <a:r>
              <a:rPr lang="en-GB" dirty="0" smtClean="0"/>
              <a:t> volt a standard </a:t>
            </a:r>
            <a:r>
              <a:rPr lang="en-GB" dirty="0" err="1" smtClean="0"/>
              <a:t>eszköz</a:t>
            </a:r>
            <a:r>
              <a:rPr lang="en-GB" dirty="0" smtClean="0"/>
              <a:t>.</a:t>
            </a:r>
            <a:endParaRPr lang="hu-HU" dirty="0" smtClean="0"/>
          </a:p>
          <a:p>
            <a:pPr lvl="2"/>
            <a:r>
              <a:rPr lang="hu-HU" dirty="0" smtClean="0"/>
              <a:t>Először 2001-ben adták ki.</a:t>
            </a:r>
          </a:p>
          <a:p>
            <a:pPr lvl="2"/>
            <a:r>
              <a:rPr lang="hu-HU" dirty="0" smtClean="0"/>
              <a:t>Egy tankönyv/kézikönyv jelent meg hozzá az O’</a:t>
            </a:r>
            <a:r>
              <a:rPr lang="hu-HU" dirty="0" err="1" smtClean="0"/>
              <a:t>Reilly</a:t>
            </a:r>
            <a:r>
              <a:rPr lang="hu-HU" dirty="0" smtClean="0"/>
              <a:t> kiadásában 2009-ben, ingyenesen elérhető online: </a:t>
            </a:r>
            <a:r>
              <a:rPr lang="hu-HU" dirty="0" err="1" smtClean="0">
                <a:hlinkClick r:id="rId2"/>
              </a:rPr>
              <a:t>https</a:t>
            </a:r>
            <a:r>
              <a:rPr lang="hu-HU" dirty="0" smtClean="0">
                <a:hlinkClick r:id="rId2"/>
              </a:rPr>
              <a:t>://</a:t>
            </a:r>
            <a:r>
              <a:rPr lang="hu-HU" dirty="0" err="1" smtClean="0">
                <a:hlinkClick r:id="rId2"/>
              </a:rPr>
              <a:t>www.nltk.org</a:t>
            </a:r>
            <a:r>
              <a:rPr lang="hu-HU" dirty="0" smtClean="0">
                <a:hlinkClick r:id="rId2"/>
              </a:rPr>
              <a:t>/</a:t>
            </a:r>
            <a:r>
              <a:rPr lang="hu-HU" dirty="0" err="1" smtClean="0">
                <a:hlinkClick r:id="rId2"/>
              </a:rPr>
              <a:t>book</a:t>
            </a:r>
            <a:r>
              <a:rPr lang="hu-HU" dirty="0" smtClean="0">
                <a:hlinkClick r:id="rId2"/>
              </a:rPr>
              <a:t>/</a:t>
            </a:r>
            <a:endParaRPr lang="hu-HU" dirty="0" smtClean="0"/>
          </a:p>
          <a:p>
            <a:pPr lvl="2"/>
            <a:r>
              <a:rPr lang="hu-HU" dirty="0" smtClean="0"/>
              <a:t>Annak idején sem volt igazán jó gyakorlati célokra, ma már teljesen elavult.</a:t>
            </a:r>
          </a:p>
        </p:txBody>
      </p:sp>
    </p:spTree>
    <p:extLst>
      <p:ext uri="{BB962C8B-B14F-4D97-AF65-F5344CB8AC3E}">
        <p14:creationId xmlns:p14="http://schemas.microsoft.com/office/powerpoint/2010/main" val="214023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</a:t>
            </a:r>
            <a:r>
              <a:rPr lang="hu-HU" dirty="0" smtClean="0"/>
              <a:t> </a:t>
            </a:r>
            <a:r>
              <a:rPr lang="es-ES" dirty="0" smtClean="0"/>
              <a:t>feldolgozási </a:t>
            </a:r>
            <a:r>
              <a:rPr lang="hu-HU" dirty="0" smtClean="0"/>
              <a:t>munkafolyamat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 smtClean="0"/>
              <a:t>Jelenleg a fő </a:t>
            </a:r>
            <a:r>
              <a:rPr lang="hu-HU" dirty="0" err="1" smtClean="0"/>
              <a:t>NLP</a:t>
            </a:r>
            <a:r>
              <a:rPr lang="hu-HU" dirty="0" err="1"/>
              <a:t>-</a:t>
            </a:r>
            <a:r>
              <a:rPr lang="hu-HU" dirty="0" err="1" smtClean="0"/>
              <a:t>csomagok</a:t>
            </a:r>
            <a:r>
              <a:rPr lang="hu-HU" dirty="0" smtClean="0"/>
              <a:t> Pythonhoz:</a:t>
            </a:r>
          </a:p>
          <a:p>
            <a:pPr lvl="1"/>
            <a:r>
              <a:rPr lang="hu-HU" b="1" dirty="0" err="1" smtClean="0"/>
              <a:t>SpaCy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Széles körben használt, kiforrott programkód.</a:t>
            </a:r>
          </a:p>
          <a:p>
            <a:pPr lvl="2"/>
            <a:r>
              <a:rPr lang="hu-HU" dirty="0" smtClean="0"/>
              <a:t>2015 óta fejlesztik.</a:t>
            </a:r>
          </a:p>
          <a:p>
            <a:pPr lvl="2"/>
            <a:r>
              <a:rPr lang="hu-HU" dirty="0" smtClean="0"/>
              <a:t>Nagyon gyors, </a:t>
            </a:r>
            <a:r>
              <a:rPr lang="hu-HU" dirty="0" err="1" smtClean="0"/>
              <a:t>Cythonban</a:t>
            </a:r>
            <a:r>
              <a:rPr lang="hu-HU" dirty="0" smtClean="0"/>
              <a:t> íródott.</a:t>
            </a:r>
          </a:p>
          <a:p>
            <a:pPr lvl="1"/>
            <a:r>
              <a:rPr lang="hu-HU" b="1" dirty="0" smtClean="0"/>
              <a:t>Stanza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A Stanford </a:t>
            </a:r>
            <a:r>
              <a:rPr lang="hu-HU" dirty="0" err="1" smtClean="0"/>
              <a:t>NLP-munkacsoportja</a:t>
            </a:r>
            <a:r>
              <a:rPr lang="hu-HU" dirty="0" smtClean="0"/>
              <a:t> készítette (2019 óta).</a:t>
            </a:r>
          </a:p>
          <a:p>
            <a:pPr lvl="2"/>
            <a:r>
              <a:rPr lang="hu-HU" dirty="0" smtClean="0"/>
              <a:t>A legkorábbi kiadásaitól kezdve előre betanított </a:t>
            </a:r>
            <a:r>
              <a:rPr lang="hu-HU" dirty="0" err="1" smtClean="0"/>
              <a:t>transzformereken</a:t>
            </a:r>
            <a:r>
              <a:rPr lang="hu-HU" dirty="0" smtClean="0"/>
              <a:t> alapul.</a:t>
            </a:r>
          </a:p>
          <a:p>
            <a:pPr lvl="1"/>
            <a:r>
              <a:rPr lang="hu-HU" dirty="0" smtClean="0"/>
              <a:t>A kettő képességek és pontosság szempontjából nagyjából egyenértékű.</a:t>
            </a:r>
          </a:p>
        </p:txBody>
      </p:sp>
    </p:spTree>
    <p:extLst>
      <p:ext uri="{BB962C8B-B14F-4D97-AF65-F5344CB8AC3E}">
        <p14:creationId xmlns:p14="http://schemas.microsoft.com/office/powerpoint/2010/main" val="166643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SpaCy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Célja, hogy segítse a felhasználót nyers szöveges bemenetek alapján olyan kérdések megválaszolásában, mint például:</a:t>
            </a:r>
          </a:p>
          <a:p>
            <a:pPr lvl="1"/>
            <a:r>
              <a:rPr lang="hu-HU" dirty="0" smtClean="0"/>
              <a:t>Miről szól a szöveg?</a:t>
            </a:r>
          </a:p>
          <a:p>
            <a:pPr lvl="1"/>
            <a:r>
              <a:rPr lang="hu-HU" dirty="0" smtClean="0"/>
              <a:t>Mit jelentenek egyes szavak az adott szövegkörnyezetben?</a:t>
            </a:r>
          </a:p>
          <a:p>
            <a:pPr lvl="1"/>
            <a:r>
              <a:rPr lang="hu-HU" dirty="0" smtClean="0"/>
              <a:t>Ki mit csinál kivel?</a:t>
            </a:r>
          </a:p>
          <a:p>
            <a:pPr lvl="1"/>
            <a:r>
              <a:rPr lang="hu-HU" dirty="0" smtClean="0"/>
              <a:t>Milyen vállalatokról és termékekről van szó?</a:t>
            </a:r>
          </a:p>
          <a:p>
            <a:pPr lvl="1"/>
            <a:r>
              <a:rPr lang="hu-HU" dirty="0" smtClean="0"/>
              <a:t>Mely szövegek hasonlítanak egymásra?</a:t>
            </a:r>
          </a:p>
          <a:p>
            <a:r>
              <a:rPr lang="hu-HU" b="1" dirty="0" smtClean="0"/>
              <a:t>Jellemzők:</a:t>
            </a:r>
            <a:endParaRPr lang="hu-HU" dirty="0" smtClean="0"/>
          </a:p>
          <a:p>
            <a:pPr lvl="1"/>
            <a:r>
              <a:rPr lang="hu-HU" dirty="0" smtClean="0"/>
              <a:t>Nem </a:t>
            </a:r>
            <a:r>
              <a:rPr lang="hu-HU" dirty="0" err="1" smtClean="0"/>
              <a:t>software-as-a-service</a:t>
            </a:r>
            <a:r>
              <a:rPr lang="hu-HU" dirty="0" smtClean="0"/>
              <a:t> jellegű alkalmazásként fut a felhőben, hanem kifejezetten helyben futtatható Python könyvtár.</a:t>
            </a:r>
          </a:p>
          <a:p>
            <a:pPr lvl="1"/>
            <a:r>
              <a:rPr lang="hu-HU" dirty="0" smtClean="0"/>
              <a:t>Nem tanítási célokra tervezték (ellentétben pl. az </a:t>
            </a:r>
            <a:r>
              <a:rPr lang="hu-HU" dirty="0" err="1" smtClean="0"/>
              <a:t>NLTK-val</a:t>
            </a:r>
            <a:r>
              <a:rPr lang="hu-HU" dirty="0" smtClean="0"/>
              <a:t>), hanem gyakorlatban, élesben történő használatra.</a:t>
            </a:r>
          </a:p>
          <a:p>
            <a:pPr lvl="2"/>
            <a:r>
              <a:rPr lang="hu-HU" dirty="0" smtClean="0"/>
              <a:t>Kevésbé átlátható, de sokkal nagyobb a teljesítménye és gyakorlatban jobban használható.</a:t>
            </a:r>
          </a:p>
          <a:p>
            <a:pPr lvl="1"/>
            <a:r>
              <a:rPr lang="hu-HU" dirty="0" smtClean="0"/>
              <a:t>Nyílt forráskódú, ingyenes, átfogóan </a:t>
            </a:r>
            <a:r>
              <a:rPr lang="hu-HU" dirty="0" err="1" smtClean="0"/>
              <a:t>testreszabható</a:t>
            </a:r>
            <a:r>
              <a:rPr lang="hu-HU" dirty="0" smtClean="0"/>
              <a:t> és bővíthető.</a:t>
            </a:r>
          </a:p>
          <a:p>
            <a:pPr lvl="1"/>
            <a:r>
              <a:rPr lang="hu-HU" dirty="0" smtClean="0"/>
              <a:t>A felhasználók betaníthatják saját </a:t>
            </a:r>
            <a:r>
              <a:rPr lang="hu-HU" dirty="0" err="1" smtClean="0"/>
              <a:t>spaCy</a:t>
            </a:r>
            <a:r>
              <a:rPr lang="hu-HU" dirty="0" smtClean="0"/>
              <a:t> feldolgozási munkafolyamataikat, ha szeretnék; a könyvtár ezt aktívan támogatja és megkönnyíti.</a:t>
            </a:r>
          </a:p>
        </p:txBody>
      </p:sp>
    </p:spTree>
    <p:extLst>
      <p:ext uri="{BB962C8B-B14F-4D97-AF65-F5344CB8AC3E}">
        <p14:creationId xmlns:p14="http://schemas.microsoft.com/office/powerpoint/2010/main" val="290422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SpaCy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smtClean="0"/>
              <a:t>Jól fut </a:t>
            </a:r>
            <a:r>
              <a:rPr lang="hu-HU" b="1" dirty="0" smtClean="0"/>
              <a:t>CPU-n és </a:t>
            </a:r>
            <a:r>
              <a:rPr lang="hu-HU" b="1" dirty="0" err="1" smtClean="0"/>
              <a:t>GPU-n</a:t>
            </a:r>
            <a:r>
              <a:rPr lang="hu-HU" b="1" dirty="0" smtClean="0"/>
              <a:t> is</a:t>
            </a:r>
            <a:r>
              <a:rPr lang="hu-HU" dirty="0" smtClean="0"/>
              <a:t>.</a:t>
            </a:r>
          </a:p>
          <a:p>
            <a:r>
              <a:rPr lang="hu-HU" dirty="0" smtClean="0"/>
              <a:t>Kezdőbarát.</a:t>
            </a:r>
          </a:p>
          <a:p>
            <a:r>
              <a:rPr lang="hu-HU" dirty="0" smtClean="0"/>
              <a:t>Stabil, megbízható, elég jól (gyorsan) működik nagy mennyiségű adatokon.</a:t>
            </a:r>
          </a:p>
          <a:p>
            <a:r>
              <a:rPr lang="hu-HU" dirty="0" smtClean="0"/>
              <a:t>Csak a már létező természetes nyelvi szöveget tud </a:t>
            </a:r>
            <a:r>
              <a:rPr lang="hu-HU" b="1" dirty="0" smtClean="0"/>
              <a:t>feldolgozni </a:t>
            </a:r>
            <a:r>
              <a:rPr lang="hu-HU" dirty="0" smtClean="0"/>
              <a:t>és információt kinyerni belőle, de szöveget </a:t>
            </a:r>
            <a:r>
              <a:rPr lang="hu-HU" b="1" dirty="0" smtClean="0"/>
              <a:t>generálni nem tud</a:t>
            </a:r>
            <a:r>
              <a:rPr lang="hu-HU" dirty="0" smtClean="0"/>
              <a:t>.</a:t>
            </a:r>
          </a:p>
          <a:p>
            <a:r>
              <a:rPr lang="hu-HU" dirty="0" smtClean="0"/>
              <a:t>Bővíthető, a felhasználók betaníthatják saját feldolgozási láncaikat az eleve támogatott nyelvekre vagy más nyelvekre.</a:t>
            </a:r>
          </a:p>
        </p:txBody>
      </p:sp>
    </p:spTree>
    <p:extLst>
      <p:ext uri="{BB962C8B-B14F-4D97-AF65-F5344CB8AC3E}">
        <p14:creationId xmlns:p14="http://schemas.microsoft.com/office/powerpoint/2010/main" val="239211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SpaCy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 smtClean="0"/>
              <a:t>Egy teljes </a:t>
            </a:r>
            <a:r>
              <a:rPr lang="hu-HU" dirty="0" err="1" smtClean="0"/>
              <a:t>spaCy</a:t>
            </a:r>
            <a:r>
              <a:rPr lang="hu-HU" dirty="0" smtClean="0"/>
              <a:t> feldolgozási lánc (amit a </a:t>
            </a:r>
            <a:r>
              <a:rPr lang="hu-HU" dirty="0" err="1" smtClean="0"/>
              <a:t>spaCy</a:t>
            </a:r>
            <a:r>
              <a:rPr lang="hu-HU" dirty="0" smtClean="0"/>
              <a:t> </a:t>
            </a:r>
            <a:r>
              <a:rPr lang="hu-HU" b="1" dirty="0" smtClean="0"/>
              <a:t>modellnek</a:t>
            </a:r>
            <a:r>
              <a:rPr lang="hu-HU" dirty="0" smtClean="0"/>
              <a:t> nevez) a következő részekből áll (</a:t>
            </a:r>
            <a:r>
              <a:rPr lang="hu-HU" dirty="0" err="1" smtClean="0"/>
              <a:t>https</a:t>
            </a:r>
            <a:r>
              <a:rPr lang="hu-HU" dirty="0" smtClean="0"/>
              <a:t>://</a:t>
            </a:r>
            <a:r>
              <a:rPr lang="hu-HU" dirty="0" err="1" smtClean="0"/>
              <a:t>spacy.io</a:t>
            </a:r>
            <a:r>
              <a:rPr lang="hu-HU" dirty="0" smtClean="0"/>
              <a:t>/</a:t>
            </a:r>
            <a:r>
              <a:rPr lang="hu-HU" dirty="0" err="1" smtClean="0"/>
              <a:t>models</a:t>
            </a:r>
            <a:r>
              <a:rPr lang="hu-HU" dirty="0" smtClean="0"/>
              <a:t>/en</a:t>
            </a:r>
            <a:r>
              <a:rPr lang="hu-HU" dirty="0" smtClean="0"/>
              <a:t>):</a:t>
            </a:r>
          </a:p>
          <a:p>
            <a:r>
              <a:rPr lang="hu-HU" i="1" dirty="0" smtClean="0"/>
              <a:t>tok2vec:</a:t>
            </a:r>
            <a:r>
              <a:rPr lang="hu-HU" dirty="0" smtClean="0"/>
              <a:t> a </a:t>
            </a:r>
            <a:r>
              <a:rPr lang="hu-HU" dirty="0" err="1" smtClean="0"/>
              <a:t>szótokenekhez</a:t>
            </a:r>
            <a:r>
              <a:rPr lang="hu-HU" dirty="0" smtClean="0"/>
              <a:t> ún. szóbeágyazásokat (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embedding</a:t>
            </a:r>
            <a:r>
              <a:rPr lang="hu-HU" dirty="0" smtClean="0"/>
              <a:t>) rendel, amelyek egy szó disztribúciós és szemantikai tulajdonságainak viszonylag alacsony dimenziójú, folytonos értékű vektortérbeli reprezentációi.</a:t>
            </a:r>
          </a:p>
          <a:p>
            <a:pPr lvl="1"/>
            <a:r>
              <a:rPr lang="hu-HU" dirty="0" smtClean="0"/>
              <a:t>Ezek a vektorok a szavak jelentését ábrázolják, segítségükkel kiszámítható, hogy a szójelentések mennyire hasonlítanak egymásra.</a:t>
            </a:r>
          </a:p>
          <a:p>
            <a:r>
              <a:rPr lang="hu-HU" i="1" dirty="0" err="1" smtClean="0"/>
              <a:t>tagger</a:t>
            </a:r>
            <a:r>
              <a:rPr lang="hu-HU" i="1" dirty="0" smtClean="0"/>
              <a:t>:</a:t>
            </a:r>
            <a:r>
              <a:rPr lang="hu-HU" dirty="0" smtClean="0"/>
              <a:t> meghatározza az egyes </a:t>
            </a:r>
            <a:r>
              <a:rPr lang="hu-HU" dirty="0" err="1" smtClean="0"/>
              <a:t>tokenek</a:t>
            </a:r>
            <a:r>
              <a:rPr lang="hu-HU" dirty="0" smtClean="0"/>
              <a:t> szófaját (főnév, ige).</a:t>
            </a:r>
          </a:p>
          <a:p>
            <a:r>
              <a:rPr lang="hu-HU" i="1" dirty="0" err="1" smtClean="0"/>
              <a:t>morphologizer</a:t>
            </a:r>
            <a:r>
              <a:rPr lang="hu-HU" i="1" dirty="0" smtClean="0"/>
              <a:t>:</a:t>
            </a:r>
            <a:r>
              <a:rPr lang="hu-HU" dirty="0" smtClean="0"/>
              <a:t> meghatározza az egyes </a:t>
            </a:r>
            <a:r>
              <a:rPr lang="hu-HU" dirty="0" err="1" smtClean="0"/>
              <a:t>tokenek</a:t>
            </a:r>
            <a:r>
              <a:rPr lang="hu-HU" dirty="0" smtClean="0"/>
              <a:t> morfológiai jellemzőit (eset, szám, igeidő).</a:t>
            </a:r>
          </a:p>
          <a:p>
            <a:r>
              <a:rPr lang="hu-HU" i="1" dirty="0" err="1" smtClean="0"/>
              <a:t>parser</a:t>
            </a:r>
            <a:r>
              <a:rPr lang="hu-HU" i="1" dirty="0" smtClean="0"/>
              <a:t>:</a:t>
            </a:r>
            <a:r>
              <a:rPr lang="hu-HU" dirty="0" smtClean="0"/>
              <a:t> meghatározza a mondat szintaktikai szerkezetét (állítmány, alany, tárgy, jelző) az ún. függőségi szintaxis keretében.</a:t>
            </a:r>
          </a:p>
          <a:p>
            <a:r>
              <a:rPr lang="hu-HU" i="1" dirty="0" err="1" smtClean="0"/>
              <a:t>senter</a:t>
            </a:r>
            <a:r>
              <a:rPr lang="hu-HU" i="1" dirty="0" smtClean="0"/>
              <a:t>:</a:t>
            </a:r>
            <a:r>
              <a:rPr lang="hu-HU" dirty="0" smtClean="0"/>
              <a:t> mondatokra bontás (mondathatár-észlelés).</a:t>
            </a:r>
          </a:p>
          <a:p>
            <a:r>
              <a:rPr lang="hu-HU" i="1" dirty="0" err="1" smtClean="0"/>
              <a:t>attribute</a:t>
            </a:r>
            <a:r>
              <a:rPr lang="hu-HU" i="1" dirty="0" smtClean="0"/>
              <a:t>_</a:t>
            </a:r>
            <a:r>
              <a:rPr lang="hu-HU" i="1" dirty="0" err="1" smtClean="0"/>
              <a:t>ruler</a:t>
            </a:r>
            <a:r>
              <a:rPr lang="hu-HU" i="1" dirty="0" smtClean="0"/>
              <a:t>:</a:t>
            </a:r>
            <a:r>
              <a:rPr lang="hu-HU" dirty="0" smtClean="0"/>
              <a:t> szabályalapú javítást vagy pontosítást alkalmaz azokra a </a:t>
            </a:r>
            <a:r>
              <a:rPr lang="hu-HU" dirty="0" err="1" smtClean="0"/>
              <a:t>tokenekre</a:t>
            </a:r>
            <a:r>
              <a:rPr lang="hu-HU" dirty="0" smtClean="0"/>
              <a:t>, amelyeket a gépi tanulás alapú komponensek (pl. </a:t>
            </a:r>
            <a:r>
              <a:rPr lang="hu-HU" dirty="0" err="1" smtClean="0"/>
              <a:t>tagger</a:t>
            </a:r>
            <a:r>
              <a:rPr lang="hu-HU" dirty="0" smtClean="0"/>
              <a:t>, </a:t>
            </a:r>
            <a:r>
              <a:rPr lang="hu-HU" dirty="0" err="1" smtClean="0"/>
              <a:t>parser</a:t>
            </a:r>
            <a:r>
              <a:rPr lang="hu-HU" dirty="0" smtClean="0"/>
              <a:t> vagy </a:t>
            </a:r>
            <a:r>
              <a:rPr lang="hu-HU" dirty="0" err="1" smtClean="0"/>
              <a:t>lemmatizer</a:t>
            </a:r>
            <a:r>
              <a:rPr lang="hu-HU" dirty="0" smtClean="0"/>
              <a:t>) gyakran helytelenül dolgoznak fel.</a:t>
            </a:r>
          </a:p>
          <a:p>
            <a:r>
              <a:rPr lang="hu-HU" i="1" dirty="0" err="1" smtClean="0"/>
              <a:t>lemmatizer</a:t>
            </a:r>
            <a:r>
              <a:rPr lang="hu-HU" i="1" dirty="0" smtClean="0"/>
              <a:t>:</a:t>
            </a:r>
            <a:r>
              <a:rPr lang="hu-HU" dirty="0" smtClean="0"/>
              <a:t> minden </a:t>
            </a:r>
            <a:r>
              <a:rPr lang="hu-HU" dirty="0" err="1" smtClean="0"/>
              <a:t>tokenhez</a:t>
            </a:r>
            <a:r>
              <a:rPr lang="hu-HU" dirty="0" smtClean="0"/>
              <a:t> hozzárendeli az alapszavát (szótári alak, lemma).</a:t>
            </a:r>
          </a:p>
          <a:p>
            <a:r>
              <a:rPr lang="hu-HU" i="1" dirty="0" err="1" smtClean="0"/>
              <a:t>ner</a:t>
            </a:r>
            <a:r>
              <a:rPr lang="hu-HU" i="1" dirty="0" smtClean="0"/>
              <a:t>:</a:t>
            </a:r>
            <a:r>
              <a:rPr lang="hu-HU" dirty="0" smtClean="0"/>
              <a:t> névelem-felismerés (</a:t>
            </a:r>
            <a:r>
              <a:rPr lang="hu-HU" dirty="0" err="1" smtClean="0"/>
              <a:t>named</a:t>
            </a:r>
            <a:r>
              <a:rPr lang="hu-HU" dirty="0" smtClean="0"/>
              <a:t> </a:t>
            </a:r>
            <a:r>
              <a:rPr lang="hu-HU" dirty="0" err="1" smtClean="0"/>
              <a:t>entity</a:t>
            </a:r>
            <a:r>
              <a:rPr lang="hu-HU" dirty="0" smtClean="0"/>
              <a:t> </a:t>
            </a:r>
            <a:r>
              <a:rPr lang="hu-HU" dirty="0" err="1" smtClean="0"/>
              <a:t>recognition</a:t>
            </a:r>
            <a:r>
              <a:rPr lang="hu-HU" dirty="0" smtClean="0"/>
              <a:t>); megjelöli a tulajdonneveket a szövegben, ezek akár több </a:t>
            </a:r>
            <a:r>
              <a:rPr lang="hu-HU" dirty="0" err="1" smtClean="0"/>
              <a:t>tokenből</a:t>
            </a:r>
            <a:r>
              <a:rPr lang="hu-HU" dirty="0" smtClean="0"/>
              <a:t> is állhatnak, és megpróbálja kitalálni ezek típusát (személy, hely, stb.).</a:t>
            </a:r>
          </a:p>
          <a:p>
            <a:r>
              <a:rPr lang="hu-HU" i="1" dirty="0" err="1" smtClean="0"/>
              <a:t>transformer</a:t>
            </a:r>
            <a:r>
              <a:rPr lang="hu-HU" i="1" dirty="0" smtClean="0"/>
              <a:t>: </a:t>
            </a:r>
            <a:r>
              <a:rPr lang="hu-HU" dirty="0" smtClean="0"/>
              <a:t>minden </a:t>
            </a:r>
            <a:r>
              <a:rPr lang="hu-HU" dirty="0" err="1" smtClean="0"/>
              <a:t>részszótokenre</a:t>
            </a:r>
            <a:r>
              <a:rPr lang="hu-HU" dirty="0" smtClean="0"/>
              <a:t> </a:t>
            </a:r>
            <a:r>
              <a:rPr lang="hu-HU" dirty="0" smtClean="0"/>
              <a:t>kiszámít egy ún. </a:t>
            </a:r>
            <a:r>
              <a:rPr lang="hu-HU" dirty="0" err="1" smtClean="0"/>
              <a:t>kontextualizált</a:t>
            </a:r>
            <a:r>
              <a:rPr lang="hu-HU" dirty="0" smtClean="0"/>
              <a:t> beágyazást, ezekből az egész </a:t>
            </a:r>
            <a:r>
              <a:rPr lang="hu-HU" dirty="0" err="1" smtClean="0"/>
              <a:t>szótokenre</a:t>
            </a:r>
            <a:r>
              <a:rPr lang="hu-HU" dirty="0" smtClean="0"/>
              <a:t> számítható egy összesített szóbeágyazás (általában átlag számításával).</a:t>
            </a:r>
          </a:p>
        </p:txBody>
      </p:sp>
    </p:spTree>
    <p:extLst>
      <p:ext uri="{BB962C8B-B14F-4D97-AF65-F5344CB8AC3E}">
        <p14:creationId xmlns:p14="http://schemas.microsoft.com/office/powerpoint/2010/main" val="2517065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SpaCy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spaCy</a:t>
            </a:r>
            <a:r>
              <a:rPr lang="hu-HU" dirty="0" smtClean="0"/>
              <a:t> feldolgozási lánc részei egy meghatározott sorrendben futnak le. A későbbi komponensek figyelembe veszik a korábbi komponensek által hozott döntéseket </a:t>
            </a:r>
            <a:r>
              <a:rPr lang="hu-HU" dirty="0" err="1" smtClean="0"/>
              <a:t>tokenek</a:t>
            </a:r>
            <a:r>
              <a:rPr lang="hu-HU" dirty="0" smtClean="0"/>
              <a:t> </a:t>
            </a:r>
            <a:r>
              <a:rPr lang="hu-HU" dirty="0" smtClean="0"/>
              <a:t>besorolásakor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Ezt a függőséget a </a:t>
            </a:r>
            <a:r>
              <a:rPr lang="hu-HU" dirty="0" err="1" smtClean="0"/>
              <a:t>spaCy</a:t>
            </a:r>
            <a:r>
              <a:rPr lang="hu-HU" dirty="0" smtClean="0"/>
              <a:t> terminológiában úgy hívják, hogy az egyik „</a:t>
            </a:r>
            <a:r>
              <a:rPr lang="hu-HU" dirty="0" smtClean="0"/>
              <a:t>hallgat</a:t>
            </a:r>
            <a:r>
              <a:rPr lang="hu-HU" dirty="0" smtClean="0"/>
              <a:t>” (</a:t>
            </a:r>
            <a:r>
              <a:rPr lang="hu-HU" dirty="0" err="1" smtClean="0"/>
              <a:t>listen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) a másikra.</a:t>
            </a:r>
          </a:p>
          <a:p>
            <a:pPr lvl="1"/>
            <a:r>
              <a:rPr lang="hu-HU" dirty="0" err="1" smtClean="0"/>
              <a:t>Transzformermodellekben</a:t>
            </a:r>
            <a:r>
              <a:rPr lang="hu-HU" dirty="0" smtClean="0"/>
              <a:t> a </a:t>
            </a:r>
            <a:r>
              <a:rPr lang="hu-HU" dirty="0" err="1" smtClean="0"/>
              <a:t>transzformer</a:t>
            </a:r>
            <a:r>
              <a:rPr lang="hu-HU" dirty="0" smtClean="0"/>
              <a:t> fut először, rögtön a </a:t>
            </a:r>
            <a:r>
              <a:rPr lang="hu-HU" dirty="0" err="1" smtClean="0"/>
              <a:t>tokenizáló</a:t>
            </a:r>
            <a:r>
              <a:rPr lang="hu-HU" dirty="0" smtClean="0"/>
              <a:t> után, és a többi komponens a </a:t>
            </a:r>
            <a:r>
              <a:rPr lang="hu-HU" dirty="0" err="1" smtClean="0"/>
              <a:t>transzformer</a:t>
            </a:r>
            <a:r>
              <a:rPr lang="hu-HU" dirty="0" smtClean="0"/>
              <a:t> kimenetére (</a:t>
            </a:r>
            <a:r>
              <a:rPr lang="hu-HU" dirty="0" err="1" smtClean="0"/>
              <a:t>kontextualizált</a:t>
            </a:r>
            <a:r>
              <a:rPr lang="hu-HU" dirty="0" smtClean="0"/>
              <a:t> szóvektorokra) hallgat.</a:t>
            </a:r>
          </a:p>
          <a:p>
            <a:pPr lvl="1"/>
            <a:r>
              <a:rPr lang="hu-HU" dirty="0" smtClean="0"/>
              <a:t>A nem </a:t>
            </a:r>
            <a:r>
              <a:rPr lang="hu-HU" dirty="0" err="1" smtClean="0"/>
              <a:t>transzformer</a:t>
            </a:r>
            <a:r>
              <a:rPr lang="hu-HU" dirty="0" smtClean="0"/>
              <a:t> modellekben a többi komponens a statikus szóvektorokra és más komponensekre is hallgat.</a:t>
            </a:r>
          </a:p>
          <a:p>
            <a:pPr lvl="2"/>
            <a:r>
              <a:rPr lang="hu-HU" dirty="0" smtClean="0"/>
              <a:t>Például a </a:t>
            </a:r>
            <a:r>
              <a:rPr lang="hu-HU" dirty="0" err="1" smtClean="0"/>
              <a:t>lemmatizer</a:t>
            </a:r>
            <a:r>
              <a:rPr lang="hu-HU" dirty="0" smtClean="0"/>
              <a:t> hallgat a </a:t>
            </a:r>
            <a:r>
              <a:rPr lang="hu-HU" dirty="0" err="1" smtClean="0"/>
              <a:t>taggerre</a:t>
            </a:r>
            <a:r>
              <a:rPr lang="hu-HU" dirty="0" smtClean="0"/>
              <a:t> és a </a:t>
            </a:r>
            <a:r>
              <a:rPr lang="hu-HU" dirty="0" err="1" smtClean="0"/>
              <a:t>morphologizerre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Ha a felhasználónak nincs szüksége a feldolgozási lánc összes komponensére, azokat egyesével ki lehet kapcsolni.</a:t>
            </a:r>
          </a:p>
          <a:p>
            <a:pPr lvl="1"/>
            <a:r>
              <a:rPr lang="hu-HU" dirty="0" smtClean="0"/>
              <a:t>Azonban ez pontosságvesztéshez vezethet, ha egy később futó komponens függ attól, amit kikapcsoltunk.</a:t>
            </a:r>
          </a:p>
        </p:txBody>
      </p:sp>
    </p:spTree>
    <p:extLst>
      <p:ext uri="{BB962C8B-B14F-4D97-AF65-F5344CB8AC3E}">
        <p14:creationId xmlns:p14="http://schemas.microsoft.com/office/powerpoint/2010/main" val="213072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SpaCy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Egy </a:t>
            </a:r>
            <a:r>
              <a:rPr lang="hu-HU" dirty="0" err="1" smtClean="0"/>
              <a:t>spaCy</a:t>
            </a:r>
            <a:r>
              <a:rPr lang="hu-HU" dirty="0" err="1"/>
              <a:t>-</a:t>
            </a:r>
            <a:r>
              <a:rPr lang="hu-HU" dirty="0" err="1" smtClean="0"/>
              <a:t>modell</a:t>
            </a:r>
            <a:r>
              <a:rPr lang="hu-HU" dirty="0" smtClean="0"/>
              <a:t> </a:t>
            </a:r>
            <a:r>
              <a:rPr lang="hu-HU" b="1" dirty="0" smtClean="0"/>
              <a:t>mindig </a:t>
            </a:r>
            <a:r>
              <a:rPr lang="hu-HU" b="1" dirty="0" err="1" smtClean="0"/>
              <a:t>nyelvspecifikus</a:t>
            </a:r>
            <a:r>
              <a:rPr lang="hu-HU" dirty="0" smtClean="0"/>
              <a:t>, a megfelelő modellt kell le- és betölteni minden egyes feldolgozandó nyelvhez.</a:t>
            </a:r>
          </a:p>
          <a:p>
            <a:pPr lvl="1"/>
            <a:r>
              <a:rPr lang="hu-HU" dirty="0" smtClean="0"/>
              <a:t>Ez eltér az olyan kódoló </a:t>
            </a:r>
            <a:r>
              <a:rPr lang="hu-HU" dirty="0" err="1" smtClean="0"/>
              <a:t>transzformermodellek</a:t>
            </a:r>
            <a:r>
              <a:rPr lang="hu-HU" dirty="0" smtClean="0"/>
              <a:t> működési elvétől, mint amilyenek a </a:t>
            </a:r>
            <a:r>
              <a:rPr lang="hu-HU" dirty="0" err="1" smtClean="0"/>
              <a:t>BERT</a:t>
            </a:r>
            <a:r>
              <a:rPr lang="hu-HU" dirty="0" smtClean="0"/>
              <a:t> és a </a:t>
            </a:r>
            <a:r>
              <a:rPr lang="hu-HU" dirty="0" err="1" smtClean="0"/>
              <a:t>RoBERTa</a:t>
            </a:r>
            <a:r>
              <a:rPr lang="hu-HU" dirty="0" smtClean="0"/>
              <a:t>, vagy a generatív </a:t>
            </a:r>
            <a:r>
              <a:rPr lang="hu-HU" dirty="0" err="1" smtClean="0"/>
              <a:t>transzformerekétől</a:t>
            </a:r>
            <a:r>
              <a:rPr lang="hu-HU" dirty="0" smtClean="0"/>
              <a:t>, mint amilyenek a nagy nyelvmodellek (</a:t>
            </a:r>
            <a:r>
              <a:rPr lang="hu-HU" dirty="0" err="1" smtClean="0"/>
              <a:t>LLM-ek</a:t>
            </a:r>
            <a:r>
              <a:rPr lang="hu-HU" dirty="0" smtClean="0"/>
              <a:t>, GPT-3 és későbbiek, </a:t>
            </a:r>
            <a:r>
              <a:rPr lang="hu-HU" dirty="0" err="1" smtClean="0"/>
              <a:t>Gemini</a:t>
            </a:r>
            <a:r>
              <a:rPr lang="hu-HU" dirty="0" smtClean="0"/>
              <a:t>, Claude) vagy a nyílt, kisebb generatív nyelvmodellek (</a:t>
            </a:r>
            <a:r>
              <a:rPr lang="hu-HU" dirty="0" err="1" smtClean="0"/>
              <a:t>Llama</a:t>
            </a:r>
            <a:r>
              <a:rPr lang="hu-HU" dirty="0" smtClean="0"/>
              <a:t>, Gemma, </a:t>
            </a:r>
            <a:r>
              <a:rPr lang="hu-HU" dirty="0" err="1" smtClean="0"/>
              <a:t>Mistral</a:t>
            </a:r>
            <a:r>
              <a:rPr lang="hu-HU" dirty="0" smtClean="0"/>
              <a:t> stb.), ezek ugyanis </a:t>
            </a:r>
            <a:r>
              <a:rPr lang="hu-HU" b="1" dirty="0" smtClean="0"/>
              <a:t>szinte mindig többnyelvűek</a:t>
            </a:r>
          </a:p>
          <a:p>
            <a:pPr lvl="1"/>
            <a:r>
              <a:rPr lang="hu-HU" dirty="0" smtClean="0"/>
              <a:t>Különböző méretváltozatban érhetőek el: kicsi (</a:t>
            </a:r>
            <a:r>
              <a:rPr lang="hu-HU" dirty="0" err="1" smtClean="0"/>
              <a:t>sm</a:t>
            </a:r>
            <a:r>
              <a:rPr lang="hu-HU" dirty="0" smtClean="0"/>
              <a:t>), közepes (</a:t>
            </a:r>
            <a:r>
              <a:rPr lang="hu-HU" dirty="0" err="1" smtClean="0"/>
              <a:t>md</a:t>
            </a:r>
            <a:r>
              <a:rPr lang="hu-HU" dirty="0" smtClean="0"/>
              <a:t>), nagy (lg), illetve </a:t>
            </a:r>
            <a:r>
              <a:rPr lang="hu-HU" dirty="0" err="1" smtClean="0"/>
              <a:t>transzformer</a:t>
            </a:r>
            <a:r>
              <a:rPr lang="hu-HU" dirty="0" smtClean="0"/>
              <a:t> (</a:t>
            </a:r>
            <a:r>
              <a:rPr lang="hu-HU" dirty="0" err="1" smtClean="0"/>
              <a:t>trf</a:t>
            </a:r>
            <a:r>
              <a:rPr lang="hu-HU" dirty="0" smtClean="0"/>
              <a:t>).</a:t>
            </a:r>
          </a:p>
          <a:p>
            <a:pPr lvl="2"/>
            <a:r>
              <a:rPr lang="hu-HU" dirty="0" smtClean="0"/>
              <a:t>Az </a:t>
            </a:r>
            <a:r>
              <a:rPr lang="hu-HU" i="1" dirty="0" err="1" smtClean="0"/>
              <a:t>sm</a:t>
            </a:r>
            <a:r>
              <a:rPr lang="hu-HU" i="1" dirty="0" smtClean="0"/>
              <a:t> </a:t>
            </a:r>
            <a:r>
              <a:rPr lang="hu-HU" dirty="0" smtClean="0"/>
              <a:t>és </a:t>
            </a:r>
            <a:r>
              <a:rPr lang="hu-HU" i="1" dirty="0" err="1" smtClean="0"/>
              <a:t>trf</a:t>
            </a:r>
            <a:r>
              <a:rPr lang="hu-HU" i="1" dirty="0" smtClean="0"/>
              <a:t> </a:t>
            </a:r>
            <a:r>
              <a:rPr lang="hu-HU" dirty="0" smtClean="0"/>
              <a:t>modellek nem tartalmaznak (statikus) szóvektorokat.</a:t>
            </a:r>
          </a:p>
          <a:p>
            <a:pPr lvl="2"/>
            <a:r>
              <a:rPr lang="hu-HU" dirty="0" smtClean="0"/>
              <a:t>Az </a:t>
            </a:r>
            <a:r>
              <a:rPr lang="hu-HU" i="1" dirty="0" err="1" smtClean="0"/>
              <a:t>md</a:t>
            </a:r>
            <a:r>
              <a:rPr lang="hu-HU" i="1" dirty="0" smtClean="0"/>
              <a:t> </a:t>
            </a:r>
            <a:r>
              <a:rPr lang="hu-HU" dirty="0" smtClean="0"/>
              <a:t>és </a:t>
            </a:r>
            <a:r>
              <a:rPr lang="hu-HU" i="1" dirty="0" smtClean="0"/>
              <a:t>lg </a:t>
            </a:r>
            <a:r>
              <a:rPr lang="hu-HU" dirty="0" smtClean="0"/>
              <a:t>modellek a </a:t>
            </a:r>
            <a:r>
              <a:rPr lang="hu-HU" dirty="0" err="1" smtClean="0"/>
              <a:t>szóvektortáblázatuk</a:t>
            </a:r>
            <a:r>
              <a:rPr lang="hu-HU" dirty="0" smtClean="0"/>
              <a:t> méretében különböznek.</a:t>
            </a:r>
          </a:p>
          <a:p>
            <a:pPr lvl="1"/>
            <a:r>
              <a:rPr lang="hu-HU" dirty="0" smtClean="0"/>
              <a:t>Különböző </a:t>
            </a:r>
            <a:r>
              <a:rPr lang="hu-HU" dirty="0" err="1" smtClean="0"/>
              <a:t>spaCy</a:t>
            </a:r>
            <a:r>
              <a:rPr lang="hu-HU" dirty="0" smtClean="0"/>
              <a:t> modelleket esetenként különböző szövegtípusokra (például web vagy hírek) tanítanak be.</a:t>
            </a:r>
          </a:p>
          <a:p>
            <a:r>
              <a:rPr lang="hu-HU" dirty="0" smtClean="0"/>
              <a:t>A legtöbb </a:t>
            </a:r>
            <a:r>
              <a:rPr lang="hu-HU" dirty="0" err="1" smtClean="0"/>
              <a:t>spaCy</a:t>
            </a:r>
            <a:r>
              <a:rPr lang="hu-HU" dirty="0" smtClean="0"/>
              <a:t> feldolgozási lánc gépi tanuláson alapul, azaz nem szabály- vagy lista-alapú, hanem szövegkorpuszon lett tanítva.</a:t>
            </a:r>
          </a:p>
        </p:txBody>
      </p:sp>
    </p:spTree>
    <p:extLst>
      <p:ext uri="{BB962C8B-B14F-4D97-AF65-F5344CB8AC3E}">
        <p14:creationId xmlns:p14="http://schemas.microsoft.com/office/powerpoint/2010/main" val="2114804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1361</Words>
  <Application>Microsoft Office PowerPoint</Application>
  <PresentationFormat>Diavetítés a képernyőre (4:3 oldalarány)</PresentationFormat>
  <Paragraphs>95</Paragraphs>
  <Slides>10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Office-téma</vt:lpstr>
      <vt:lpstr>Természetes nyelvek feldolgozása SpaCy, Stanza és E-magyar</vt:lpstr>
      <vt:lpstr>A feldolgozási munkafolyamat</vt:lpstr>
      <vt:lpstr>A feldolgozási munkafolyamat</vt:lpstr>
      <vt:lpstr>A feldolgozási munkafolyamat</vt:lpstr>
      <vt:lpstr>A feldolgozási munkafolyamat</vt:lpstr>
      <vt:lpstr>SpaCy</vt:lpstr>
      <vt:lpstr>SpaCy</vt:lpstr>
      <vt:lpstr>SpaCy</vt:lpstr>
      <vt:lpstr>SpaCy</vt:lpstr>
      <vt:lpstr>SpaCy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Természetes nyelvek feldolgozása SpaCy, Stanza és E-magyar</dc:title>
  <dc:creator>Anonim</dc:creator>
  <cp:lastModifiedBy>Anonim</cp:lastModifiedBy>
  <cp:revision>12</cp:revision>
  <dcterms:created xsi:type="dcterms:W3CDTF">2025-10-30T22:14:58Z</dcterms:created>
  <dcterms:modified xsi:type="dcterms:W3CDTF">2025-10-31T02:06:22Z</dcterms:modified>
</cp:coreProperties>
</file>
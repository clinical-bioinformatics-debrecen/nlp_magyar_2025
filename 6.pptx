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1018" y="-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08A452-7790-4320-BCB6-AD6157032A1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4B6875-8A1A-4940-97AB-4751BB3F20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565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8D2FED-6DD3-49F4-997C-0289B0F509C2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7031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8D2FED-6DD3-49F4-997C-0289B0F509C2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7907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8D2FED-6DD3-49F4-997C-0289B0F509C2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2295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9090-6611-4A74-AE69-D6097A5A9E6F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D078-646A-48C4-88FD-EB8583E03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4467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9090-6611-4A74-AE69-D6097A5A9E6F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D078-646A-48C4-88FD-EB8583E03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370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9090-6611-4A74-AE69-D6097A5A9E6F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D078-646A-48C4-88FD-EB8583E03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387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9090-6611-4A74-AE69-D6097A5A9E6F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D078-646A-48C4-88FD-EB8583E03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5088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9090-6611-4A74-AE69-D6097A5A9E6F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D078-646A-48C4-88FD-EB8583E03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622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9090-6611-4A74-AE69-D6097A5A9E6F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D078-646A-48C4-88FD-EB8583E03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568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9090-6611-4A74-AE69-D6097A5A9E6F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D078-646A-48C4-88FD-EB8583E03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183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9090-6611-4A74-AE69-D6097A5A9E6F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D078-646A-48C4-88FD-EB8583E03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657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9090-6611-4A74-AE69-D6097A5A9E6F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D078-646A-48C4-88FD-EB8583E03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937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9090-6611-4A74-AE69-D6097A5A9E6F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D078-646A-48C4-88FD-EB8583E03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2565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9090-6611-4A74-AE69-D6097A5A9E6F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D078-646A-48C4-88FD-EB8583E03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60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9090-6611-4A74-AE69-D6097A5A9E6F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3D078-646A-48C4-88FD-EB8583E03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943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310.4546" TargetMode="External"/><Relationship Id="rId2" Type="http://schemas.openxmlformats.org/officeDocument/2006/relationships/hyperlink" Target="https://arxiv.org/abs/1301.378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nlp.stanford.edu/IR-book/information-retrieval-book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google.com/archive/p/word2vec/source/default/source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papers.nips.cc/paper/5477-neural-word-embedding-as-implicit-matrix-factorization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nlp.stanford.edu/projects/glov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Természetes nyelvek feldolgozása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sz="3200" i="1" dirty="0" smtClean="0"/>
              <a:t>Disztribúciós szemantika</a:t>
            </a:r>
            <a:endParaRPr lang="en-GB" sz="3200" i="1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Pethő Gergely</a:t>
            </a:r>
          </a:p>
          <a:p>
            <a:r>
              <a:rPr lang="hu-HU" dirty="0" smtClean="0"/>
              <a:t>2025.11.28.</a:t>
            </a:r>
            <a:endParaRPr lang="hu-HU" dirty="0"/>
          </a:p>
          <a:p>
            <a:r>
              <a:rPr lang="hu-HU" dirty="0"/>
              <a:t>DE </a:t>
            </a:r>
            <a:r>
              <a:rPr lang="hu-HU" dirty="0" err="1"/>
              <a:t>ETK</a:t>
            </a:r>
            <a:r>
              <a:rPr lang="hu-HU" dirty="0"/>
              <a:t> </a:t>
            </a:r>
            <a:r>
              <a:rPr lang="hu-HU" dirty="0" err="1"/>
              <a:t>Bioinformatikai</a:t>
            </a:r>
            <a:r>
              <a:rPr lang="hu-HU" dirty="0"/>
              <a:t> Tanszék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087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Célkitűzés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hu-HU" sz="2000" dirty="0" smtClean="0"/>
              <a:t>Számos </a:t>
            </a:r>
            <a:r>
              <a:rPr lang="hu-HU" sz="2000" dirty="0" err="1" smtClean="0"/>
              <a:t>NLP-feladat</a:t>
            </a:r>
            <a:r>
              <a:rPr lang="hu-HU" sz="2000" dirty="0" smtClean="0"/>
              <a:t> kapcsán – talán leginkább a kérdésmegválaszolás terén – lényeges, hogy kezelni tudjuk a mondatokban megjelenő szavak jelentése közötti viszonyokat.</a:t>
            </a:r>
          </a:p>
          <a:p>
            <a:pPr lvl="1"/>
            <a:r>
              <a:rPr lang="hu-HU" sz="1800" dirty="0" smtClean="0"/>
              <a:t>Kérdés: </a:t>
            </a:r>
            <a:r>
              <a:rPr lang="hu-HU" sz="1800" i="1" dirty="0" smtClean="0"/>
              <a:t>Hová ment János főnöke a megbeszélés után?</a:t>
            </a:r>
          </a:p>
          <a:p>
            <a:pPr lvl="1"/>
            <a:r>
              <a:rPr lang="hu-HU" sz="1800" dirty="0" smtClean="0"/>
              <a:t>Válasz a </a:t>
            </a:r>
            <a:r>
              <a:rPr lang="hu-HU" sz="1800" dirty="0" err="1" smtClean="0"/>
              <a:t>szövegkben</a:t>
            </a:r>
            <a:r>
              <a:rPr lang="hu-HU" sz="1800" dirty="0" smtClean="0"/>
              <a:t>: </a:t>
            </a:r>
            <a:r>
              <a:rPr lang="hu-HU" sz="1800" i="1" dirty="0" smtClean="0"/>
              <a:t>János felettese Londonba utazott az értekezletet követően.</a:t>
            </a:r>
          </a:p>
          <a:p>
            <a:pPr lvl="1"/>
            <a:r>
              <a:rPr lang="hu-HU" sz="1800" dirty="0" smtClean="0"/>
              <a:t>Ahhoz, hogy megtalálja ezt a választ, az alkalmazásnak tudnia kell, hogy </a:t>
            </a:r>
            <a:br>
              <a:rPr lang="hu-HU" sz="1800" dirty="0" smtClean="0"/>
            </a:br>
            <a:r>
              <a:rPr lang="hu-HU" sz="1800" i="1" dirty="0" smtClean="0"/>
              <a:t>főnök </a:t>
            </a:r>
            <a:r>
              <a:rPr lang="hu-HU" sz="1800" dirty="0" smtClean="0"/>
              <a:t>= </a:t>
            </a:r>
            <a:r>
              <a:rPr lang="hu-HU" sz="1800" i="1" dirty="0" smtClean="0"/>
              <a:t>felettes, megbeszélés </a:t>
            </a:r>
            <a:r>
              <a:rPr lang="hu-HU" sz="1800" dirty="0" smtClean="0"/>
              <a:t>= </a:t>
            </a:r>
            <a:r>
              <a:rPr lang="hu-HU" sz="1800" i="1" dirty="0" smtClean="0"/>
              <a:t>értekezlet, ment </a:t>
            </a:r>
            <a:r>
              <a:rPr lang="hu-HU" sz="1800" dirty="0" smtClean="0"/>
              <a:t>= </a:t>
            </a:r>
            <a:r>
              <a:rPr lang="hu-HU" sz="1800" i="1" dirty="0" smtClean="0"/>
              <a:t>utazott, után </a:t>
            </a:r>
            <a:r>
              <a:rPr lang="hu-HU" sz="1800" dirty="0" smtClean="0"/>
              <a:t>= </a:t>
            </a:r>
            <a:r>
              <a:rPr lang="hu-HU" sz="1800" i="1" dirty="0" smtClean="0"/>
              <a:t>követően</a:t>
            </a:r>
          </a:p>
          <a:p>
            <a:pPr lvl="2"/>
            <a:r>
              <a:rPr lang="hu-HU" sz="1600" dirty="0" smtClean="0"/>
              <a:t>szinonimák, jelentésük közel azonos, bár teljesen különböző alakúak</a:t>
            </a:r>
          </a:p>
          <a:p>
            <a:r>
              <a:rPr lang="hu-HU" sz="2000" dirty="0" smtClean="0"/>
              <a:t>A legfontosabb eszközt a szavak jelentése közötti hasonlóság és egyéb viszonyok leírására az </a:t>
            </a:r>
            <a:r>
              <a:rPr lang="hu-HU" sz="2000" dirty="0" err="1" smtClean="0"/>
              <a:t>NLP-ben</a:t>
            </a:r>
            <a:r>
              <a:rPr lang="hu-HU" sz="2000" dirty="0" smtClean="0"/>
              <a:t> olyan szóvektorok kínálják, amelyek a szavak disztribúcióját jellemzik egy vagy több korpuszban.</a:t>
            </a:r>
          </a:p>
          <a:p>
            <a:r>
              <a:rPr lang="hu-HU" sz="2000" dirty="0" smtClean="0"/>
              <a:t>A szójelentésnek ezt a megközelítését </a:t>
            </a:r>
            <a:r>
              <a:rPr lang="hu-HU" sz="2000" b="1" dirty="0" smtClean="0"/>
              <a:t>disztribúciós szemantikának </a:t>
            </a:r>
            <a:r>
              <a:rPr lang="hu-HU" sz="2000" dirty="0" smtClean="0"/>
              <a:t>hívják.</a:t>
            </a:r>
          </a:p>
        </p:txBody>
      </p:sp>
    </p:spTree>
    <p:extLst>
      <p:ext uri="{BB962C8B-B14F-4D97-AF65-F5344CB8AC3E}">
        <p14:creationId xmlns:p14="http://schemas.microsoft.com/office/powerpoint/2010/main" val="3163993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Disztribúció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smtClean="0"/>
              <a:t>Egy szóalak / </a:t>
            </a:r>
            <a:r>
              <a:rPr lang="hu-HU" dirty="0" err="1" smtClean="0"/>
              <a:t>lexéma</a:t>
            </a:r>
            <a:r>
              <a:rPr lang="hu-HU" dirty="0" smtClean="0"/>
              <a:t> </a:t>
            </a:r>
            <a:r>
              <a:rPr lang="hu-HU" b="1" dirty="0" smtClean="0"/>
              <a:t>disztribúciója</a:t>
            </a:r>
            <a:r>
              <a:rPr lang="hu-HU" dirty="0" smtClean="0"/>
              <a:t>: azon nyelvi környezetek összessége, amelyekben az adott szóalak / </a:t>
            </a:r>
            <a:r>
              <a:rPr lang="hu-HU" dirty="0" err="1" smtClean="0"/>
              <a:t>lexéma</a:t>
            </a:r>
            <a:r>
              <a:rPr lang="hu-HU" dirty="0" smtClean="0"/>
              <a:t> előfordulhat.</a:t>
            </a:r>
          </a:p>
          <a:p>
            <a:pPr lvl="1"/>
            <a:r>
              <a:rPr lang="hu-HU" b="1" dirty="0" smtClean="0"/>
              <a:t>Nyelvi környezet (kontextus)</a:t>
            </a:r>
            <a:r>
              <a:rPr lang="hu-HU" dirty="0" smtClean="0"/>
              <a:t>: az adott szóalak / </a:t>
            </a:r>
            <a:r>
              <a:rPr lang="hu-HU" dirty="0" err="1" smtClean="0"/>
              <a:t>lexéma</a:t>
            </a:r>
            <a:r>
              <a:rPr lang="hu-HU" dirty="0" smtClean="0"/>
              <a:t> (a </a:t>
            </a:r>
            <a:r>
              <a:rPr lang="hu-HU" b="1" dirty="0" smtClean="0"/>
              <a:t>célszó</a:t>
            </a:r>
            <a:r>
              <a:rPr lang="hu-HU" dirty="0" smtClean="0"/>
              <a:t>) előfordulásai körül előforduló más szóalakok / </a:t>
            </a:r>
            <a:r>
              <a:rPr lang="hu-HU" dirty="0" err="1" smtClean="0"/>
              <a:t>lexémák</a:t>
            </a:r>
            <a:r>
              <a:rPr lang="hu-HU" dirty="0" smtClean="0"/>
              <a:t> (</a:t>
            </a:r>
            <a:r>
              <a:rPr lang="hu-HU" b="1" dirty="0" err="1" smtClean="0"/>
              <a:t>kontextusszavak</a:t>
            </a:r>
            <a:r>
              <a:rPr lang="hu-HU" dirty="0" smtClean="0"/>
              <a:t>).</a:t>
            </a:r>
          </a:p>
          <a:p>
            <a:pPr lvl="1"/>
            <a:r>
              <a:rPr lang="hu-HU" dirty="0" smtClean="0"/>
              <a:t>Figyelembe vehetjük a szintaktikai környezetet is (a célszó és a </a:t>
            </a:r>
            <a:r>
              <a:rPr lang="hu-HU" dirty="0" err="1" smtClean="0"/>
              <a:t>kontextusszavak</a:t>
            </a:r>
            <a:r>
              <a:rPr lang="hu-HU" dirty="0" smtClean="0"/>
              <a:t> helye, funkciója a konkrét szintaktikai szerkezetekben).</a:t>
            </a:r>
          </a:p>
          <a:p>
            <a:pPr lvl="1"/>
            <a:r>
              <a:rPr lang="hu-HU" dirty="0" smtClean="0"/>
              <a:t>A disztribúciót </a:t>
            </a:r>
            <a:r>
              <a:rPr lang="hu-HU" b="1" dirty="0" smtClean="0"/>
              <a:t>meghatározó tényezők</a:t>
            </a:r>
            <a:r>
              <a:rPr lang="hu-HU" dirty="0" smtClean="0"/>
              <a:t>:</a:t>
            </a:r>
          </a:p>
          <a:p>
            <a:pPr lvl="2"/>
            <a:r>
              <a:rPr lang="hu-HU" dirty="0" smtClean="0"/>
              <a:t>adott </a:t>
            </a:r>
            <a:r>
              <a:rPr lang="hu-HU" dirty="0" err="1" smtClean="0"/>
              <a:t>lexéma</a:t>
            </a:r>
            <a:r>
              <a:rPr lang="hu-HU" dirty="0" smtClean="0"/>
              <a:t> szófaja, jelentése</a:t>
            </a:r>
          </a:p>
          <a:p>
            <a:pPr lvl="2"/>
            <a:r>
              <a:rPr lang="hu-HU" dirty="0"/>
              <a:t>a</a:t>
            </a:r>
            <a:r>
              <a:rPr lang="hu-HU" dirty="0" smtClean="0"/>
              <a:t>dott szóalak </a:t>
            </a:r>
            <a:r>
              <a:rPr lang="hu-HU" dirty="0" err="1" smtClean="0"/>
              <a:t>morfoszintaktikai</a:t>
            </a:r>
            <a:r>
              <a:rPr lang="hu-HU" dirty="0" smtClean="0"/>
              <a:t> jellemzői (szám, eset stb.)</a:t>
            </a:r>
          </a:p>
          <a:p>
            <a:pPr lvl="2"/>
            <a:r>
              <a:rPr lang="hu-HU" dirty="0"/>
              <a:t>e</a:t>
            </a:r>
            <a:r>
              <a:rPr lang="hu-HU" dirty="0" smtClean="0"/>
              <a:t>gyéb önkényes tényezők (</a:t>
            </a:r>
            <a:r>
              <a:rPr lang="hu-HU" dirty="0" err="1" smtClean="0"/>
              <a:t>kollokációk</a:t>
            </a:r>
            <a:r>
              <a:rPr lang="hu-HU" dirty="0" smtClean="0"/>
              <a:t>, idiómák)</a:t>
            </a:r>
          </a:p>
          <a:p>
            <a:r>
              <a:rPr lang="hu-HU" dirty="0" smtClean="0"/>
              <a:t>A nyelvtechnológiában ennél </a:t>
            </a:r>
            <a:r>
              <a:rPr lang="hu-HU" dirty="0" smtClean="0"/>
              <a:t>általában </a:t>
            </a:r>
            <a:r>
              <a:rPr lang="hu-HU" b="1" dirty="0" smtClean="0"/>
              <a:t>szűkebb disztribúciófogalmat </a:t>
            </a:r>
            <a:r>
              <a:rPr lang="hu-HU" dirty="0" smtClean="0"/>
              <a:t>használnak:</a:t>
            </a:r>
          </a:p>
          <a:p>
            <a:pPr lvl="1"/>
            <a:r>
              <a:rPr lang="hu-HU" dirty="0" smtClean="0"/>
              <a:t>Egy adott szóalak (vagy </a:t>
            </a:r>
            <a:r>
              <a:rPr lang="hu-HU" dirty="0" err="1" smtClean="0"/>
              <a:t>lexéma</a:t>
            </a:r>
            <a:r>
              <a:rPr lang="hu-HU" dirty="0" smtClean="0"/>
              <a:t>) előfordulásaitól</a:t>
            </a:r>
          </a:p>
          <a:p>
            <a:pPr lvl="1"/>
            <a:r>
              <a:rPr lang="hu-HU" dirty="0"/>
              <a:t>e</a:t>
            </a:r>
            <a:r>
              <a:rPr lang="hu-HU" dirty="0" smtClean="0"/>
              <a:t>gy konkrét </a:t>
            </a:r>
            <a:r>
              <a:rPr lang="hu-HU" b="1" dirty="0" smtClean="0"/>
              <a:t>korpuszban</a:t>
            </a:r>
          </a:p>
          <a:p>
            <a:pPr lvl="1"/>
            <a:r>
              <a:rPr lang="hu-HU" dirty="0"/>
              <a:t>l</a:t>
            </a:r>
            <a:r>
              <a:rPr lang="hu-HU" dirty="0" smtClean="0"/>
              <a:t>egfeljebb </a:t>
            </a:r>
            <a:r>
              <a:rPr lang="hu-HU" i="1" dirty="0" smtClean="0"/>
              <a:t>n, </a:t>
            </a:r>
            <a:r>
              <a:rPr lang="hu-HU" dirty="0" smtClean="0"/>
              <a:t>például 5 szó </a:t>
            </a:r>
            <a:r>
              <a:rPr lang="hu-HU" b="1" dirty="0" smtClean="0"/>
              <a:t>távolságon belül </a:t>
            </a:r>
            <a:r>
              <a:rPr lang="hu-HU" dirty="0" smtClean="0"/>
              <a:t>ténylegesen előforduló szóalakok (</a:t>
            </a:r>
            <a:r>
              <a:rPr lang="hu-HU" dirty="0" err="1" smtClean="0"/>
              <a:t>lexémák</a:t>
            </a:r>
            <a:r>
              <a:rPr lang="hu-HU" dirty="0" smtClean="0"/>
              <a:t>) halmaza („</a:t>
            </a:r>
            <a:r>
              <a:rPr lang="hu-HU" dirty="0" err="1" smtClean="0"/>
              <a:t>co-occurrence</a:t>
            </a:r>
            <a:r>
              <a:rPr lang="hu-HU" dirty="0" smtClean="0"/>
              <a:t>”, „együtt előfordulás”).</a:t>
            </a:r>
          </a:p>
          <a:p>
            <a:pPr lvl="1"/>
            <a:r>
              <a:rPr lang="hu-HU" dirty="0" smtClean="0"/>
              <a:t>Szórendet, szintaktikai szerkezetet általában ignorálják.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9270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Disztribúciós hipotézis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hu-HU" sz="1600" b="1" dirty="0" smtClean="0"/>
              <a:t>Disztribúciós hipotézis (DH):</a:t>
            </a:r>
            <a:r>
              <a:rPr lang="hu-HU" sz="1600" dirty="0" smtClean="0"/>
              <a:t> </a:t>
            </a:r>
            <a:r>
              <a:rPr lang="hu-HU" sz="1600" b="1" dirty="0" smtClean="0"/>
              <a:t>Hasonló jelentésű kifejezéseknek</a:t>
            </a:r>
            <a:r>
              <a:rPr lang="hu-HU" sz="1600" dirty="0" smtClean="0"/>
              <a:t> (szavaknak, illetve összetett kifejezéseknek) </a:t>
            </a:r>
            <a:r>
              <a:rPr lang="hu-HU" sz="1600" b="1" dirty="0" smtClean="0"/>
              <a:t>hasonló a disztribúciója</a:t>
            </a:r>
            <a:r>
              <a:rPr lang="hu-HU" sz="1600" dirty="0" smtClean="0"/>
              <a:t>, tehát hasonló nyelvi kontextusokban fordulnak elő.</a:t>
            </a:r>
          </a:p>
          <a:p>
            <a:r>
              <a:rPr lang="hu-HU" sz="1600" dirty="0" smtClean="0"/>
              <a:t>A disztribúciós szemantika </a:t>
            </a:r>
            <a:r>
              <a:rPr lang="hu-HU" sz="1600" dirty="0"/>
              <a:t>(a továbbiakban </a:t>
            </a:r>
            <a:r>
              <a:rPr lang="hu-HU" sz="1600" dirty="0" err="1"/>
              <a:t>DSz</a:t>
            </a:r>
            <a:r>
              <a:rPr lang="hu-HU" sz="1600" dirty="0" smtClean="0"/>
              <a:t>) </a:t>
            </a:r>
            <a:r>
              <a:rPr lang="hu-HU" sz="1600" dirty="0" smtClean="0"/>
              <a:t>olyan </a:t>
            </a:r>
            <a:r>
              <a:rPr lang="hu-HU" sz="1600" dirty="0" smtClean="0"/>
              <a:t>szemantikai megközelítés, amely a jelentésfogalmát a </a:t>
            </a:r>
            <a:r>
              <a:rPr lang="hu-HU" sz="1600" dirty="0" err="1" smtClean="0"/>
              <a:t>DH-ra</a:t>
            </a:r>
            <a:r>
              <a:rPr lang="hu-HU" sz="1600" dirty="0" smtClean="0"/>
              <a:t> alapozza.</a:t>
            </a:r>
          </a:p>
          <a:p>
            <a:r>
              <a:rPr lang="hu-HU" sz="1600" b="1" dirty="0" smtClean="0"/>
              <a:t>Gyenge</a:t>
            </a:r>
            <a:r>
              <a:rPr lang="hu-HU" sz="1600" dirty="0" smtClean="0"/>
              <a:t> </a:t>
            </a:r>
            <a:r>
              <a:rPr lang="hu-HU" sz="1600" dirty="0" err="1" smtClean="0"/>
              <a:t>disztribucionalizmus</a:t>
            </a:r>
            <a:r>
              <a:rPr lang="hu-HU" sz="1600" dirty="0" smtClean="0"/>
              <a:t>:</a:t>
            </a:r>
          </a:p>
          <a:p>
            <a:pPr lvl="1"/>
            <a:r>
              <a:rPr lang="hu-HU" sz="1400" dirty="0" smtClean="0"/>
              <a:t>A </a:t>
            </a:r>
            <a:r>
              <a:rPr lang="hu-HU" sz="1400" dirty="0" err="1" smtClean="0"/>
              <a:t>DH-t</a:t>
            </a:r>
            <a:r>
              <a:rPr lang="hu-HU" sz="1400" dirty="0" smtClean="0"/>
              <a:t> </a:t>
            </a:r>
            <a:r>
              <a:rPr lang="hu-HU" sz="1400" b="1" dirty="0" smtClean="0"/>
              <a:t>heurisztikus elvnek </a:t>
            </a:r>
            <a:r>
              <a:rPr lang="hu-HU" sz="1400" dirty="0" smtClean="0"/>
              <a:t>tekinti.</a:t>
            </a:r>
          </a:p>
          <a:p>
            <a:pPr lvl="1"/>
            <a:r>
              <a:rPr lang="hu-HU" sz="1400" dirty="0" smtClean="0"/>
              <a:t>Függetlenül attól, hogy mit gondolunk a nyelvi jelentés ontológiájáról, a </a:t>
            </a:r>
            <a:r>
              <a:rPr lang="hu-HU" sz="1400" dirty="0" err="1" smtClean="0"/>
              <a:t>DH-t</a:t>
            </a:r>
            <a:r>
              <a:rPr lang="hu-HU" sz="1400" dirty="0" smtClean="0"/>
              <a:t> egy olyan módszer alapjaként foghatjuk fel, amellyel korpuszokból </a:t>
            </a:r>
            <a:r>
              <a:rPr lang="hu-HU" sz="1400" b="1" dirty="0" smtClean="0"/>
              <a:t>jelentésreprezentációkat nyerhetünk</a:t>
            </a:r>
            <a:r>
              <a:rPr lang="hu-HU" sz="1400" dirty="0" smtClean="0"/>
              <a:t>.</a:t>
            </a:r>
          </a:p>
          <a:p>
            <a:pPr lvl="1"/>
            <a:r>
              <a:rPr lang="hu-HU" sz="1400" dirty="0" smtClean="0"/>
              <a:t>Ezek a DH értelmében megragadják a szavak jelentése közötti </a:t>
            </a:r>
            <a:r>
              <a:rPr lang="hu-HU" sz="1400" b="1" dirty="0" smtClean="0"/>
              <a:t>hasonlóságokat és különbségeket</a:t>
            </a:r>
            <a:r>
              <a:rPr lang="hu-HU" sz="1400" dirty="0" smtClean="0"/>
              <a:t>.</a:t>
            </a:r>
          </a:p>
          <a:p>
            <a:r>
              <a:rPr lang="hu-HU" sz="1600" b="1" dirty="0" smtClean="0"/>
              <a:t>Erős</a:t>
            </a:r>
            <a:r>
              <a:rPr lang="hu-HU" sz="1600" dirty="0" smtClean="0"/>
              <a:t> </a:t>
            </a:r>
            <a:r>
              <a:rPr lang="hu-HU" sz="1600" dirty="0" err="1" smtClean="0"/>
              <a:t>disztribucionalizmus</a:t>
            </a:r>
            <a:r>
              <a:rPr lang="hu-HU" sz="1600" dirty="0" smtClean="0"/>
              <a:t>:</a:t>
            </a:r>
          </a:p>
          <a:p>
            <a:pPr lvl="1"/>
            <a:r>
              <a:rPr lang="hu-HU" sz="1400" dirty="0" smtClean="0"/>
              <a:t>A DH nem annyira hipotézis, inkább a jelentés egyfajta definíciója.</a:t>
            </a:r>
          </a:p>
          <a:p>
            <a:pPr lvl="1"/>
            <a:r>
              <a:rPr lang="hu-HU" sz="1400" dirty="0" smtClean="0"/>
              <a:t>A jelentés nem más, mint a szó használata nyelvi kontextusokban, azaz a disztribúció mint olyan </a:t>
            </a:r>
            <a:r>
              <a:rPr lang="hu-HU" sz="1400" b="1" dirty="0" err="1" smtClean="0"/>
              <a:t>konstituálja</a:t>
            </a:r>
            <a:r>
              <a:rPr lang="hu-HU" sz="1400" dirty="0" smtClean="0"/>
              <a:t> a kifejezés jelentését.</a:t>
            </a:r>
          </a:p>
          <a:p>
            <a:pPr lvl="1"/>
            <a:r>
              <a:rPr lang="hu-HU" sz="1400" dirty="0" smtClean="0"/>
              <a:t>Érvek:</a:t>
            </a:r>
          </a:p>
          <a:p>
            <a:pPr lvl="2"/>
            <a:r>
              <a:rPr lang="hu-HU" sz="1200" b="1" dirty="0" smtClean="0"/>
              <a:t>Absztrakt</a:t>
            </a:r>
            <a:r>
              <a:rPr lang="hu-HU" sz="1200" dirty="0" smtClean="0"/>
              <a:t> jelentésű szavak, pl. </a:t>
            </a:r>
            <a:r>
              <a:rPr lang="hu-HU" sz="1200" i="1" dirty="0" smtClean="0"/>
              <a:t>szabály, tudás </a:t>
            </a:r>
            <a:r>
              <a:rPr lang="hu-HU" sz="1200" dirty="0" smtClean="0"/>
              <a:t>– nem referálnak semmilyen nyelven kívüli valóságra.</a:t>
            </a:r>
          </a:p>
          <a:p>
            <a:pPr lvl="2"/>
            <a:r>
              <a:rPr lang="hu-HU" sz="1200" b="1" dirty="0" smtClean="0"/>
              <a:t>Természetes fajták </a:t>
            </a:r>
            <a:r>
              <a:rPr lang="hu-HU" sz="1200" dirty="0" smtClean="0"/>
              <a:t>nevei, pl. </a:t>
            </a:r>
            <a:r>
              <a:rPr lang="hu-HU" sz="1200" i="1" dirty="0" smtClean="0"/>
              <a:t>szil </a:t>
            </a:r>
            <a:r>
              <a:rPr lang="hu-HU" sz="1200" dirty="0" smtClean="0"/>
              <a:t>– Az, hogy fel tudjuk-e ismerni a szilt, nem nyelvi, hanem növénytani tudás. A szó jelentését (legalábbis részben) már akkor is ismerjük, ha csak annyit tudunk, hogy a szil egy fafajta.</a:t>
            </a:r>
            <a:endParaRPr lang="hu-HU" sz="1200" dirty="0"/>
          </a:p>
          <a:p>
            <a:pPr lvl="2"/>
            <a:r>
              <a:rPr lang="hu-HU" sz="1200" b="1" dirty="0" smtClean="0"/>
              <a:t>Szavak (és jelentésük) tanulása: </a:t>
            </a:r>
            <a:r>
              <a:rPr lang="hu-HU" sz="1200" dirty="0" smtClean="0"/>
              <a:t>Gyerekek naponta több tíz szót tanulnak definíciók, szituációs kontextus nélkül, egy-két írásbeli előfordulás alapján.</a:t>
            </a:r>
          </a:p>
        </p:txBody>
      </p:sp>
    </p:spTree>
    <p:extLst>
      <p:ext uri="{BB962C8B-B14F-4D97-AF65-F5344CB8AC3E}">
        <p14:creationId xmlns:p14="http://schemas.microsoft.com/office/powerpoint/2010/main" val="25776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Szóvektorok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000" dirty="0" smtClean="0"/>
              <a:t>Szavak (= jelentésük) reprezentációja a </a:t>
            </a:r>
            <a:r>
              <a:rPr lang="hu-HU" sz="2000" dirty="0" err="1" smtClean="0"/>
              <a:t>DSz-ban</a:t>
            </a:r>
            <a:r>
              <a:rPr lang="hu-HU" sz="2000" dirty="0" smtClean="0"/>
              <a:t> </a:t>
            </a:r>
            <a:r>
              <a:rPr lang="hu-HU" sz="2000" b="1" dirty="0" smtClean="0"/>
              <a:t>vektorokkal</a:t>
            </a:r>
            <a:r>
              <a:rPr lang="hu-HU" sz="2000" dirty="0" smtClean="0"/>
              <a:t> történik.</a:t>
            </a:r>
          </a:p>
          <a:p>
            <a:pPr lvl="1"/>
            <a:r>
              <a:rPr lang="hu-HU" sz="1600" dirty="0" smtClean="0"/>
              <a:t>Vektornak </a:t>
            </a:r>
            <a:r>
              <a:rPr lang="hu-HU" sz="1600" b="1" dirty="0" smtClean="0"/>
              <a:t>egy </a:t>
            </a:r>
            <a:r>
              <a:rPr lang="hu-HU" sz="1600" b="1" i="1" dirty="0" smtClean="0"/>
              <a:t>k </a:t>
            </a:r>
            <a:r>
              <a:rPr lang="hu-HU" sz="1600" b="1" dirty="0" smtClean="0"/>
              <a:t>számból álló felsorolást </a:t>
            </a:r>
            <a:r>
              <a:rPr lang="hu-HU" sz="1600" dirty="0" smtClean="0"/>
              <a:t>nevezünk, </a:t>
            </a:r>
            <a:r>
              <a:rPr lang="hu-HU" sz="1600" i="1" dirty="0" smtClean="0"/>
              <a:t>k </a:t>
            </a:r>
            <a:r>
              <a:rPr lang="hu-HU" sz="1600" dirty="0" smtClean="0"/>
              <a:t>a vektor dimenziója</a:t>
            </a:r>
          </a:p>
          <a:p>
            <a:pPr lvl="2"/>
            <a:r>
              <a:rPr lang="hu-HU" sz="1400" dirty="0" smtClean="0"/>
              <a:t>pl. a [-1,1; 2,0] egy </a:t>
            </a:r>
            <a:r>
              <a:rPr lang="hu-HU" sz="1400" b="1" dirty="0" smtClean="0"/>
              <a:t>két</a:t>
            </a:r>
            <a:r>
              <a:rPr lang="hu-HU" sz="1400" dirty="0" smtClean="0"/>
              <a:t>dimenziós vektor,</a:t>
            </a:r>
          </a:p>
          <a:p>
            <a:pPr lvl="2"/>
            <a:r>
              <a:rPr lang="hu-HU" sz="1400" dirty="0" smtClean="0"/>
              <a:t>a [0,3; 5,38; -3,7] </a:t>
            </a:r>
            <a:r>
              <a:rPr lang="hu-HU" sz="1400" b="1" dirty="0" smtClean="0"/>
              <a:t>három</a:t>
            </a:r>
            <a:r>
              <a:rPr lang="hu-HU" sz="1400" dirty="0" smtClean="0"/>
              <a:t>dimenziós.</a:t>
            </a:r>
          </a:p>
          <a:p>
            <a:pPr lvl="1"/>
            <a:r>
              <a:rPr lang="hu-HU" sz="1600" dirty="0" smtClean="0"/>
              <a:t>Minden vektor azonosít egy-egy pontot egy </a:t>
            </a:r>
            <a:r>
              <a:rPr lang="hu-HU" sz="1600" i="1" dirty="0" smtClean="0"/>
              <a:t>k </a:t>
            </a:r>
            <a:r>
              <a:rPr lang="hu-HU" sz="1600" dirty="0" smtClean="0"/>
              <a:t>dimenziós térben (2 dimenzió esetén ezt síknak nevezzük) egy origóhoz képest; ezt a teret vektortérnek nevezzük.</a:t>
            </a:r>
          </a:p>
          <a:p>
            <a:pPr lvl="1"/>
            <a:r>
              <a:rPr lang="hu-HU" sz="1600" dirty="0" smtClean="0"/>
              <a:t>A vektort alkotó számokat a vektor elemeinek vagy koordinátáknak nevezzük. Úgy is felfoghatjuk, hogy a vektor minden eleme egy-egy szemantikai jegyérték (</a:t>
            </a:r>
            <a:r>
              <a:rPr lang="hu-HU" sz="1600" dirty="0" err="1" smtClean="0"/>
              <a:t>feature</a:t>
            </a:r>
            <a:r>
              <a:rPr lang="hu-HU" sz="1600" dirty="0" smtClean="0"/>
              <a:t> </a:t>
            </a:r>
            <a:r>
              <a:rPr lang="hu-HU" sz="1600" dirty="0" err="1" smtClean="0"/>
              <a:t>value</a:t>
            </a:r>
            <a:r>
              <a:rPr lang="hu-HU" sz="1600" dirty="0" smtClean="0"/>
              <a:t>).</a:t>
            </a:r>
          </a:p>
          <a:p>
            <a:pPr lvl="1"/>
            <a:r>
              <a:rPr lang="hu-HU" sz="1600" dirty="0" smtClean="0"/>
              <a:t>Tehát minden szónak egy pont felel meg egy vektortérben, a hasonló disztribúciójú </a:t>
            </a:r>
            <a:br>
              <a:rPr lang="hu-HU" sz="1600" dirty="0" smtClean="0"/>
            </a:br>
            <a:r>
              <a:rPr lang="hu-HU" sz="1600" dirty="0" smtClean="0"/>
              <a:t>(= jelentésű) szavak egymáshoz közel helyezkednek el ebben a térben.</a:t>
            </a:r>
          </a:p>
          <a:p>
            <a:pPr lvl="1"/>
            <a:r>
              <a:rPr lang="hu-HU" sz="1600" dirty="0" smtClean="0"/>
              <a:t>Minden vektor valamilyen irányba mutat. Az egyazon térben elhelyezkedő vektorok páronként valamilyen szöget zárnak be egymással. Minél kisebb szöget zár be két szóvektor egymással, annál hasonlóbb a két szó jelentése.</a:t>
            </a:r>
          </a:p>
          <a:p>
            <a:pPr lvl="2"/>
            <a:r>
              <a:rPr lang="hu-HU" sz="1400" dirty="0" smtClean="0"/>
              <a:t>A két vektor által bezárt szöget a koszinuszával jellemezzük. A koszinusz 1, ha azonos irányba mutatnak, és -1, ha pont ellenkező irányba.</a:t>
            </a:r>
            <a:endParaRPr lang="hu-HU" sz="1400" dirty="0"/>
          </a:p>
          <a:p>
            <a:pPr lvl="2"/>
            <a:r>
              <a:rPr lang="hu-HU" sz="1400" dirty="0"/>
              <a:t>A vektor </a:t>
            </a:r>
            <a:r>
              <a:rPr lang="hu-HU" sz="1400" dirty="0" smtClean="0"/>
              <a:t>hosszát </a:t>
            </a:r>
            <a:r>
              <a:rPr lang="hu-HU" sz="1400" dirty="0"/>
              <a:t>általában </a:t>
            </a:r>
            <a:r>
              <a:rPr lang="hu-HU" sz="1400" dirty="0" smtClean="0"/>
              <a:t>figyelmen kívül hagyjuk a </a:t>
            </a:r>
            <a:r>
              <a:rPr lang="hu-HU" sz="1400" dirty="0"/>
              <a:t>disztribúciós szemantikában</a:t>
            </a:r>
            <a:r>
              <a:rPr lang="hu-HU" sz="1400" dirty="0" smtClean="0"/>
              <a:t>.</a:t>
            </a:r>
            <a:endParaRPr lang="hu-HU" sz="1400" dirty="0"/>
          </a:p>
        </p:txBody>
      </p:sp>
    </p:spTree>
    <p:extLst>
      <p:ext uri="{BB962C8B-B14F-4D97-AF65-F5344CB8AC3E}">
        <p14:creationId xmlns:p14="http://schemas.microsoft.com/office/powerpoint/2010/main" val="323278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Együtt előfordulások mátrixa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1800" dirty="0" smtClean="0"/>
              <a:t>Lényeges kérdés, hogy </a:t>
            </a:r>
            <a:r>
              <a:rPr lang="hu-HU" sz="1800" b="1" dirty="0" smtClean="0"/>
              <a:t>hány dimenziós vektorokkal </a:t>
            </a:r>
            <a:r>
              <a:rPr lang="hu-HU" sz="1800" dirty="0" smtClean="0"/>
              <a:t>reprezentáljuk a szavakat.</a:t>
            </a:r>
          </a:p>
          <a:p>
            <a:r>
              <a:rPr lang="hu-HU" sz="1800" dirty="0" smtClean="0"/>
              <a:t>Kézenfekvő megoldás: </a:t>
            </a:r>
            <a:r>
              <a:rPr lang="hu-HU" sz="1800" b="1" dirty="0" err="1" smtClean="0"/>
              <a:t>kontextusszavakkal</a:t>
            </a:r>
            <a:r>
              <a:rPr lang="hu-HU" sz="1800" b="1" dirty="0" smtClean="0"/>
              <a:t> együtt való előfordulások számolása</a:t>
            </a:r>
            <a:r>
              <a:rPr lang="hu-HU" sz="1800" dirty="0" smtClean="0"/>
              <a:t>.</a:t>
            </a:r>
          </a:p>
          <a:p>
            <a:pPr lvl="1"/>
            <a:r>
              <a:rPr lang="hu-HU" sz="1600" dirty="0" smtClean="0"/>
              <a:t>A vektor minden koordinátája azt adja meg, hogy az adott </a:t>
            </a:r>
            <a:r>
              <a:rPr lang="hu-HU" sz="1600" dirty="0" err="1" smtClean="0"/>
              <a:t>céllexéma</a:t>
            </a:r>
            <a:r>
              <a:rPr lang="hu-HU" sz="1600" dirty="0" smtClean="0"/>
              <a:t> egy bizonyos </a:t>
            </a:r>
            <a:r>
              <a:rPr lang="hu-HU" sz="1600" dirty="0" err="1" smtClean="0"/>
              <a:t>kontextuslexémának</a:t>
            </a:r>
            <a:r>
              <a:rPr lang="hu-HU" sz="1600" dirty="0" smtClean="0"/>
              <a:t> a környezetében hány alkalommal fordult elő a vizsgált korpuszban.</a:t>
            </a:r>
          </a:p>
          <a:p>
            <a:pPr lvl="1"/>
            <a:r>
              <a:rPr lang="hu-HU" sz="1600" dirty="0" smtClean="0"/>
              <a:t>A vektor annyi dimenziós, ahány </a:t>
            </a:r>
            <a:r>
              <a:rPr lang="hu-HU" sz="1600" dirty="0" err="1" smtClean="0"/>
              <a:t>lexéma</a:t>
            </a:r>
            <a:r>
              <a:rPr lang="hu-HU" sz="1600" dirty="0" smtClean="0"/>
              <a:t> van a szótárunkban. Probléma: ez tipikusan elég nagy szám (legalább 10 000-es nagyságrendű).</a:t>
            </a:r>
            <a:r>
              <a:rPr lang="hu-HU" sz="1600" dirty="0"/>
              <a:t> </a:t>
            </a:r>
            <a:r>
              <a:rPr lang="hu-HU" sz="1600" dirty="0" smtClean="0"/>
              <a:t>A gyakorlatban nem működik jól.</a:t>
            </a:r>
          </a:p>
          <a:p>
            <a:r>
              <a:rPr lang="hu-HU" sz="1800" dirty="0"/>
              <a:t>A </a:t>
            </a:r>
            <a:r>
              <a:rPr lang="hu-HU" sz="1800" dirty="0" err="1"/>
              <a:t>DSz-i</a:t>
            </a:r>
            <a:r>
              <a:rPr lang="hu-HU" sz="1800" dirty="0"/>
              <a:t> reprezentációkat tartalmazó </a:t>
            </a:r>
            <a:r>
              <a:rPr lang="hu-HU" sz="1800" b="1" dirty="0"/>
              <a:t>szótár</a:t>
            </a:r>
            <a:r>
              <a:rPr lang="hu-HU" sz="1800" dirty="0"/>
              <a:t> </a:t>
            </a:r>
            <a:r>
              <a:rPr lang="hu-HU" sz="1800" dirty="0" err="1"/>
              <a:t>lexémák</a:t>
            </a:r>
            <a:r>
              <a:rPr lang="hu-HU" sz="1800" dirty="0"/>
              <a:t> vagy szóalakok egy N elemű listájából áll, amelyek mindegyikéhez egy-egy k dimenziós szóvektor tartozik.</a:t>
            </a:r>
          </a:p>
          <a:p>
            <a:pPr lvl="1"/>
            <a:r>
              <a:rPr lang="hu-HU" sz="1600" dirty="0" smtClean="0"/>
              <a:t>A szóvektorokat egy </a:t>
            </a:r>
            <a:r>
              <a:rPr lang="hu-HU" sz="1600" dirty="0"/>
              <a:t>N sort, k oszlopot tartalmazó </a:t>
            </a:r>
            <a:r>
              <a:rPr lang="hu-HU" sz="1600" b="1" dirty="0"/>
              <a:t>mátrixban</a:t>
            </a:r>
            <a:r>
              <a:rPr lang="hu-HU" sz="1600" dirty="0"/>
              <a:t> tároljuk.</a:t>
            </a:r>
          </a:p>
          <a:p>
            <a:pPr lvl="1"/>
            <a:endParaRPr lang="hu-HU" sz="3200" dirty="0" smtClean="0"/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831234"/>
              </p:ext>
            </p:extLst>
          </p:nvPr>
        </p:nvGraphicFramePr>
        <p:xfrm>
          <a:off x="1403648" y="4797152"/>
          <a:ext cx="6095997" cy="1483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7333"/>
                <a:gridCol w="677333"/>
                <a:gridCol w="1021598"/>
                <a:gridCol w="333068"/>
                <a:gridCol w="891068"/>
                <a:gridCol w="360040"/>
                <a:gridCol w="780891"/>
                <a:gridCol w="299229"/>
                <a:gridCol w="1055437"/>
              </a:tblGrid>
              <a:tr h="370840">
                <a:tc>
                  <a:txBody>
                    <a:bodyPr/>
                    <a:lstStyle/>
                    <a:p>
                      <a:endParaRPr lang="hu-HU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ablak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ablatívusz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kinyit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nyak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zsiráf</a:t>
                      </a:r>
                      <a:endParaRPr lang="hu-H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ablak</a:t>
                      </a:r>
                      <a:endParaRPr lang="hu-HU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2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0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3825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25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5</a:t>
                      </a:r>
                      <a:endParaRPr lang="hu-H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zsiráf</a:t>
                      </a:r>
                      <a:endParaRPr lang="hu-HU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5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0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1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21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0</a:t>
                      </a:r>
                      <a:endParaRPr lang="hu-HU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zövegdoboz 4"/>
          <p:cNvSpPr txBox="1"/>
          <p:nvPr/>
        </p:nvSpPr>
        <p:spPr>
          <a:xfrm>
            <a:off x="3563888" y="4263777"/>
            <a:ext cx="2304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i="1" dirty="0" smtClean="0"/>
              <a:t>k oszlop: </a:t>
            </a:r>
            <a:r>
              <a:rPr lang="hu-HU" sz="1400" i="1" dirty="0" err="1" smtClean="0"/>
              <a:t>kontextusszavak</a:t>
            </a:r>
            <a:endParaRPr lang="hu-HU" sz="1400" i="1" dirty="0"/>
          </a:p>
        </p:txBody>
      </p:sp>
      <p:sp>
        <p:nvSpPr>
          <p:cNvPr id="6" name="Bal oldali kapcsos zárójel 5"/>
          <p:cNvSpPr/>
          <p:nvPr/>
        </p:nvSpPr>
        <p:spPr>
          <a:xfrm rot="5400000">
            <a:off x="4697149" y="2070142"/>
            <a:ext cx="181747" cy="518457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Bal oldali kapcsos zárójel 6"/>
          <p:cNvSpPr/>
          <p:nvPr/>
        </p:nvSpPr>
        <p:spPr>
          <a:xfrm rot="10800000">
            <a:off x="7524328" y="5229200"/>
            <a:ext cx="144017" cy="10081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Szövegdoboz 7"/>
          <p:cNvSpPr txBox="1"/>
          <p:nvPr/>
        </p:nvSpPr>
        <p:spPr>
          <a:xfrm rot="5400000">
            <a:off x="7526799" y="5471646"/>
            <a:ext cx="869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1400" i="1" dirty="0" smtClean="0"/>
              <a:t>N sor:</a:t>
            </a:r>
          </a:p>
          <a:p>
            <a:pPr algn="ctr"/>
            <a:r>
              <a:rPr lang="hu-HU" sz="1400" i="1" dirty="0" smtClean="0"/>
              <a:t>célszavak</a:t>
            </a:r>
            <a:endParaRPr lang="hu-HU" sz="1400" i="1" dirty="0"/>
          </a:p>
        </p:txBody>
      </p:sp>
    </p:spTree>
    <p:extLst>
      <p:ext uri="{BB962C8B-B14F-4D97-AF65-F5344CB8AC3E}">
        <p14:creationId xmlns:p14="http://schemas.microsoft.com/office/powerpoint/2010/main" val="278110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Latens szemantikus elemzés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701007"/>
          </a:xfrm>
        </p:spPr>
        <p:txBody>
          <a:bodyPr>
            <a:normAutofit fontScale="55000" lnSpcReduction="20000"/>
          </a:bodyPr>
          <a:lstStyle/>
          <a:p>
            <a:r>
              <a:rPr lang="hu-HU" dirty="0"/>
              <a:t>Az együtt előfordulásokat súlyozzák </a:t>
            </a:r>
            <a:r>
              <a:rPr lang="hu-HU" dirty="0" smtClean="0"/>
              <a:t>az </a:t>
            </a:r>
            <a:r>
              <a:rPr lang="hu-HU" dirty="0"/>
              <a:t>adott </a:t>
            </a:r>
            <a:r>
              <a:rPr lang="hu-HU" dirty="0" err="1"/>
              <a:t>lexéma</a:t>
            </a:r>
            <a:r>
              <a:rPr lang="hu-HU" dirty="0"/>
              <a:t> abszolút gyakorisága </a:t>
            </a:r>
            <a:r>
              <a:rPr lang="hu-HU" dirty="0" smtClean="0"/>
              <a:t>alapján.</a:t>
            </a:r>
            <a:endParaRPr lang="hu-HU" dirty="0"/>
          </a:p>
          <a:p>
            <a:r>
              <a:rPr lang="hu-HU" dirty="0"/>
              <a:t>Matematikai módszerekkel </a:t>
            </a:r>
            <a:r>
              <a:rPr lang="hu-HU" b="1" dirty="0"/>
              <a:t>csökkentik</a:t>
            </a:r>
            <a:r>
              <a:rPr lang="hu-HU" dirty="0"/>
              <a:t> </a:t>
            </a:r>
            <a:r>
              <a:rPr lang="hu-HU" dirty="0" smtClean="0"/>
              <a:t>a vektorok dimenzióját </a:t>
            </a:r>
            <a:r>
              <a:rPr lang="hu-HU" dirty="0"/>
              <a:t>egy kisebb számra</a:t>
            </a:r>
            <a:r>
              <a:rPr lang="hu-HU" dirty="0" smtClean="0"/>
              <a:t>.</a:t>
            </a:r>
            <a:endParaRPr lang="hu-HU" dirty="0"/>
          </a:p>
          <a:p>
            <a:pPr lvl="1"/>
            <a:r>
              <a:rPr lang="hu-HU" dirty="0" smtClean="0"/>
              <a:t>A kiinduló mátri</a:t>
            </a:r>
            <a:r>
              <a:rPr lang="hu-HU" dirty="0" smtClean="0"/>
              <a:t>xot közelítő alacsonyabb rangú mátrix előállítására jól használható egy latens szemantikus elemzés (</a:t>
            </a:r>
            <a:r>
              <a:rPr lang="hu-HU" dirty="0" err="1" smtClean="0"/>
              <a:t>latent</a:t>
            </a:r>
            <a:r>
              <a:rPr lang="hu-HU" dirty="0" smtClean="0"/>
              <a:t> </a:t>
            </a:r>
            <a:r>
              <a:rPr lang="hu-HU" dirty="0" err="1" smtClean="0"/>
              <a:t>semantic</a:t>
            </a:r>
            <a:r>
              <a:rPr lang="hu-HU" dirty="0" smtClean="0"/>
              <a:t> </a:t>
            </a:r>
            <a:r>
              <a:rPr lang="hu-HU" dirty="0" err="1" smtClean="0"/>
              <a:t>analysis</a:t>
            </a:r>
            <a:r>
              <a:rPr lang="hu-HU" dirty="0" smtClean="0"/>
              <a:t>, </a:t>
            </a:r>
            <a:r>
              <a:rPr lang="hu-HU" dirty="0" err="1" smtClean="0"/>
              <a:t>LSA</a:t>
            </a:r>
            <a:r>
              <a:rPr lang="hu-HU" dirty="0" smtClean="0"/>
              <a:t>) nevű módszer.</a:t>
            </a:r>
          </a:p>
          <a:p>
            <a:pPr lvl="2"/>
            <a:r>
              <a:rPr lang="hu-HU" dirty="0" smtClean="0"/>
              <a:t>Eredetileg az </a:t>
            </a:r>
            <a:r>
              <a:rPr lang="hu-HU" dirty="0" err="1" smtClean="0"/>
              <a:t>LSA-t</a:t>
            </a:r>
            <a:r>
              <a:rPr lang="hu-HU" dirty="0" smtClean="0"/>
              <a:t> elsősorban nem szavak egymás környezetében való előfordulását leíró mátrix dimenziócsökkentésére használták, hanem az </a:t>
            </a:r>
            <a:r>
              <a:rPr lang="hu-HU" dirty="0" err="1" smtClean="0"/>
              <a:t>information</a:t>
            </a:r>
            <a:r>
              <a:rPr lang="hu-HU" dirty="0" smtClean="0"/>
              <a:t> </a:t>
            </a:r>
            <a:r>
              <a:rPr lang="hu-HU" dirty="0" err="1" smtClean="0"/>
              <a:t>retrieval</a:t>
            </a:r>
            <a:r>
              <a:rPr lang="hu-HU" dirty="0" smtClean="0"/>
              <a:t> területén ún. szó-dokumentum mátrixokra. Ezek azt írják le, hogy az egyes szavak hányszor fordulnak elő az egyes dokumentumokban. A cél olyan, a dokumentumot összefoglaló szemantikai vektorreprezentáció készítése volt, amely</a:t>
            </a:r>
            <a:r>
              <a:rPr lang="hu-HU" dirty="0"/>
              <a:t> </a:t>
            </a:r>
            <a:r>
              <a:rPr lang="hu-HU" dirty="0" smtClean="0"/>
              <a:t>a dokumentum visszakeresését segíti. Ezt az alkalmazást latens szemantikus indexelésnek (</a:t>
            </a:r>
            <a:r>
              <a:rPr lang="hu-HU" dirty="0" err="1" smtClean="0"/>
              <a:t>LSI</a:t>
            </a:r>
            <a:r>
              <a:rPr lang="hu-HU" dirty="0" smtClean="0"/>
              <a:t>) nevezik.</a:t>
            </a:r>
            <a:endParaRPr lang="hu-HU" dirty="0" smtClean="0"/>
          </a:p>
          <a:p>
            <a:pPr lvl="1"/>
            <a:r>
              <a:rPr lang="hu-HU" dirty="0" smtClean="0"/>
              <a:t>Ez </a:t>
            </a:r>
            <a:r>
              <a:rPr lang="hu-HU" dirty="0"/>
              <a:t>a szám tipikusan 100 és 1000 között van, ez a bevált gyakorlat.</a:t>
            </a:r>
          </a:p>
          <a:p>
            <a:pPr lvl="1"/>
            <a:r>
              <a:rPr lang="hu-HU" dirty="0"/>
              <a:t>Egyfajta információtömörítés, a kapott vektorok lényegében ugyanazokat az információkat tartalmazzák, mint a magasabb </a:t>
            </a:r>
            <a:r>
              <a:rPr lang="hu-HU" dirty="0" err="1"/>
              <a:t>dimenzionalitásúak</a:t>
            </a:r>
            <a:r>
              <a:rPr lang="hu-HU" dirty="0" smtClean="0"/>
              <a:t>.</a:t>
            </a:r>
          </a:p>
          <a:p>
            <a:pPr lvl="2"/>
            <a:r>
              <a:rPr lang="hu-HU" dirty="0" smtClean="0"/>
              <a:t>A hasonló jelentésű szavak továbbra is egymás közelében helyezkednek el a </a:t>
            </a:r>
            <a:r>
              <a:rPr lang="hu-HU" dirty="0" smtClean="0"/>
              <a:t>vektortérben</a:t>
            </a:r>
            <a:r>
              <a:rPr lang="hu-HU" dirty="0" smtClean="0"/>
              <a:t>.</a:t>
            </a:r>
          </a:p>
          <a:p>
            <a:pPr lvl="1"/>
            <a:r>
              <a:rPr lang="hu-HU" dirty="0"/>
              <a:t>A disztribúcióra vonatkozó információ </a:t>
            </a:r>
            <a:r>
              <a:rPr lang="hu-HU" b="1" dirty="0"/>
              <a:t>szétosztottan</a:t>
            </a:r>
            <a:r>
              <a:rPr lang="hu-HU" dirty="0"/>
              <a:t>, nem lokálisan jelenik meg </a:t>
            </a:r>
            <a:r>
              <a:rPr lang="hu-HU" dirty="0" smtClean="0"/>
              <a:t>bennük.</a:t>
            </a:r>
          </a:p>
          <a:p>
            <a:pPr lvl="2"/>
            <a:r>
              <a:rPr lang="hu-HU" dirty="0" smtClean="0"/>
              <a:t>Például az a tény, hogy az </a:t>
            </a:r>
            <a:r>
              <a:rPr lang="hu-HU" i="1" dirty="0" smtClean="0"/>
              <a:t>ablak </a:t>
            </a:r>
            <a:r>
              <a:rPr lang="hu-HU" dirty="0" smtClean="0"/>
              <a:t>és a </a:t>
            </a:r>
            <a:r>
              <a:rPr lang="hu-HU" i="1" dirty="0" smtClean="0"/>
              <a:t>kinyit </a:t>
            </a:r>
            <a:r>
              <a:rPr lang="hu-HU" dirty="0" smtClean="0"/>
              <a:t>gyakran előfordul együtt, továbbra is benne van az </a:t>
            </a:r>
            <a:r>
              <a:rPr lang="hu-HU" i="1" dirty="0" smtClean="0"/>
              <a:t>ablak </a:t>
            </a:r>
            <a:r>
              <a:rPr lang="hu-HU" dirty="0" smtClean="0"/>
              <a:t>vektorában, de nem egy jegy értékében fejeződik ki, hanem több jegyérték valamilyen mintázatában.</a:t>
            </a:r>
          </a:p>
          <a:p>
            <a:pPr lvl="2"/>
            <a:r>
              <a:rPr lang="hu-HU" dirty="0" smtClean="0"/>
              <a:t>A jegyértékek egyenként önmagukban semmilyen jelentést nem hordoznak.</a:t>
            </a:r>
          </a:p>
          <a:p>
            <a:pPr lvl="2"/>
            <a:r>
              <a:rPr lang="hu-HU" dirty="0" smtClean="0"/>
              <a:t>Emberek számára ezek nem értelmezhetőek, de géppel számolni tudunk közöttük </a:t>
            </a:r>
            <a:r>
              <a:rPr lang="hu-HU" dirty="0" smtClean="0"/>
              <a:t>hasonlóságokat</a:t>
            </a:r>
            <a:r>
              <a:rPr lang="hu-HU" dirty="0" smtClean="0"/>
              <a:t>. </a:t>
            </a:r>
            <a:endParaRPr lang="hu-HU" dirty="0" smtClean="0"/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829768"/>
              </p:ext>
            </p:extLst>
          </p:nvPr>
        </p:nvGraphicFramePr>
        <p:xfrm>
          <a:off x="1691680" y="5301208"/>
          <a:ext cx="6095997" cy="1440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7333"/>
                <a:gridCol w="677333"/>
                <a:gridCol w="1021598"/>
                <a:gridCol w="333068"/>
                <a:gridCol w="891068"/>
                <a:gridCol w="360040"/>
                <a:gridCol w="780891"/>
                <a:gridCol w="299229"/>
                <a:gridCol w="1055437"/>
              </a:tblGrid>
              <a:tr h="370840">
                <a:tc>
                  <a:txBody>
                    <a:bodyPr/>
                    <a:lstStyle/>
                    <a:p>
                      <a:endParaRPr lang="hu-HU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1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2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28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73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100</a:t>
                      </a:r>
                      <a:endParaRPr lang="hu-H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ablak</a:t>
                      </a:r>
                      <a:endParaRPr lang="hu-HU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2,13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-0,52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1,31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3,86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0,51</a:t>
                      </a:r>
                      <a:endParaRPr lang="hu-H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</a:tr>
              <a:tr h="327640"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zsiráf</a:t>
                      </a:r>
                      <a:endParaRPr lang="hu-HU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-3,82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-0,36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4,81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1,17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-2,57</a:t>
                      </a:r>
                      <a:endParaRPr lang="hu-HU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276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Történeti áttekintés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u-HU" dirty="0"/>
              <a:t>Klasszikus nyelvészeti </a:t>
            </a:r>
            <a:r>
              <a:rPr lang="hu-HU" dirty="0" smtClean="0"/>
              <a:t>strukturalizmus</a:t>
            </a:r>
            <a:endParaRPr lang="hu-HU" dirty="0"/>
          </a:p>
          <a:p>
            <a:pPr lvl="1"/>
            <a:r>
              <a:rPr lang="hu-HU" dirty="0" smtClean="0"/>
              <a:t>A </a:t>
            </a:r>
            <a:r>
              <a:rPr lang="hu-HU" dirty="0" err="1" smtClean="0"/>
              <a:t>DH-hez</a:t>
            </a:r>
            <a:r>
              <a:rPr lang="hu-HU" dirty="0" smtClean="0"/>
              <a:t> nagyon hasonló gondolatokat </a:t>
            </a:r>
            <a:r>
              <a:rPr lang="hu-HU" dirty="0"/>
              <a:t>fogalmazott meg </a:t>
            </a:r>
            <a:r>
              <a:rPr lang="hu-HU" dirty="0" smtClean="0"/>
              <a:t>az 50-es években J.R. </a:t>
            </a:r>
            <a:r>
              <a:rPr lang="hu-HU" dirty="0" err="1" smtClean="0"/>
              <a:t>Firth</a:t>
            </a:r>
            <a:r>
              <a:rPr lang="hu-HU" dirty="0" smtClean="0"/>
              <a:t> és </a:t>
            </a:r>
            <a:r>
              <a:rPr lang="hu-HU" dirty="0" err="1" smtClean="0"/>
              <a:t>Zellig</a:t>
            </a:r>
            <a:r>
              <a:rPr lang="hu-HU" dirty="0" smtClean="0"/>
              <a:t> Harris.</a:t>
            </a:r>
          </a:p>
          <a:p>
            <a:pPr lvl="1"/>
            <a:r>
              <a:rPr lang="hu-HU" dirty="0" smtClean="0"/>
              <a:t>A disztribúciós nyelvleírásnak csak az ötletét vetették fel, konkrét reprezentációs formátumot és módszert nem tettek mögé.</a:t>
            </a:r>
          </a:p>
          <a:p>
            <a:pPr lvl="1"/>
            <a:r>
              <a:rPr lang="hu-HU" dirty="0" smtClean="0"/>
              <a:t>Ennek elsősorban technikai oka volt:</a:t>
            </a:r>
          </a:p>
          <a:p>
            <a:pPr lvl="2"/>
            <a:r>
              <a:rPr lang="hu-HU" dirty="0" smtClean="0"/>
              <a:t>Megfelelő méretű korpuszok hiánya</a:t>
            </a:r>
          </a:p>
          <a:p>
            <a:pPr lvl="2"/>
            <a:r>
              <a:rPr lang="hu-HU" dirty="0" smtClean="0"/>
              <a:t>A szükséges feldolgozási kapacitást biztosító számítógépes hardver hiánya</a:t>
            </a:r>
          </a:p>
          <a:p>
            <a:pPr lvl="1"/>
            <a:r>
              <a:rPr lang="hu-HU" dirty="0" smtClean="0"/>
              <a:t>Így a téma csak a 80-as, 90-es években került napirendre.</a:t>
            </a:r>
          </a:p>
          <a:p>
            <a:pPr lvl="2"/>
            <a:r>
              <a:rPr lang="hu-HU" dirty="0" smtClean="0"/>
              <a:t>A PDP csoport egy nevezetes kísérletében jelentek meg először automatikusan tanult szétosztott szemantikai reprezentációk.</a:t>
            </a:r>
          </a:p>
          <a:p>
            <a:pPr lvl="2"/>
            <a:r>
              <a:rPr lang="hu-HU" dirty="0" smtClean="0"/>
              <a:t>A latens szemantikus elemzés nevű nyelvtechnológiai módszer volt az első komoly, működő, valóban disztribúciós szemantikai eljárás.</a:t>
            </a:r>
          </a:p>
        </p:txBody>
      </p:sp>
    </p:spTree>
    <p:extLst>
      <p:ext uri="{BB962C8B-B14F-4D97-AF65-F5344CB8AC3E}">
        <p14:creationId xmlns:p14="http://schemas.microsoft.com/office/powerpoint/2010/main" val="2674715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Történeti áttekintés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sz="3600" dirty="0" smtClean="0"/>
              <a:t>Kb. 2010-ig nem sok érdekes történt</a:t>
            </a:r>
          </a:p>
          <a:p>
            <a:r>
              <a:rPr lang="hu-HU" sz="3600" dirty="0" smtClean="0"/>
              <a:t>Az évtized közepén a </a:t>
            </a:r>
            <a:r>
              <a:rPr lang="hu-HU" sz="3600" dirty="0" smtClean="0"/>
              <a:t>disztribúciós reprezentációk nagyon népszerűek lettek a nyelvtechnológiában</a:t>
            </a:r>
          </a:p>
          <a:p>
            <a:r>
              <a:rPr lang="hu-HU" sz="3600" dirty="0" smtClean="0"/>
              <a:t>Nem szemantikai </a:t>
            </a:r>
            <a:r>
              <a:rPr lang="hu-HU" sz="3600" dirty="0" smtClean="0"/>
              <a:t>elméletnek vagy </a:t>
            </a:r>
            <a:r>
              <a:rPr lang="hu-HU" sz="3600" dirty="0" smtClean="0"/>
              <a:t>leírásnak </a:t>
            </a:r>
            <a:r>
              <a:rPr lang="hu-HU" sz="3600" dirty="0" smtClean="0"/>
              <a:t>szánták ezeket.</a:t>
            </a:r>
            <a:r>
              <a:rPr lang="hu-HU" sz="3600" dirty="0"/>
              <a:t> </a:t>
            </a:r>
            <a:r>
              <a:rPr lang="hu-HU" sz="3600" dirty="0" smtClean="0"/>
              <a:t>A </a:t>
            </a:r>
            <a:r>
              <a:rPr lang="hu-HU" sz="3600" dirty="0" smtClean="0"/>
              <a:t>nyelvi kifejezések numerikus reprezentációjának problémájára kerestek megoldást:</a:t>
            </a:r>
          </a:p>
          <a:p>
            <a:pPr lvl="1"/>
            <a:r>
              <a:rPr lang="hu-HU" sz="2900" dirty="0"/>
              <a:t>M</a:t>
            </a:r>
            <a:r>
              <a:rPr lang="hu-HU" sz="2900" dirty="0" smtClean="0"/>
              <a:t>i </a:t>
            </a:r>
            <a:r>
              <a:rPr lang="hu-HU" sz="2900" dirty="0"/>
              <a:t>a helyes módja </a:t>
            </a:r>
            <a:r>
              <a:rPr lang="hu-HU" sz="2900" dirty="0" smtClean="0"/>
              <a:t>fonémák</a:t>
            </a:r>
            <a:r>
              <a:rPr lang="hu-HU" sz="2900" dirty="0"/>
              <a:t>, </a:t>
            </a:r>
            <a:r>
              <a:rPr lang="hu-HU" sz="2900" dirty="0" smtClean="0"/>
              <a:t>szavak</a:t>
            </a:r>
            <a:r>
              <a:rPr lang="hu-HU" sz="2900" dirty="0"/>
              <a:t>, mondatok, </a:t>
            </a:r>
            <a:r>
              <a:rPr lang="hu-HU" sz="2900" dirty="0" smtClean="0"/>
              <a:t>szövegek stb. számsorozattá alakításának?</a:t>
            </a:r>
          </a:p>
          <a:p>
            <a:pPr lvl="1"/>
            <a:r>
              <a:rPr lang="hu-HU" sz="2900" dirty="0"/>
              <a:t>A számítógépes nyelvészetben és a nyelvtechnológiában </a:t>
            </a:r>
            <a:r>
              <a:rPr lang="hu-HU" sz="2900" dirty="0" smtClean="0"/>
              <a:t>központi kérdés.</a:t>
            </a:r>
            <a:endParaRPr lang="hu-HU" sz="2900" dirty="0"/>
          </a:p>
          <a:p>
            <a:pPr lvl="2"/>
            <a:r>
              <a:rPr lang="hu-HU" dirty="0" smtClean="0"/>
              <a:t>Gépi tanulási módszerek, pl. neurális hálók csak </a:t>
            </a:r>
            <a:r>
              <a:rPr lang="hu-HU" dirty="0" smtClean="0"/>
              <a:t>számokként </a:t>
            </a:r>
            <a:r>
              <a:rPr lang="hu-HU" dirty="0" smtClean="0"/>
              <a:t>reprezentált adatokkal tudnak jól dolgozni.</a:t>
            </a:r>
          </a:p>
          <a:p>
            <a:pPr lvl="2"/>
            <a:r>
              <a:rPr lang="hu-HU" dirty="0" smtClean="0"/>
              <a:t>A szavak mint alapelemek minél jobb reprezentációja a nyelvmodellezésben különösen fontos.</a:t>
            </a:r>
          </a:p>
          <a:p>
            <a:pPr lvl="2"/>
            <a:r>
              <a:rPr lang="hu-HU" dirty="0" smtClean="0"/>
              <a:t>Lehetne ASCII-kódokkal sorozataként ábrázolni egy szót, de ezek a számok nem jelentenek semmit, nem valódi számértékként viselkednek.</a:t>
            </a:r>
          </a:p>
          <a:p>
            <a:pPr lvl="3"/>
            <a:r>
              <a:rPr lang="hu-HU" sz="2200" dirty="0" smtClean="0"/>
              <a:t>a </a:t>
            </a:r>
            <a:r>
              <a:rPr lang="hu-HU" sz="2200" i="1" dirty="0" smtClean="0"/>
              <a:t>b </a:t>
            </a:r>
            <a:r>
              <a:rPr lang="hu-HU" sz="2200" dirty="0" smtClean="0"/>
              <a:t>nem több az </a:t>
            </a:r>
            <a:r>
              <a:rPr lang="hu-HU" sz="2200" i="1" dirty="0" smtClean="0"/>
              <a:t>a</a:t>
            </a:r>
            <a:r>
              <a:rPr lang="hu-HU" sz="2200" dirty="0" smtClean="0"/>
              <a:t>-nál semmilyen értelemben, pedig nagyobb az ASCII-kódértéke</a:t>
            </a:r>
          </a:p>
          <a:p>
            <a:pPr lvl="2"/>
            <a:r>
              <a:rPr lang="hu-HU" dirty="0" smtClean="0"/>
              <a:t>A karaktereket és a szavakat is jobb diszkrét kategorikus változóként reprezentálni.</a:t>
            </a:r>
          </a:p>
          <a:p>
            <a:pPr lvl="3"/>
            <a:r>
              <a:rPr lang="hu-HU" sz="2200" dirty="0" smtClean="0"/>
              <a:t>Tipikus gépi ábrázolás: </a:t>
            </a:r>
            <a:r>
              <a:rPr lang="hu-HU" sz="2200" dirty="0" err="1" smtClean="0"/>
              <a:t>one-hot</a:t>
            </a:r>
            <a:r>
              <a:rPr lang="hu-HU" sz="2200" dirty="0" smtClean="0"/>
              <a:t> vektor</a:t>
            </a:r>
          </a:p>
          <a:p>
            <a:pPr lvl="2"/>
            <a:r>
              <a:rPr lang="hu-HU" dirty="0" smtClean="0"/>
              <a:t>Nem ideális: nem képes megjeleníteni azt a tényt, hogy egy adott szó egyes szavakhoz hasonlóbb, mint más szavakhoz (akár alak, akár jelentés tekintetében)</a:t>
            </a:r>
          </a:p>
          <a:p>
            <a:pPr lvl="3"/>
            <a:r>
              <a:rPr lang="hu-HU" sz="2200" dirty="0" smtClean="0"/>
              <a:t>Minden </a:t>
            </a:r>
            <a:r>
              <a:rPr lang="hu-HU" sz="2200" dirty="0" err="1" smtClean="0"/>
              <a:t>one-hot</a:t>
            </a:r>
            <a:r>
              <a:rPr lang="hu-HU" sz="2200" dirty="0" smtClean="0"/>
              <a:t> vektor minden másik </a:t>
            </a:r>
            <a:r>
              <a:rPr lang="hu-HU" sz="2200" dirty="0" err="1" smtClean="0"/>
              <a:t>one-hot</a:t>
            </a:r>
            <a:r>
              <a:rPr lang="hu-HU" sz="2200" dirty="0" smtClean="0"/>
              <a:t> vektorra szigorúan merőleges</a:t>
            </a:r>
            <a:endParaRPr lang="hu-HU" sz="2200" dirty="0" smtClean="0"/>
          </a:p>
        </p:txBody>
      </p:sp>
    </p:spTree>
    <p:extLst>
      <p:ext uri="{BB962C8B-B14F-4D97-AF65-F5344CB8AC3E}">
        <p14:creationId xmlns:p14="http://schemas.microsoft.com/office/powerpoint/2010/main" val="2837969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Történeti áttekintés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rPr lang="hu-HU" dirty="0"/>
              <a:t>Modern disztribúciós reprezentációk: „szóbeágyazások</a:t>
            </a:r>
            <a:r>
              <a:rPr lang="hu-HU" dirty="0" smtClean="0"/>
              <a:t>”</a:t>
            </a:r>
          </a:p>
          <a:p>
            <a:pPr lvl="1"/>
            <a:r>
              <a:rPr lang="hu-HU" dirty="0" err="1"/>
              <a:t>Tomaš</a:t>
            </a:r>
            <a:r>
              <a:rPr lang="hu-HU" dirty="0"/>
              <a:t> </a:t>
            </a:r>
            <a:r>
              <a:rPr lang="hu-HU" dirty="0" err="1"/>
              <a:t>Mikolov</a:t>
            </a:r>
            <a:r>
              <a:rPr lang="hu-HU" dirty="0"/>
              <a:t> </a:t>
            </a:r>
            <a:r>
              <a:rPr lang="hu-HU" dirty="0" smtClean="0"/>
              <a:t>és </a:t>
            </a:r>
            <a:r>
              <a:rPr lang="hu-HU" dirty="0" err="1" smtClean="0"/>
              <a:t>mtsi</a:t>
            </a:r>
            <a:r>
              <a:rPr lang="hu-HU" dirty="0" smtClean="0"/>
              <a:t> </a:t>
            </a:r>
            <a:r>
              <a:rPr lang="hu-HU" dirty="0" smtClean="0"/>
              <a:t>(a </a:t>
            </a:r>
            <a:r>
              <a:rPr lang="hu-HU" dirty="0" err="1" smtClean="0"/>
              <a:t>Google</a:t>
            </a:r>
            <a:r>
              <a:rPr lang="hu-HU" dirty="0" smtClean="0"/>
              <a:t> kutatói) 2013-ban nagyon </a:t>
            </a:r>
            <a:r>
              <a:rPr lang="hu-HU" dirty="0"/>
              <a:t>gyors, hatékony algoritmust </a:t>
            </a:r>
            <a:r>
              <a:rPr lang="hu-HU" dirty="0" smtClean="0"/>
              <a:t>javasoltak disztribúciós szóvektorok </a:t>
            </a:r>
            <a:r>
              <a:rPr lang="hu-HU" dirty="0" smtClean="0"/>
              <a:t>generálására.</a:t>
            </a:r>
          </a:p>
          <a:p>
            <a:pPr lvl="2"/>
            <a:r>
              <a:rPr lang="hu-HU" dirty="0" smtClean="0"/>
              <a:t>Az </a:t>
            </a:r>
            <a:r>
              <a:rPr lang="hu-HU" dirty="0" err="1" smtClean="0"/>
              <a:t>LSA</a:t>
            </a:r>
            <a:r>
              <a:rPr lang="hu-HU" dirty="0" smtClean="0"/>
              <a:t> mátrixok szorzótényezőkre való felbontásán alapul, ami lassú és költséges, ha nagyon nagy mátrixot bontunk fel</a:t>
            </a:r>
            <a:endParaRPr lang="hu-HU" dirty="0" smtClean="0"/>
          </a:p>
          <a:p>
            <a:pPr lvl="1"/>
            <a:r>
              <a:rPr lang="hu-HU" dirty="0" smtClean="0"/>
              <a:t>A </a:t>
            </a:r>
            <a:r>
              <a:rPr lang="hu-HU" dirty="0" err="1" smtClean="0"/>
              <a:t>Mikolov</a:t>
            </a:r>
            <a:r>
              <a:rPr lang="hu-HU" dirty="0" smtClean="0"/>
              <a:t> csoportja által készített szoftverek (word2vec, </a:t>
            </a:r>
            <a:r>
              <a:rPr lang="hu-HU" dirty="0" err="1" smtClean="0"/>
              <a:t>fastText</a:t>
            </a:r>
            <a:r>
              <a:rPr lang="hu-HU" dirty="0" smtClean="0"/>
              <a:t>) rendkívül </a:t>
            </a:r>
            <a:r>
              <a:rPr lang="hu-HU" dirty="0"/>
              <a:t>népszerűek </a:t>
            </a:r>
            <a:r>
              <a:rPr lang="hu-HU" dirty="0" smtClean="0"/>
              <a:t>lettek a </a:t>
            </a:r>
            <a:r>
              <a:rPr lang="hu-HU" dirty="0"/>
              <a:t>nyelvtechnológiával foglalkozók körében</a:t>
            </a:r>
            <a:r>
              <a:rPr lang="hu-HU" dirty="0" smtClean="0"/>
              <a:t>.</a:t>
            </a:r>
          </a:p>
          <a:p>
            <a:pPr lvl="2"/>
            <a:r>
              <a:rPr lang="hu-HU" dirty="0" smtClean="0"/>
              <a:t>A word2vec programot leíró két 2013-as </a:t>
            </a:r>
            <a:r>
              <a:rPr lang="hu-HU" dirty="0" smtClean="0"/>
              <a:t>publikáció</a:t>
            </a:r>
            <a:r>
              <a:rPr lang="hu-HU" dirty="0" smtClean="0"/>
              <a:t>, </a:t>
            </a:r>
            <a:r>
              <a:rPr lang="hu-HU" dirty="0" smtClean="0">
                <a:hlinkClick r:id="rId2"/>
              </a:rPr>
              <a:t>ez</a:t>
            </a:r>
            <a:r>
              <a:rPr lang="hu-HU" dirty="0" smtClean="0"/>
              <a:t> és </a:t>
            </a:r>
            <a:r>
              <a:rPr lang="hu-HU" dirty="0" smtClean="0">
                <a:hlinkClick r:id="rId3"/>
              </a:rPr>
              <a:t>ez</a:t>
            </a:r>
            <a:r>
              <a:rPr lang="hu-HU" dirty="0" smtClean="0"/>
              <a:t>, egyenként több mint 50 000 cikk által lett idézve a </a:t>
            </a:r>
            <a:r>
              <a:rPr lang="hu-HU" dirty="0" err="1" smtClean="0"/>
              <a:t>Google</a:t>
            </a:r>
            <a:r>
              <a:rPr lang="hu-HU" dirty="0" smtClean="0"/>
              <a:t> </a:t>
            </a:r>
            <a:r>
              <a:rPr lang="hu-HU" dirty="0" err="1" smtClean="0"/>
              <a:t>Scholar</a:t>
            </a:r>
            <a:r>
              <a:rPr lang="hu-HU" dirty="0"/>
              <a:t> </a:t>
            </a:r>
            <a:r>
              <a:rPr lang="hu-HU" dirty="0" smtClean="0"/>
              <a:t>szerint.</a:t>
            </a:r>
            <a:endParaRPr lang="hu-HU" dirty="0" smtClean="0"/>
          </a:p>
          <a:p>
            <a:pPr lvl="1"/>
            <a:r>
              <a:rPr lang="hu-HU" dirty="0" smtClean="0"/>
              <a:t>2019 </a:t>
            </a:r>
            <a:r>
              <a:rPr lang="hu-HU" dirty="0"/>
              <a:t>óta </a:t>
            </a:r>
            <a:r>
              <a:rPr lang="hu-HU" dirty="0" smtClean="0"/>
              <a:t>ezeket egy újabb módszer váltotta fel: </a:t>
            </a:r>
            <a:r>
              <a:rPr lang="hu-HU" dirty="0" smtClean="0"/>
              <a:t>„</a:t>
            </a:r>
            <a:r>
              <a:rPr lang="hu-HU" dirty="0" err="1"/>
              <a:t>kontextualizált</a:t>
            </a:r>
            <a:r>
              <a:rPr lang="hu-HU" dirty="0"/>
              <a:t> </a:t>
            </a:r>
            <a:r>
              <a:rPr lang="hu-HU" dirty="0" smtClean="0"/>
              <a:t>szóbeágyazások”</a:t>
            </a:r>
          </a:p>
          <a:p>
            <a:pPr lvl="2"/>
            <a:r>
              <a:rPr lang="hu-HU" dirty="0" smtClean="0"/>
              <a:t>Nem </a:t>
            </a:r>
            <a:r>
              <a:rPr lang="hu-HU" dirty="0" err="1"/>
              <a:t>lexémákat</a:t>
            </a:r>
            <a:r>
              <a:rPr lang="hu-HU" dirty="0"/>
              <a:t> vagy szóalakokat </a:t>
            </a:r>
            <a:r>
              <a:rPr lang="hu-HU" dirty="0" smtClean="0"/>
              <a:t>reprezentál vektorként, </a:t>
            </a:r>
            <a:r>
              <a:rPr lang="hu-HU" dirty="0" smtClean="0"/>
              <a:t>hanem </a:t>
            </a:r>
            <a:r>
              <a:rPr lang="hu-HU" dirty="0"/>
              <a:t>konkrét szóelőfordulásokat</a:t>
            </a:r>
            <a:r>
              <a:rPr lang="hu-HU" dirty="0" smtClean="0"/>
              <a:t>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19141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Mit tud a disztribúciós szemantika?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hu-HU" sz="1600" dirty="0" smtClean="0"/>
              <a:t>A </a:t>
            </a:r>
            <a:r>
              <a:rPr lang="hu-HU" sz="1600" b="1" dirty="0" smtClean="0"/>
              <a:t>szóvektorok </a:t>
            </a:r>
            <a:r>
              <a:rPr lang="hu-HU" sz="1600" b="1" dirty="0" err="1" smtClean="0"/>
              <a:t>koszinuszhasonlósága</a:t>
            </a:r>
            <a:r>
              <a:rPr lang="hu-HU" sz="1600" b="1" dirty="0" smtClean="0"/>
              <a:t> alapján </a:t>
            </a:r>
            <a:r>
              <a:rPr lang="hu-HU" sz="1600" dirty="0" smtClean="0"/>
              <a:t>meg tudja mondani, hogy </a:t>
            </a:r>
            <a:r>
              <a:rPr lang="hu-HU" sz="1600" i="1" dirty="0" smtClean="0"/>
              <a:t>a </a:t>
            </a:r>
            <a:r>
              <a:rPr lang="hu-HU" sz="1600" dirty="0"/>
              <a:t>szó és </a:t>
            </a:r>
            <a:r>
              <a:rPr lang="hu-HU" sz="1600" i="1" dirty="0"/>
              <a:t>b </a:t>
            </a:r>
            <a:r>
              <a:rPr lang="hu-HU" sz="1600" dirty="0"/>
              <a:t>szó disztribúciója (= jelentése) </a:t>
            </a:r>
            <a:r>
              <a:rPr lang="hu-HU" sz="1600" b="1" dirty="0"/>
              <a:t>jobban hasonlít-e</a:t>
            </a:r>
            <a:r>
              <a:rPr lang="hu-HU" sz="1600" dirty="0"/>
              <a:t> egymáshoz, mint </a:t>
            </a:r>
            <a:r>
              <a:rPr lang="hu-HU" sz="1600" i="1" dirty="0"/>
              <a:t>a </a:t>
            </a:r>
            <a:r>
              <a:rPr lang="hu-HU" sz="1600" dirty="0"/>
              <a:t>és </a:t>
            </a:r>
            <a:r>
              <a:rPr lang="hu-HU" sz="1600" i="1" dirty="0"/>
              <a:t>c </a:t>
            </a:r>
            <a:r>
              <a:rPr lang="hu-HU" sz="1600" dirty="0"/>
              <a:t>szóé.</a:t>
            </a:r>
          </a:p>
          <a:p>
            <a:pPr lvl="1"/>
            <a:r>
              <a:rPr lang="hu-HU" sz="1400" dirty="0" smtClean="0"/>
              <a:t>Nem tudja </a:t>
            </a:r>
            <a:r>
              <a:rPr lang="hu-HU" sz="1400" dirty="0"/>
              <a:t>megmondani, hogy </a:t>
            </a:r>
            <a:r>
              <a:rPr lang="hu-HU" sz="1400" b="1" dirty="0"/>
              <a:t>miben </a:t>
            </a:r>
            <a:r>
              <a:rPr lang="hu-HU" sz="1400" dirty="0"/>
              <a:t>hasonlítanak </a:t>
            </a:r>
            <a:r>
              <a:rPr lang="hu-HU" sz="1400" dirty="0" smtClean="0"/>
              <a:t>/ különböznek (a szétosztott </a:t>
            </a:r>
            <a:r>
              <a:rPr lang="hu-HU" sz="1400" dirty="0"/>
              <a:t>reprezentáció </a:t>
            </a:r>
            <a:r>
              <a:rPr lang="hu-HU" sz="1400" dirty="0" smtClean="0"/>
              <a:t>miatt)</a:t>
            </a:r>
          </a:p>
          <a:p>
            <a:pPr lvl="1"/>
            <a:r>
              <a:rPr lang="hu-HU" sz="1400" dirty="0"/>
              <a:t>S</a:t>
            </a:r>
            <a:r>
              <a:rPr lang="hu-HU" sz="1400" dirty="0" smtClean="0"/>
              <a:t>em </a:t>
            </a:r>
            <a:r>
              <a:rPr lang="hu-HU" sz="1400" dirty="0"/>
              <a:t>azt, hogy </a:t>
            </a:r>
            <a:r>
              <a:rPr lang="hu-HU" sz="1400" i="1" dirty="0"/>
              <a:t>a </a:t>
            </a:r>
            <a:r>
              <a:rPr lang="hu-HU" sz="1400" dirty="0"/>
              <a:t>és </a:t>
            </a:r>
            <a:r>
              <a:rPr lang="hu-HU" sz="1400" i="1" dirty="0"/>
              <a:t>b </a:t>
            </a:r>
            <a:r>
              <a:rPr lang="hu-HU" sz="1400" dirty="0"/>
              <a:t>közötti hasonlóság </a:t>
            </a:r>
            <a:r>
              <a:rPr lang="hu-HU" sz="1400" b="1" dirty="0"/>
              <a:t>abszolút </a:t>
            </a:r>
            <a:r>
              <a:rPr lang="hu-HU" sz="1400" dirty="0"/>
              <a:t>értelemben nagy-e vagy kicsi</a:t>
            </a:r>
            <a:r>
              <a:rPr lang="hu-HU" sz="1400" dirty="0" smtClean="0"/>
              <a:t>.</a:t>
            </a:r>
          </a:p>
          <a:p>
            <a:pPr lvl="1"/>
            <a:r>
              <a:rPr lang="hu-HU" sz="1400" dirty="0" smtClean="0"/>
              <a:t>Párhuzam a prototípuselmélettel: graduális és relatív hasonlóságok alapján történő fogalmi </a:t>
            </a:r>
            <a:r>
              <a:rPr lang="hu-HU" sz="1400" dirty="0" err="1" smtClean="0"/>
              <a:t>kategorizáció</a:t>
            </a:r>
            <a:r>
              <a:rPr lang="hu-HU" sz="1400" dirty="0" smtClean="0"/>
              <a:t> – nagyon hasonló nyelv- és </a:t>
            </a:r>
            <a:r>
              <a:rPr lang="hu-HU" sz="1400" dirty="0" err="1" smtClean="0"/>
              <a:t>szemantikaszemlélet</a:t>
            </a:r>
            <a:endParaRPr lang="hu-HU" sz="1400" dirty="0" smtClean="0"/>
          </a:p>
          <a:p>
            <a:r>
              <a:rPr lang="hu-HU" sz="1600" dirty="0" smtClean="0"/>
              <a:t>Hagyományosan úgy gondolták, hogy ezek a hasonlóságok megfelelnek a nyelvpszichológiai </a:t>
            </a:r>
            <a:r>
              <a:rPr lang="hu-HU" sz="1600" b="1" dirty="0" smtClean="0"/>
              <a:t>szóasszociációs</a:t>
            </a:r>
            <a:r>
              <a:rPr lang="hu-HU" sz="1600" dirty="0" smtClean="0"/>
              <a:t> kísérletekben (vö. </a:t>
            </a:r>
            <a:r>
              <a:rPr lang="hu-HU" sz="1600" dirty="0" err="1" smtClean="0"/>
              <a:t>Quillian</a:t>
            </a:r>
            <a:r>
              <a:rPr lang="hu-HU" sz="1600" dirty="0" smtClean="0"/>
              <a:t>, szemantikus hálók) megfigyelt </a:t>
            </a:r>
            <a:r>
              <a:rPr lang="hu-HU" sz="1600" dirty="0" smtClean="0"/>
              <a:t>társításoknak</a:t>
            </a:r>
          </a:p>
          <a:p>
            <a:pPr lvl="1"/>
            <a:r>
              <a:rPr lang="hu-HU" sz="1400" dirty="0" smtClean="0"/>
              <a:t>a </a:t>
            </a:r>
            <a:r>
              <a:rPr lang="hu-HU" sz="1400" dirty="0" err="1" smtClean="0"/>
              <a:t>DSz</a:t>
            </a:r>
            <a:r>
              <a:rPr lang="hu-HU" sz="1400" dirty="0" smtClean="0"/>
              <a:t> ezeket modellezi.</a:t>
            </a:r>
          </a:p>
          <a:p>
            <a:r>
              <a:rPr lang="hu-HU" sz="1600" dirty="0" err="1" smtClean="0"/>
              <a:t>Mikolov</a:t>
            </a:r>
            <a:r>
              <a:rPr lang="hu-HU" sz="1600" dirty="0" smtClean="0"/>
              <a:t> és </a:t>
            </a:r>
            <a:r>
              <a:rPr lang="hu-HU" sz="1600" dirty="0" err="1" smtClean="0"/>
              <a:t>mtsi</a:t>
            </a:r>
            <a:r>
              <a:rPr lang="hu-HU" sz="1600" dirty="0" smtClean="0"/>
              <a:t> meglepő megfigyelése:</a:t>
            </a:r>
          </a:p>
          <a:p>
            <a:pPr lvl="1"/>
            <a:r>
              <a:rPr lang="hu-HU" sz="1400" dirty="0" smtClean="0"/>
              <a:t>A megfelelő </a:t>
            </a:r>
            <a:r>
              <a:rPr lang="hu-HU" sz="1400" dirty="0"/>
              <a:t>szóvektorok összeadásával és </a:t>
            </a:r>
            <a:r>
              <a:rPr lang="hu-HU" sz="1400" dirty="0" smtClean="0"/>
              <a:t>kivonásával, majd a kapott vektorhoz leghasonlóbb szó kiválasztásával megoldhatók </a:t>
            </a:r>
            <a:r>
              <a:rPr lang="hu-HU" sz="1400" dirty="0"/>
              <a:t>olyan analógiás feladványok, mint pl.</a:t>
            </a:r>
          </a:p>
          <a:p>
            <a:pPr lvl="2"/>
            <a:r>
              <a:rPr lang="hu-HU" sz="1200" dirty="0"/>
              <a:t>férfi – nő :: király – ? (válasz: királynő; </a:t>
            </a:r>
            <a:r>
              <a:rPr lang="hu-HU" sz="1200" u="sng" dirty="0"/>
              <a:t>király</a:t>
            </a:r>
            <a:r>
              <a:rPr lang="hu-HU" sz="1200" dirty="0"/>
              <a:t> – </a:t>
            </a:r>
            <a:r>
              <a:rPr lang="hu-HU" sz="1200" u="sng" dirty="0"/>
              <a:t>férfi</a:t>
            </a:r>
            <a:r>
              <a:rPr lang="hu-HU" sz="1200" dirty="0"/>
              <a:t> + </a:t>
            </a:r>
            <a:r>
              <a:rPr lang="hu-HU" sz="1200" u="sng" dirty="0"/>
              <a:t>nő</a:t>
            </a:r>
            <a:r>
              <a:rPr lang="hu-HU" sz="1200" dirty="0"/>
              <a:t>)</a:t>
            </a:r>
          </a:p>
          <a:p>
            <a:pPr lvl="2"/>
            <a:r>
              <a:rPr lang="hu-HU" sz="1200" dirty="0"/>
              <a:t>Olaszország – pizza :: Németország – ? (válasz: sült kolbász; </a:t>
            </a:r>
            <a:r>
              <a:rPr lang="hu-HU" sz="1200" u="sng" dirty="0"/>
              <a:t>pizza</a:t>
            </a:r>
            <a:r>
              <a:rPr lang="hu-HU" sz="1200" dirty="0"/>
              <a:t> – </a:t>
            </a:r>
            <a:r>
              <a:rPr lang="hu-HU" sz="1200" u="sng" dirty="0"/>
              <a:t>Olaszország</a:t>
            </a:r>
            <a:r>
              <a:rPr lang="hu-HU" sz="1200" dirty="0"/>
              <a:t> + </a:t>
            </a:r>
            <a:r>
              <a:rPr lang="hu-HU" sz="1200" u="sng" dirty="0"/>
              <a:t>Németország</a:t>
            </a:r>
            <a:r>
              <a:rPr lang="hu-HU" sz="1200" dirty="0"/>
              <a:t>)</a:t>
            </a:r>
          </a:p>
          <a:p>
            <a:pPr lvl="2"/>
            <a:r>
              <a:rPr lang="hu-HU" sz="1200" dirty="0" smtClean="0"/>
              <a:t>És nagyon sok további szemantikai reláció: ország – főváros, ország – nyelv, ige – </a:t>
            </a:r>
            <a:r>
              <a:rPr lang="hu-HU" sz="1200" dirty="0" err="1" smtClean="0"/>
              <a:t>nominalizációja</a:t>
            </a:r>
            <a:r>
              <a:rPr lang="hu-HU" sz="1200" dirty="0" smtClean="0"/>
              <a:t>, melléknév – középfoka, stb.</a:t>
            </a:r>
          </a:p>
          <a:p>
            <a:pPr lvl="1"/>
            <a:r>
              <a:rPr lang="hu-HU" sz="1400" dirty="0" smtClean="0"/>
              <a:t>Ezeknek a képleteknek a helyes értelmezése: Keressük azt a szót, amelynek a disztribúciója leginkább hasonlít a </a:t>
            </a:r>
            <a:r>
              <a:rPr lang="hu-HU" sz="1400" i="1" dirty="0" smtClean="0"/>
              <a:t>király </a:t>
            </a:r>
            <a:r>
              <a:rPr lang="hu-HU" sz="1400" dirty="0" smtClean="0"/>
              <a:t>és a </a:t>
            </a:r>
            <a:r>
              <a:rPr lang="hu-HU" sz="1400" i="1" dirty="0" smtClean="0"/>
              <a:t>nő </a:t>
            </a:r>
            <a:r>
              <a:rPr lang="hu-HU" sz="1400" dirty="0" smtClean="0"/>
              <a:t>disztribúciójára, de leginkább eltér a </a:t>
            </a:r>
            <a:r>
              <a:rPr lang="hu-HU" sz="1400" i="1" dirty="0" smtClean="0"/>
              <a:t>férfi </a:t>
            </a:r>
            <a:r>
              <a:rPr lang="hu-HU" sz="1400" dirty="0" smtClean="0"/>
              <a:t>disztribúciójától</a:t>
            </a:r>
          </a:p>
          <a:p>
            <a:pPr lvl="1"/>
            <a:r>
              <a:rPr lang="hu-HU" sz="1400" dirty="0" smtClean="0"/>
              <a:t>Azaz lexikális szemantikai relációkról szóló tények megfogalmazhatók disztribúciós tényekként</a:t>
            </a:r>
            <a:endParaRPr lang="hu-HU" sz="1400" dirty="0"/>
          </a:p>
        </p:txBody>
      </p:sp>
    </p:spTree>
    <p:extLst>
      <p:ext uri="{BB962C8B-B14F-4D97-AF65-F5344CB8AC3E}">
        <p14:creationId xmlns:p14="http://schemas.microsoft.com/office/powerpoint/2010/main" val="417356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Mit tud a disztribúciós szemantika?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hu-HU" sz="1800" dirty="0" smtClean="0"/>
              <a:t>Jelentős előnye, hogy a szókincs egészére könnyedén kinyerhetők automatikus reprezentációk korpuszokból.</a:t>
            </a:r>
          </a:p>
          <a:p>
            <a:r>
              <a:rPr lang="hu-HU" sz="1800" dirty="0" err="1" smtClean="0"/>
              <a:t>Kornai</a:t>
            </a:r>
            <a:r>
              <a:rPr lang="hu-HU" sz="1800" dirty="0" smtClean="0"/>
              <a:t> </a:t>
            </a:r>
            <a:r>
              <a:rPr lang="hu-HU" sz="1800" dirty="0"/>
              <a:t>(</a:t>
            </a:r>
            <a:r>
              <a:rPr lang="hu-HU" sz="1800" dirty="0" smtClean="0"/>
              <a:t>2020) </a:t>
            </a:r>
            <a:r>
              <a:rPr lang="hu-HU" sz="1800" dirty="0"/>
              <a:t>becslése szerint a szójelentések teszik ki a nyelvi megnyilatkozások által hordozott információtartalom legalább 85 </a:t>
            </a:r>
            <a:r>
              <a:rPr lang="hu-HU" sz="1800" dirty="0" smtClean="0"/>
              <a:t>százalékát.</a:t>
            </a:r>
          </a:p>
          <a:p>
            <a:pPr lvl="1"/>
            <a:r>
              <a:rPr lang="hu-HU" sz="1400" dirty="0"/>
              <a:t>E</a:t>
            </a:r>
            <a:r>
              <a:rPr lang="hu-HU" sz="1400" dirty="0" smtClean="0"/>
              <a:t>zekről </a:t>
            </a:r>
            <a:r>
              <a:rPr lang="hu-HU" sz="1400" dirty="0"/>
              <a:t>az </a:t>
            </a:r>
            <a:r>
              <a:rPr lang="hu-HU" sz="1400" dirty="0" err="1"/>
              <a:t>igazságfeltételes</a:t>
            </a:r>
            <a:r>
              <a:rPr lang="hu-HU" sz="1400" dirty="0"/>
              <a:t> szemantika szinte semmit nem </a:t>
            </a:r>
            <a:r>
              <a:rPr lang="hu-HU" sz="1400" dirty="0" smtClean="0"/>
              <a:t>mond</a:t>
            </a:r>
            <a:endParaRPr lang="hu-HU" sz="1400" i="1" dirty="0"/>
          </a:p>
          <a:p>
            <a:r>
              <a:rPr lang="hu-HU" sz="1800" dirty="0" smtClean="0"/>
              <a:t>A nyelvészeti szemantikában a szókincs számottevő részeire senki nem próbált pontosan specifikált szójelentés-reprezentációkat megadni.</a:t>
            </a:r>
          </a:p>
          <a:p>
            <a:r>
              <a:rPr lang="hu-HU" sz="1800" dirty="0" smtClean="0"/>
              <a:t>Egynyelvű </a:t>
            </a:r>
            <a:r>
              <a:rPr lang="hu-HU" sz="1800" dirty="0" smtClean="0"/>
              <a:t>szótárak definíciói járnak a legközelebb ehhez.</a:t>
            </a:r>
          </a:p>
          <a:p>
            <a:pPr lvl="1"/>
            <a:r>
              <a:rPr lang="hu-HU" sz="1400" dirty="0" smtClean="0"/>
              <a:t>Számítógépes nyelvfeldolgozás számára közvetlenül nem </a:t>
            </a:r>
            <a:r>
              <a:rPr lang="hu-HU" sz="1400" dirty="0" smtClean="0"/>
              <a:t>használhatóak.</a:t>
            </a:r>
            <a:endParaRPr lang="hu-HU" sz="1400" dirty="0" smtClean="0"/>
          </a:p>
          <a:p>
            <a:r>
              <a:rPr lang="hu-HU" sz="1800" dirty="0" smtClean="0"/>
              <a:t>Számítógépes nyelvészetben szóadatbázisok, különösen a </a:t>
            </a:r>
            <a:r>
              <a:rPr lang="hu-HU" sz="1800" dirty="0" err="1" smtClean="0"/>
              <a:t>WordNet</a:t>
            </a:r>
            <a:endParaRPr lang="hu-HU" sz="1800" dirty="0" smtClean="0"/>
          </a:p>
          <a:p>
            <a:pPr lvl="1"/>
            <a:r>
              <a:rPr lang="hu-HU" sz="1400" dirty="0" smtClean="0"/>
              <a:t>alapvető lexikális szemantikai relációkat rögzítenek: szinonímia, antonímia, </a:t>
            </a:r>
            <a:r>
              <a:rPr lang="hu-HU" sz="1400" dirty="0" err="1" smtClean="0"/>
              <a:t>hiponímia</a:t>
            </a:r>
            <a:r>
              <a:rPr lang="hu-HU" sz="1400" dirty="0" smtClean="0"/>
              <a:t>.</a:t>
            </a:r>
            <a:endParaRPr lang="hu-HU" sz="1400" dirty="0"/>
          </a:p>
          <a:p>
            <a:pPr lvl="1"/>
            <a:r>
              <a:rPr lang="hu-HU" sz="1400" dirty="0" smtClean="0"/>
              <a:t>Ezek automatikus előállítása, pl. kinyerése szövegekből megoldatlan, nagyon nehéz probléma.</a:t>
            </a:r>
          </a:p>
        </p:txBody>
      </p:sp>
    </p:spTree>
    <p:extLst>
      <p:ext uri="{BB962C8B-B14F-4D97-AF65-F5344CB8AC3E}">
        <p14:creationId xmlns:p14="http://schemas.microsoft.com/office/powerpoint/2010/main" val="823579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Mit nem tud?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smtClean="0"/>
              <a:t>Hiányzik a kapcsolódása a nyelven kívüli valósághoz.</a:t>
            </a:r>
          </a:p>
          <a:p>
            <a:pPr lvl="1"/>
            <a:r>
              <a:rPr lang="hu-HU" dirty="0" smtClean="0"/>
              <a:t>Ez a </a:t>
            </a:r>
            <a:r>
              <a:rPr lang="hu-HU" dirty="0" err="1" smtClean="0"/>
              <a:t>DSz</a:t>
            </a:r>
            <a:r>
              <a:rPr lang="hu-HU" dirty="0" smtClean="0"/>
              <a:t> </a:t>
            </a:r>
            <a:r>
              <a:rPr lang="hu-HU" dirty="0"/>
              <a:t>tapasztalati alapjának (</a:t>
            </a:r>
            <a:r>
              <a:rPr lang="hu-HU" dirty="0" err="1"/>
              <a:t>grounding</a:t>
            </a:r>
            <a:r>
              <a:rPr lang="hu-HU" dirty="0"/>
              <a:t>) problémája</a:t>
            </a:r>
            <a:r>
              <a:rPr lang="hu-HU" dirty="0" smtClean="0"/>
              <a:t>.</a:t>
            </a:r>
          </a:p>
          <a:p>
            <a:r>
              <a:rPr lang="hu-HU" dirty="0" smtClean="0"/>
              <a:t>Ezért az erős </a:t>
            </a:r>
            <a:r>
              <a:rPr lang="hu-HU" dirty="0" err="1" smtClean="0"/>
              <a:t>disztribucionalizmust</a:t>
            </a:r>
            <a:r>
              <a:rPr lang="hu-HU" dirty="0" smtClean="0"/>
              <a:t> a kognitív pszichológusok jelentős része elutasítja:</a:t>
            </a:r>
          </a:p>
          <a:p>
            <a:pPr lvl="1"/>
            <a:r>
              <a:rPr lang="hu-HU" dirty="0" smtClean="0"/>
              <a:t>„[K]</a:t>
            </a:r>
            <a:r>
              <a:rPr lang="hu-HU" dirty="0" err="1" smtClean="0"/>
              <a:t>nowing</a:t>
            </a:r>
            <a:r>
              <a:rPr lang="hu-HU" dirty="0" smtClean="0"/>
              <a:t> </a:t>
            </a:r>
            <a:r>
              <a:rPr lang="hu-HU" dirty="0" err="1" smtClean="0"/>
              <a:t>what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associated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one</a:t>
            </a:r>
            <a:r>
              <a:rPr lang="hu-HU" dirty="0" smtClean="0"/>
              <a:t> </a:t>
            </a:r>
            <a:r>
              <a:rPr lang="hu-HU" dirty="0" err="1" smtClean="0"/>
              <a:t>another</a:t>
            </a:r>
            <a:r>
              <a:rPr lang="hu-HU" dirty="0" smtClean="0"/>
              <a:t> </a:t>
            </a:r>
            <a:r>
              <a:rPr lang="hu-HU" dirty="0" err="1" smtClean="0"/>
              <a:t>does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specify</a:t>
            </a:r>
            <a:r>
              <a:rPr lang="hu-HU" dirty="0" smtClean="0"/>
              <a:t> </a:t>
            </a:r>
            <a:r>
              <a:rPr lang="hu-HU" dirty="0" err="1" smtClean="0"/>
              <a:t>what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meaning</a:t>
            </a:r>
            <a:r>
              <a:rPr lang="hu-HU" dirty="0" smtClean="0"/>
              <a:t> of an </a:t>
            </a:r>
            <a:r>
              <a:rPr lang="hu-HU" dirty="0" err="1" smtClean="0"/>
              <a:t>individual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is. […] </a:t>
            </a:r>
            <a:r>
              <a:rPr lang="hu-HU" dirty="0" err="1" smtClean="0"/>
              <a:t>Words</a:t>
            </a:r>
            <a:r>
              <a:rPr lang="hu-HU" dirty="0" smtClean="0"/>
              <a:t> must be </a:t>
            </a:r>
            <a:r>
              <a:rPr lang="hu-HU" dirty="0" err="1" smtClean="0"/>
              <a:t>connected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our</a:t>
            </a:r>
            <a:r>
              <a:rPr lang="hu-HU" dirty="0" smtClean="0"/>
              <a:t> </a:t>
            </a:r>
            <a:r>
              <a:rPr lang="hu-HU" dirty="0" err="1" smtClean="0"/>
              <a:t>knowledge</a:t>
            </a:r>
            <a:r>
              <a:rPr lang="hu-HU" dirty="0" smtClean="0"/>
              <a:t> of </a:t>
            </a:r>
            <a:r>
              <a:rPr lang="hu-HU" dirty="0" err="1" smtClean="0"/>
              <a:t>things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world</a:t>
            </a:r>
            <a:r>
              <a:rPr lang="hu-HU" dirty="0" smtClean="0"/>
              <a:t>,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just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.” (Murphy 2002: 429)</a:t>
            </a:r>
          </a:p>
          <a:p>
            <a:r>
              <a:rPr lang="hu-HU" dirty="0" smtClean="0"/>
              <a:t>Ugyanakkor:</a:t>
            </a:r>
          </a:p>
          <a:p>
            <a:pPr lvl="1"/>
            <a:r>
              <a:rPr lang="hu-HU" dirty="0" smtClean="0"/>
              <a:t>A </a:t>
            </a:r>
            <a:r>
              <a:rPr lang="hu-HU" dirty="0" err="1" smtClean="0"/>
              <a:t>DSz-i</a:t>
            </a:r>
            <a:r>
              <a:rPr lang="hu-HU" dirty="0" smtClean="0"/>
              <a:t> reprezentációk ténylegesen tartalmaznak nyelvi formában megfogalmazott világtudást, pl. a kutya ugat, harap, gazdája van, stb.</a:t>
            </a:r>
          </a:p>
          <a:p>
            <a:pPr lvl="1"/>
            <a:r>
              <a:rPr lang="hu-HU" dirty="0" smtClean="0"/>
              <a:t>Ha a célszavak kontextusát </a:t>
            </a:r>
            <a:r>
              <a:rPr lang="hu-HU" dirty="0"/>
              <a:t>nem </a:t>
            </a:r>
            <a:r>
              <a:rPr lang="hu-HU" dirty="0" smtClean="0"/>
              <a:t>korlátozzuk nyelvi anyagra, </a:t>
            </a:r>
            <a:r>
              <a:rPr lang="hu-HU" dirty="0"/>
              <a:t>hanem </a:t>
            </a:r>
            <a:r>
              <a:rPr lang="hu-HU" dirty="0" smtClean="0"/>
              <a:t>képeket, hangokat is megengedünk, az így kapott </a:t>
            </a:r>
            <a:r>
              <a:rPr lang="hu-HU" dirty="0" err="1" smtClean="0"/>
              <a:t>multimodális</a:t>
            </a:r>
            <a:r>
              <a:rPr lang="hu-HU" dirty="0" smtClean="0"/>
              <a:t> szemantikai reprezentációk érzékszervi információkat is </a:t>
            </a:r>
            <a:r>
              <a:rPr lang="hu-HU" dirty="0" smtClean="0"/>
              <a:t>képesek kódolni.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401138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Mit nem tud?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u-HU" dirty="0" smtClean="0"/>
              <a:t>Csak olyan kérdésekre tud válaszolni, amelyek </a:t>
            </a:r>
            <a:r>
              <a:rPr lang="hu-HU" b="1" dirty="0" smtClean="0"/>
              <a:t>megfogalmazhatóak</a:t>
            </a:r>
            <a:r>
              <a:rPr lang="hu-HU" dirty="0" smtClean="0"/>
              <a:t> a </a:t>
            </a:r>
            <a:r>
              <a:rPr lang="hu-HU" b="1" dirty="0" smtClean="0"/>
              <a:t>szavak disztribúciójára vonatkozó kérdésekként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De: nem triviális, hogy ez mely kérdésekre igaz, vö. </a:t>
            </a:r>
            <a:r>
              <a:rPr lang="hu-HU" dirty="0" err="1" smtClean="0"/>
              <a:t>Mikolov</a:t>
            </a:r>
            <a:r>
              <a:rPr lang="hu-HU" dirty="0" smtClean="0"/>
              <a:t> analógiás párjai – érdemben fel nem tárt témakör.</a:t>
            </a:r>
          </a:p>
          <a:p>
            <a:pPr lvl="1"/>
            <a:r>
              <a:rPr lang="hu-HU" dirty="0" smtClean="0"/>
              <a:t>Egyes </a:t>
            </a:r>
            <a:r>
              <a:rPr lang="hu-HU" dirty="0"/>
              <a:t>individuumokkal kapcsolatos tudást gyakorlatilag nem reprezentál, illetve legfeljebb az individuumok nevén keresztül.</a:t>
            </a:r>
          </a:p>
          <a:p>
            <a:pPr lvl="1"/>
            <a:r>
              <a:rPr lang="hu-HU" dirty="0"/>
              <a:t>Többjelentésű szavak jelentései nem különülnek el, pl. </a:t>
            </a:r>
            <a:r>
              <a:rPr lang="hu-HU" dirty="0" smtClean="0"/>
              <a:t>a </a:t>
            </a:r>
            <a:r>
              <a:rPr lang="hu-HU" i="1" dirty="0"/>
              <a:t>tábla </a:t>
            </a:r>
            <a:r>
              <a:rPr lang="hu-HU" dirty="0"/>
              <a:t>hasonlít a </a:t>
            </a:r>
            <a:r>
              <a:rPr lang="hu-HU" i="1" dirty="0" err="1"/>
              <a:t>csoki</a:t>
            </a:r>
            <a:r>
              <a:rPr lang="hu-HU" dirty="0" err="1"/>
              <a:t>-hoz</a:t>
            </a:r>
            <a:r>
              <a:rPr lang="hu-HU" dirty="0"/>
              <a:t> és a </a:t>
            </a:r>
            <a:r>
              <a:rPr lang="hu-HU" i="1" dirty="0" err="1"/>
              <a:t>krétá</a:t>
            </a:r>
            <a:r>
              <a:rPr lang="hu-HU" dirty="0" err="1"/>
              <a:t>-hoz</a:t>
            </a:r>
            <a:r>
              <a:rPr lang="hu-HU" dirty="0"/>
              <a:t> is.</a:t>
            </a:r>
          </a:p>
          <a:p>
            <a:pPr lvl="2"/>
            <a:r>
              <a:rPr lang="hu-HU" dirty="0"/>
              <a:t>Nyelvtechnológusok ezt szeretik alapvető hiányosságként beállítani, de nem magától értetődő, hogy ez baj egyáltalán, vö. kognitív szemantika</a:t>
            </a:r>
            <a:r>
              <a:rPr lang="hu-HU" dirty="0" smtClean="0"/>
              <a:t>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1267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Mit nem tud?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/>
              <a:t>Az összetett kifejezések, mondatok jelentésének a szóvektorokból való kompozíciója nyitott kérdés, de </a:t>
            </a:r>
            <a:r>
              <a:rPr lang="hu-HU" dirty="0" smtClean="0"/>
              <a:t>a jelek szerint nincs </a:t>
            </a:r>
            <a:r>
              <a:rPr lang="hu-HU" dirty="0"/>
              <a:t>rá jó megoldás.</a:t>
            </a:r>
          </a:p>
          <a:p>
            <a:pPr lvl="1"/>
            <a:r>
              <a:rPr lang="hu-HU" dirty="0"/>
              <a:t>Össze lehet adni a mondatban szereplő szavak vektorait, ami bizonyos célokra hasznos. Az összegvektor pl. jól megragadja a mondat (szöveg stb.) általános témáját.</a:t>
            </a:r>
          </a:p>
          <a:p>
            <a:pPr lvl="1"/>
            <a:r>
              <a:rPr lang="hu-HU" dirty="0"/>
              <a:t>Ugyanakkor így teljesen figyelmen kívül hagyjuk a szintaktikai </a:t>
            </a:r>
            <a:r>
              <a:rPr lang="hu-HU" dirty="0" smtClean="0"/>
              <a:t>szerkezetet.</a:t>
            </a:r>
          </a:p>
          <a:p>
            <a:pPr lvl="2"/>
            <a:r>
              <a:rPr lang="hu-HU" dirty="0" smtClean="0"/>
              <a:t>A vektorok összeadása kommutatív és asszociatív művelet.</a:t>
            </a:r>
          </a:p>
          <a:p>
            <a:r>
              <a:rPr lang="hu-HU" dirty="0" smtClean="0"/>
              <a:t>Az </a:t>
            </a:r>
            <a:r>
              <a:rPr lang="hu-HU" dirty="0" smtClean="0"/>
              <a:t>igazságfeltételeken alapuló </a:t>
            </a:r>
            <a:r>
              <a:rPr lang="hu-HU" dirty="0" smtClean="0"/>
              <a:t>szemantika, amely a nyelvészeti szemantika uralkodó modellje kb. 50 éve, ezekben </a:t>
            </a:r>
            <a:r>
              <a:rPr lang="hu-HU" dirty="0" smtClean="0"/>
              <a:t>sokkal jobb, </a:t>
            </a:r>
            <a:r>
              <a:rPr lang="hu-HU" dirty="0" smtClean="0"/>
              <a:t>ugyanakkor</a:t>
            </a:r>
            <a:endParaRPr lang="hu-HU" dirty="0"/>
          </a:p>
          <a:p>
            <a:pPr lvl="1"/>
            <a:r>
              <a:rPr lang="hu-HU" dirty="0"/>
              <a:t>kiszámíthatóság szempontjából rendkívül bonyolult, és</a:t>
            </a:r>
          </a:p>
          <a:p>
            <a:pPr lvl="1"/>
            <a:r>
              <a:rPr lang="hu-HU" dirty="0"/>
              <a:t>keveset foglalkozott</a:t>
            </a:r>
          </a:p>
          <a:p>
            <a:pPr lvl="2"/>
            <a:r>
              <a:rPr lang="hu-HU" dirty="0"/>
              <a:t>a szintaxis és a szemantika közötti viszony pontos meghatározásával,</a:t>
            </a:r>
          </a:p>
          <a:p>
            <a:pPr lvl="2"/>
            <a:r>
              <a:rPr lang="hu-HU" dirty="0"/>
              <a:t>a szemantika és a világ közötti viszonnyal (</a:t>
            </a:r>
            <a:r>
              <a:rPr lang="hu-HU" dirty="0" err="1"/>
              <a:t>grounding</a:t>
            </a:r>
            <a:r>
              <a:rPr lang="hu-HU" dirty="0"/>
              <a:t>),</a:t>
            </a:r>
          </a:p>
          <a:p>
            <a:pPr lvl="2"/>
            <a:r>
              <a:rPr lang="hu-HU" dirty="0"/>
              <a:t>a </a:t>
            </a:r>
            <a:r>
              <a:rPr lang="hu-HU" dirty="0" err="1"/>
              <a:t>lexémák</a:t>
            </a:r>
            <a:r>
              <a:rPr lang="hu-HU" dirty="0"/>
              <a:t> </a:t>
            </a:r>
            <a:r>
              <a:rPr lang="hu-HU" dirty="0" smtClean="0"/>
              <a:t>jelentésével,</a:t>
            </a:r>
          </a:p>
          <a:p>
            <a:pPr lvl="1"/>
            <a:r>
              <a:rPr lang="hu-HU" dirty="0" smtClean="0"/>
              <a:t>így kérdéses, hogy mennyivel vagyunk előrébb.</a:t>
            </a:r>
          </a:p>
          <a:p>
            <a:r>
              <a:rPr lang="hu-HU" dirty="0" smtClean="0"/>
              <a:t>A kettő valamilyen kombinációja jó lenne, de az alapvető szemléletbeli különbségek miatt kétséges, hogy megvalósítható-e.</a:t>
            </a:r>
            <a:endParaRPr lang="hu-HU" dirty="0"/>
          </a:p>
          <a:p>
            <a:r>
              <a:rPr lang="hu-HU" dirty="0" smtClean="0"/>
              <a:t>A </a:t>
            </a:r>
            <a:r>
              <a:rPr lang="hu-HU" dirty="0" err="1" smtClean="0"/>
              <a:t>BERT</a:t>
            </a:r>
            <a:r>
              <a:rPr lang="hu-HU" dirty="0" smtClean="0"/>
              <a:t>, </a:t>
            </a:r>
            <a:r>
              <a:rPr lang="hu-HU" dirty="0" err="1" smtClean="0"/>
              <a:t>GPT</a:t>
            </a:r>
            <a:r>
              <a:rPr lang="hu-HU" dirty="0" smtClean="0"/>
              <a:t> és hasonló modellekből vett </a:t>
            </a:r>
            <a:r>
              <a:rPr lang="hu-HU" dirty="0" err="1" smtClean="0"/>
              <a:t>kontextualizált</a:t>
            </a:r>
            <a:r>
              <a:rPr lang="hu-HU" dirty="0" smtClean="0"/>
              <a:t> szóvektorok részleges megoldást jelentenek, mivel ezek legalább a lineáris szórendet képesek megragadni (bár a mondatszerkezetet nem).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305747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Implementáció</a:t>
            </a:r>
            <a:r>
              <a:rPr lang="hu-HU" dirty="0" smtClean="0"/>
              <a:t>: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dirty="0" smtClean="0"/>
              <a:t>Kifejezésmátrix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smtClean="0"/>
              <a:t>Hogyan találhatunk jó vektorábrázolást egy szókészlet összes elemére?</a:t>
            </a:r>
          </a:p>
          <a:p>
            <a:r>
              <a:rPr lang="hu-HU" dirty="0" smtClean="0"/>
              <a:t>Egy lehetőség: szóelőfordulás-számok M mátrixából indulun</a:t>
            </a:r>
            <a:r>
              <a:rPr lang="hu-HU" dirty="0" smtClean="0"/>
              <a:t>k ki</a:t>
            </a:r>
            <a:endParaRPr lang="hu-HU" dirty="0" smtClean="0"/>
          </a:p>
          <a:p>
            <a:pPr lvl="1"/>
            <a:r>
              <a:rPr lang="hu-HU" dirty="0" smtClean="0"/>
              <a:t>ez lehet szó-dokumentum mátrix (mint az </a:t>
            </a:r>
            <a:r>
              <a:rPr lang="hu-HU" dirty="0" err="1" smtClean="0"/>
              <a:t>LSI-ben</a:t>
            </a:r>
            <a:r>
              <a:rPr lang="hu-HU" dirty="0" smtClean="0"/>
              <a:t>) vagy szavak egymás környezetében való előfordulásának számát leíró mátrix</a:t>
            </a:r>
            <a:endParaRPr lang="hu-HU" dirty="0" smtClean="0"/>
          </a:p>
          <a:p>
            <a:pPr lvl="2"/>
            <a:r>
              <a:rPr lang="hu-HU" dirty="0" smtClean="0"/>
              <a:t>M sor (szótár mérete, szóalakok / lemmák száma)</a:t>
            </a:r>
          </a:p>
          <a:p>
            <a:pPr lvl="3"/>
            <a:r>
              <a:rPr lang="hu-HU" dirty="0" smtClean="0"/>
              <a:t>jellemzően, de nem feltétlenül lemmatizáljuk a szavakat, mielőtt megszámoljuk őket</a:t>
            </a:r>
          </a:p>
          <a:p>
            <a:pPr lvl="2"/>
            <a:r>
              <a:rPr lang="hu-HU" dirty="0" smtClean="0"/>
              <a:t>Oszlopok (N) lehetne dokumentumok vagy szavak</a:t>
            </a:r>
          </a:p>
          <a:p>
            <a:pPr lvl="3"/>
            <a:r>
              <a:rPr lang="hu-HU" dirty="0" smtClean="0"/>
              <a:t>mindkét esetben szavak együtt előfordulását írja le; vagy egyazon dokumentumban (durvább), vagy a tárgyszó körül tipikusan balra és jobbra 5 szón belül (finomabb)</a:t>
            </a:r>
          </a:p>
          <a:p>
            <a:pPr lvl="3"/>
            <a:r>
              <a:rPr lang="hu-HU" dirty="0" smtClean="0"/>
              <a:t>ha szavak: </a:t>
            </a:r>
            <a:r>
              <a:rPr lang="hu-HU" dirty="0" smtClean="0"/>
              <a:t>M = N; </a:t>
            </a:r>
            <a:r>
              <a:rPr lang="hu-HU" dirty="0" smtClean="0"/>
              <a:t>ha dokumentumok: nagy korpus</a:t>
            </a:r>
            <a:r>
              <a:rPr lang="hu-HU" dirty="0" smtClean="0"/>
              <a:t>z esetén</a:t>
            </a:r>
            <a:r>
              <a:rPr lang="hu-HU" dirty="0" smtClean="0"/>
              <a:t>, </a:t>
            </a:r>
            <a:r>
              <a:rPr lang="hu-HU" dirty="0" smtClean="0"/>
              <a:t>N &gt;&gt; M</a:t>
            </a:r>
          </a:p>
          <a:p>
            <a:pPr lvl="2"/>
            <a:r>
              <a:rPr lang="hu-HU" dirty="0" smtClean="0"/>
              <a:t>a korpuszban csak egyszer előforduló szavakat gyakran figyelmen kívül hagyjuk</a:t>
            </a:r>
          </a:p>
          <a:p>
            <a:pPr lvl="3"/>
            <a:r>
              <a:rPr lang="hu-HU" dirty="0" smtClean="0"/>
              <a:t>akár azokat is, amelyek </a:t>
            </a:r>
            <a:r>
              <a:rPr lang="hu-HU" i="1" dirty="0" smtClean="0"/>
              <a:t>m</a:t>
            </a:r>
            <a:r>
              <a:rPr lang="hu-HU" dirty="0" smtClean="0"/>
              <a:t>-nél, pl. 10-nél kevesebb kontextusban fordulnak elő</a:t>
            </a:r>
          </a:p>
          <a:p>
            <a:pPr lvl="3"/>
            <a:r>
              <a:rPr lang="hu-HU" dirty="0" err="1" smtClean="0"/>
              <a:t>optionally</a:t>
            </a:r>
            <a:r>
              <a:rPr lang="hu-HU" dirty="0" smtClean="0"/>
              <a:t> </a:t>
            </a:r>
            <a:r>
              <a:rPr lang="hu-HU" dirty="0" err="1" smtClean="0"/>
              <a:t>also</a:t>
            </a:r>
            <a:r>
              <a:rPr lang="hu-HU" dirty="0" smtClean="0"/>
              <a:t> </a:t>
            </a:r>
            <a:r>
              <a:rPr lang="hu-HU" dirty="0" err="1" smtClean="0"/>
              <a:t>those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occur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less </a:t>
            </a:r>
            <a:r>
              <a:rPr lang="hu-HU" dirty="0" err="1"/>
              <a:t>than</a:t>
            </a:r>
            <a:r>
              <a:rPr lang="hu-HU" dirty="0"/>
              <a:t> </a:t>
            </a:r>
            <a:r>
              <a:rPr lang="hu-HU" i="1" dirty="0"/>
              <a:t>m </a:t>
            </a:r>
            <a:r>
              <a:rPr lang="hu-HU" dirty="0" err="1" smtClean="0"/>
              <a:t>contexts</a:t>
            </a:r>
            <a:r>
              <a:rPr lang="hu-HU" dirty="0" smtClean="0"/>
              <a:t>, </a:t>
            </a:r>
            <a:r>
              <a:rPr lang="hu-HU" dirty="0" err="1"/>
              <a:t>e.g</a:t>
            </a:r>
            <a:r>
              <a:rPr lang="hu-HU" dirty="0"/>
              <a:t>. </a:t>
            </a:r>
            <a:r>
              <a:rPr lang="hu-HU" dirty="0" smtClean="0"/>
              <a:t>10</a:t>
            </a:r>
          </a:p>
          <a:p>
            <a:pPr lvl="1"/>
            <a:r>
              <a:rPr lang="hu-HU" dirty="0" smtClean="0"/>
              <a:t>az </a:t>
            </a:r>
            <a:r>
              <a:rPr lang="hu-HU" dirty="0" err="1" smtClean="0"/>
              <a:t>előfordulásszámokat</a:t>
            </a:r>
            <a:r>
              <a:rPr lang="hu-HU" dirty="0" smtClean="0"/>
              <a:t> gyakran, bár nem feltétlenül súlyozzuk</a:t>
            </a:r>
          </a:p>
          <a:p>
            <a:pPr lvl="2"/>
            <a:r>
              <a:rPr lang="hu-HU" dirty="0" smtClean="0"/>
              <a:t>szó-dokumentum mátrixban </a:t>
            </a:r>
            <a:r>
              <a:rPr lang="hu-HU" dirty="0" err="1" smtClean="0"/>
              <a:t>TF-IDF</a:t>
            </a:r>
            <a:r>
              <a:rPr lang="hu-HU" dirty="0" smtClean="0"/>
              <a:t> súlyozás a jellemző</a:t>
            </a:r>
          </a:p>
          <a:p>
            <a:pPr lvl="2"/>
            <a:r>
              <a:rPr lang="hu-HU" dirty="0" smtClean="0"/>
              <a:t>egymá</a:t>
            </a:r>
            <a:r>
              <a:rPr lang="hu-HU" dirty="0" smtClean="0"/>
              <a:t>s környezetében való előfordulást leíró mátrix esetén gyakran az ún. pontonkénti kölcsönös információt (</a:t>
            </a:r>
            <a:r>
              <a:rPr lang="hu-HU" dirty="0" err="1" smtClean="0"/>
              <a:t>pointwise</a:t>
            </a:r>
            <a:r>
              <a:rPr lang="hu-HU" dirty="0" smtClean="0"/>
              <a:t> </a:t>
            </a:r>
            <a:r>
              <a:rPr lang="hu-HU" dirty="0" err="1" smtClean="0"/>
              <a:t>mutual</a:t>
            </a:r>
            <a:r>
              <a:rPr lang="hu-HU" dirty="0" smtClean="0"/>
              <a:t> </a:t>
            </a:r>
            <a:r>
              <a:rPr lang="hu-HU" dirty="0" err="1" smtClean="0"/>
              <a:t>information</a:t>
            </a:r>
            <a:r>
              <a:rPr lang="hu-HU" dirty="0" smtClean="0"/>
              <a:t>) számolják ki, amely az érintett szavak gyakorisága alapján súlyoz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1773117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TF-IDF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 fontScale="55000" lnSpcReduction="20000"/>
          </a:bodyPr>
          <a:lstStyle/>
          <a:p>
            <a:r>
              <a:rPr lang="hu-HU" dirty="0" err="1" smtClean="0"/>
              <a:t>TF-IDF</a:t>
            </a:r>
            <a:r>
              <a:rPr lang="hu-HU" dirty="0" err="1" smtClean="0"/>
              <a:t>-nek</a:t>
            </a:r>
            <a:r>
              <a:rPr lang="hu-HU" dirty="0" smtClean="0"/>
              <a:t> nevezik a dokumentumokban szereplő szavak súlyozásának egy bizonyos módját, amely azt fejezi ki, hogy mennyire jellemző az adott szó az adott dokumentumokra</a:t>
            </a:r>
            <a:r>
              <a:rPr lang="hu-HU" dirty="0" smtClean="0"/>
              <a:t>.</a:t>
            </a:r>
            <a:endParaRPr lang="hu-HU" dirty="0" smtClean="0"/>
          </a:p>
          <a:p>
            <a:pPr lvl="1"/>
            <a:r>
              <a:rPr lang="hu-HU" dirty="0" smtClean="0"/>
              <a:t>kulcsszavak azonosítására, dokumentumok osztályozására, kereséshez való indexelésre és hasonló célokra használható</a:t>
            </a:r>
            <a:endParaRPr lang="hu-HU" dirty="0" smtClean="0"/>
          </a:p>
          <a:p>
            <a:r>
              <a:rPr lang="hu-HU" dirty="0" smtClean="0"/>
              <a:t>Szógyakoriság (</a:t>
            </a:r>
            <a:r>
              <a:rPr lang="hu-HU" dirty="0" err="1" smtClean="0"/>
              <a:t>term</a:t>
            </a:r>
            <a:r>
              <a:rPr lang="hu-HU" dirty="0" smtClean="0"/>
              <a:t> </a:t>
            </a:r>
            <a:r>
              <a:rPr lang="hu-HU" dirty="0" err="1" smtClean="0"/>
              <a:t>frequency</a:t>
            </a:r>
            <a:r>
              <a:rPr lang="hu-HU" dirty="0" smtClean="0"/>
              <a:t>): </a:t>
            </a:r>
            <a:r>
              <a:rPr lang="hu-HU" i="1" dirty="0" smtClean="0"/>
              <a:t>t</a:t>
            </a:r>
            <a:r>
              <a:rPr lang="hu-HU" dirty="0" smtClean="0"/>
              <a:t> előfordulásainak száma </a:t>
            </a:r>
            <a:r>
              <a:rPr lang="hu-HU" i="1" dirty="0" smtClean="0"/>
              <a:t>d </a:t>
            </a:r>
            <a:r>
              <a:rPr lang="hu-HU" dirty="0" smtClean="0"/>
              <a:t>dokumentumban, elosztva a dokumentum|</a:t>
            </a:r>
            <a:r>
              <a:rPr lang="hu-HU" i="1" dirty="0" smtClean="0"/>
              <a:t>d</a:t>
            </a:r>
            <a:r>
              <a:rPr lang="hu-HU" dirty="0" smtClean="0"/>
              <a:t>| </a:t>
            </a:r>
            <a:r>
              <a:rPr lang="hu-HU" dirty="0" smtClean="0"/>
              <a:t>hosszával (</a:t>
            </a:r>
            <a:r>
              <a:rPr lang="hu-HU" dirty="0" err="1" smtClean="0"/>
              <a:t>tokenszámban</a:t>
            </a:r>
            <a:r>
              <a:rPr lang="hu-HU" dirty="0" smtClean="0"/>
              <a:t> kifejezve)</a:t>
            </a:r>
            <a:endParaRPr lang="hu-HU" dirty="0" smtClean="0"/>
          </a:p>
          <a:p>
            <a:pPr lvl="1"/>
            <a:r>
              <a:rPr lang="hu-HU" dirty="0" smtClean="0"/>
              <a:t>Egy dokumentumra jellemző szavak általában többször előfordulnak benne</a:t>
            </a:r>
            <a:endParaRPr lang="hu-HU" dirty="0" smtClean="0"/>
          </a:p>
          <a:p>
            <a:r>
              <a:rPr lang="hu-HU" dirty="0" smtClean="0"/>
              <a:t>Dokumentumgyakoriság (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 smtClean="0"/>
              <a:t>frequency</a:t>
            </a:r>
            <a:r>
              <a:rPr lang="hu-HU" dirty="0" smtClean="0"/>
              <a:t>): azon dokumentumok száma, </a:t>
            </a:r>
            <a:r>
              <a:rPr lang="hu-HU" i="1" dirty="0" err="1" smtClean="0"/>
              <a:t>n</a:t>
            </a:r>
            <a:r>
              <a:rPr lang="hu-HU" i="1" baseline="-25000" dirty="0" err="1" smtClean="0"/>
              <a:t>t</a:t>
            </a:r>
            <a:r>
              <a:rPr lang="hu-HU" dirty="0" smtClean="0"/>
              <a:t>, amelyekben a </a:t>
            </a:r>
            <a:r>
              <a:rPr lang="hu-HU" i="1" dirty="0" smtClean="0"/>
              <a:t>t </a:t>
            </a:r>
            <a:r>
              <a:rPr lang="hu-HU" dirty="0" smtClean="0"/>
              <a:t>szó előfordul, elosztva a dokumentumok |</a:t>
            </a:r>
            <a:r>
              <a:rPr lang="hu-HU" i="1" dirty="0" smtClean="0"/>
              <a:t>D</a:t>
            </a:r>
            <a:r>
              <a:rPr lang="hu-HU" dirty="0" smtClean="0"/>
              <a:t>| </a:t>
            </a:r>
            <a:r>
              <a:rPr lang="hu-HU" dirty="0" smtClean="0"/>
              <a:t>számával (azaz a </a:t>
            </a:r>
            <a:r>
              <a:rPr lang="hu-HU" i="1" dirty="0" smtClean="0"/>
              <a:t>t </a:t>
            </a:r>
            <a:r>
              <a:rPr lang="hu-HU" dirty="0" smtClean="0"/>
              <a:t>szót tartalmazó dokumentumok aránya)</a:t>
            </a:r>
            <a:endParaRPr lang="hu-HU" dirty="0" smtClean="0"/>
          </a:p>
          <a:p>
            <a:pPr lvl="1"/>
            <a:r>
              <a:rPr lang="hu-HU" dirty="0" smtClean="0"/>
              <a:t>Minél kisebb ez az arány, annál jellemzőbb a szó a dokumentumra</a:t>
            </a:r>
          </a:p>
          <a:p>
            <a:pPr lvl="1"/>
            <a:r>
              <a:rPr lang="hu-HU" dirty="0" smtClean="0"/>
              <a:t>A </a:t>
            </a:r>
            <a:r>
              <a:rPr lang="hu-HU" dirty="0" err="1" smtClean="0"/>
              <a:t>reciprokát</a:t>
            </a:r>
            <a:r>
              <a:rPr lang="hu-HU" dirty="0" smtClean="0"/>
              <a:t> használjuk súlyozásra.</a:t>
            </a:r>
            <a:endParaRPr lang="hu-HU" dirty="0" smtClean="0"/>
          </a:p>
          <a:p>
            <a:pPr lvl="1"/>
            <a:r>
              <a:rPr lang="hu-HU" dirty="0" smtClean="0"/>
              <a:t>Ha egy szó sok / minden dokumentumban előfordul, az nem jellemző egyikükre sem.</a:t>
            </a:r>
          </a:p>
          <a:p>
            <a:r>
              <a:rPr lang="hu-HU" dirty="0" smtClean="0"/>
              <a:t>A </a:t>
            </a:r>
            <a:r>
              <a:rPr lang="hu-HU" dirty="0" err="1" smtClean="0"/>
              <a:t>TF-IDF</a:t>
            </a:r>
            <a:r>
              <a:rPr lang="hu-HU" dirty="0" smtClean="0"/>
              <a:t> a szógyakoriságnak és a reciprok dokumentumgyakoriság logaritmusának szorzata</a:t>
            </a:r>
            <a:endParaRPr lang="hu-HU" dirty="0" smtClean="0"/>
          </a:p>
          <a:p>
            <a:r>
              <a:rPr lang="hu-HU" dirty="0" err="1" smtClean="0"/>
              <a:t>tfidf</a:t>
            </a:r>
            <a:r>
              <a:rPr lang="hu-HU" dirty="0" smtClean="0"/>
              <a:t>(</a:t>
            </a:r>
            <a:r>
              <a:rPr lang="hu-HU" i="1" dirty="0" smtClean="0"/>
              <a:t>t</a:t>
            </a:r>
            <a:r>
              <a:rPr lang="hu-HU" dirty="0" smtClean="0"/>
              <a:t>,</a:t>
            </a:r>
            <a:r>
              <a:rPr lang="hu-HU" i="1" dirty="0" smtClean="0"/>
              <a:t>d</a:t>
            </a:r>
            <a:r>
              <a:rPr lang="hu-HU" dirty="0" smtClean="0"/>
              <a:t>,</a:t>
            </a:r>
            <a:r>
              <a:rPr lang="hu-HU" i="1" dirty="0" err="1" smtClean="0"/>
              <a:t>D</a:t>
            </a:r>
            <a:r>
              <a:rPr lang="hu-HU" dirty="0" smtClean="0"/>
              <a:t>) = (</a:t>
            </a:r>
            <a:r>
              <a:rPr lang="hu-HU" i="1" dirty="0" smtClean="0"/>
              <a:t>f</a:t>
            </a:r>
            <a:r>
              <a:rPr lang="hu-HU" dirty="0" smtClean="0"/>
              <a:t>(</a:t>
            </a:r>
            <a:r>
              <a:rPr lang="hu-HU" i="1" dirty="0" smtClean="0"/>
              <a:t>t</a:t>
            </a:r>
            <a:r>
              <a:rPr lang="hu-HU" dirty="0" smtClean="0"/>
              <a:t>,</a:t>
            </a:r>
            <a:r>
              <a:rPr lang="hu-HU" i="1" dirty="0" smtClean="0"/>
              <a:t>d</a:t>
            </a:r>
            <a:r>
              <a:rPr lang="hu-HU" dirty="0" smtClean="0"/>
              <a:t>) / |</a:t>
            </a:r>
            <a:r>
              <a:rPr lang="hu-HU" i="1" dirty="0" err="1" smtClean="0"/>
              <a:t>d</a:t>
            </a:r>
            <a:r>
              <a:rPr lang="hu-HU" dirty="0" smtClean="0"/>
              <a:t>|) (log(|</a:t>
            </a:r>
            <a:r>
              <a:rPr lang="hu-HU" i="1" dirty="0" smtClean="0"/>
              <a:t>D</a:t>
            </a:r>
            <a:r>
              <a:rPr lang="hu-HU" dirty="0" smtClean="0"/>
              <a:t>| / </a:t>
            </a:r>
            <a:r>
              <a:rPr lang="hu-HU" i="1" dirty="0" err="1" smtClean="0"/>
              <a:t>n</a:t>
            </a:r>
            <a:r>
              <a:rPr lang="hu-HU" i="1" baseline="-25000" dirty="0" err="1" smtClean="0"/>
              <a:t>t</a:t>
            </a:r>
            <a:r>
              <a:rPr lang="hu-HU" dirty="0" smtClean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446606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67544" y="3660"/>
            <a:ext cx="8229600" cy="1143000"/>
          </a:xfrm>
        </p:spPr>
        <p:txBody>
          <a:bodyPr>
            <a:normAutofit/>
          </a:bodyPr>
          <a:lstStyle/>
          <a:p>
            <a:r>
              <a:rPr lang="hu-HU" sz="3600" dirty="0" smtClean="0"/>
              <a:t>Implementáció: szinguláris felbontás</a:t>
            </a:r>
            <a:endParaRPr lang="en-GB" sz="36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2980927"/>
          </a:xfrm>
        </p:spPr>
        <p:txBody>
          <a:bodyPr>
            <a:normAutofit fontScale="70000" lnSpcReduction="20000"/>
          </a:bodyPr>
          <a:lstStyle/>
          <a:p>
            <a:r>
              <a:rPr lang="hu-HU" dirty="0" smtClean="0"/>
              <a:t>Ha elkészült a szó-dokumentum vagy szó-szó mátrix, egy szinguláris felbontás nevű lineáris algebrai műveletet alkalmazunk rá</a:t>
            </a:r>
          </a:p>
          <a:p>
            <a:pPr lvl="1"/>
            <a:r>
              <a:rPr lang="hu-HU" sz="2300" dirty="0" err="1" smtClean="0"/>
              <a:t>Manning</a:t>
            </a:r>
            <a:r>
              <a:rPr lang="hu-HU" sz="2300" dirty="0"/>
              <a:t>, </a:t>
            </a:r>
            <a:r>
              <a:rPr lang="hu-HU" sz="2300" dirty="0" err="1"/>
              <a:t>Raghavan</a:t>
            </a:r>
            <a:r>
              <a:rPr lang="hu-HU" sz="2300" dirty="0"/>
              <a:t>, Schütze: </a:t>
            </a:r>
            <a:r>
              <a:rPr lang="hu-HU" sz="2300" i="1" dirty="0" err="1">
                <a:hlinkClick r:id="rId2"/>
              </a:rPr>
              <a:t>Introduction</a:t>
            </a:r>
            <a:r>
              <a:rPr lang="hu-HU" sz="2300" i="1" dirty="0">
                <a:hlinkClick r:id="rId2"/>
              </a:rPr>
              <a:t> </a:t>
            </a:r>
            <a:r>
              <a:rPr lang="hu-HU" sz="2300" i="1" dirty="0" err="1">
                <a:hlinkClick r:id="rId2"/>
              </a:rPr>
              <a:t>to</a:t>
            </a:r>
            <a:r>
              <a:rPr lang="hu-HU" sz="2300" i="1" dirty="0">
                <a:hlinkClick r:id="rId2"/>
              </a:rPr>
              <a:t> </a:t>
            </a:r>
            <a:r>
              <a:rPr lang="hu-HU" sz="2300" i="1" dirty="0" err="1">
                <a:hlinkClick r:id="rId2"/>
              </a:rPr>
              <a:t>Information</a:t>
            </a:r>
            <a:r>
              <a:rPr lang="hu-HU" sz="2300" i="1" dirty="0">
                <a:hlinkClick r:id="rId2"/>
              </a:rPr>
              <a:t> </a:t>
            </a:r>
            <a:r>
              <a:rPr lang="hu-HU" sz="2300" i="1" dirty="0" err="1">
                <a:hlinkClick r:id="rId2"/>
              </a:rPr>
              <a:t>Retrieval</a:t>
            </a:r>
            <a:r>
              <a:rPr lang="hu-HU" sz="2300" dirty="0"/>
              <a:t>, 2008, </a:t>
            </a:r>
            <a:r>
              <a:rPr lang="hu-HU" sz="2300" dirty="0" smtClean="0"/>
              <a:t>18. fejezet</a:t>
            </a:r>
            <a:endParaRPr lang="en-GB" sz="2300" dirty="0"/>
          </a:p>
          <a:p>
            <a:pPr lvl="1"/>
            <a:r>
              <a:rPr lang="hu-HU" dirty="0" smtClean="0"/>
              <a:t>Egy </a:t>
            </a:r>
            <a:r>
              <a:rPr lang="hu-HU" i="1" dirty="0" smtClean="0"/>
              <a:t>C </a:t>
            </a:r>
            <a:r>
              <a:rPr lang="hu-HU" dirty="0" smtClean="0"/>
              <a:t>mátrix </a:t>
            </a:r>
            <a:r>
              <a:rPr lang="hu-HU" i="1" dirty="0" smtClean="0"/>
              <a:t>r </a:t>
            </a:r>
            <a:r>
              <a:rPr lang="hu-HU" dirty="0" smtClean="0"/>
              <a:t>rangja azt fejezi ki, hogy hány független sora vagy oszlopa van, attól függően, hogy melyik a kisebb </a:t>
            </a:r>
            <a:r>
              <a:rPr lang="hu-HU" dirty="0" smtClean="0"/>
              <a:t>(≈ min(</a:t>
            </a:r>
            <a:r>
              <a:rPr lang="hu-HU" i="1" dirty="0" smtClean="0"/>
              <a:t>M, </a:t>
            </a:r>
            <a:r>
              <a:rPr lang="hu-HU" i="1" dirty="0"/>
              <a:t>N</a:t>
            </a:r>
            <a:r>
              <a:rPr lang="hu-HU" dirty="0" smtClean="0"/>
              <a:t>))</a:t>
            </a:r>
          </a:p>
          <a:p>
            <a:pPr lvl="1"/>
            <a:r>
              <a:rPr lang="hu-HU" dirty="0" smtClean="0"/>
              <a:t>Az eredeti mátrixot három mátrixra bontja fel: </a:t>
            </a:r>
            <a:r>
              <a:rPr lang="hu-HU" i="1" dirty="0"/>
              <a:t>C </a:t>
            </a:r>
            <a:r>
              <a:rPr lang="hu-HU" dirty="0"/>
              <a:t>= </a:t>
            </a:r>
            <a:r>
              <a:rPr lang="hu-HU" i="1" dirty="0"/>
              <a:t>U </a:t>
            </a:r>
            <a:r>
              <a:rPr lang="el-GR" dirty="0"/>
              <a:t>Σ</a:t>
            </a:r>
            <a:r>
              <a:rPr lang="hu-HU" dirty="0"/>
              <a:t> </a:t>
            </a:r>
            <a:r>
              <a:rPr lang="hu-HU" i="1" dirty="0"/>
              <a:t>V</a:t>
            </a:r>
            <a:r>
              <a:rPr lang="hu-HU" baseline="30000" dirty="0"/>
              <a:t>T</a:t>
            </a:r>
            <a:endParaRPr lang="hu-HU" dirty="0" smtClean="0"/>
          </a:p>
          <a:p>
            <a:pPr lvl="2"/>
            <a:r>
              <a:rPr lang="el-GR" dirty="0" smtClean="0"/>
              <a:t>Σ</a:t>
            </a:r>
            <a:r>
              <a:rPr lang="hu-HU" dirty="0" smtClean="0"/>
              <a:t> </a:t>
            </a:r>
            <a:r>
              <a:rPr lang="hu-HU" dirty="0" smtClean="0"/>
              <a:t>olyan </a:t>
            </a:r>
            <a:r>
              <a:rPr lang="hu-HU" i="1" dirty="0" smtClean="0"/>
              <a:t>M </a:t>
            </a:r>
            <a:r>
              <a:rPr lang="hu-HU" dirty="0" smtClean="0"/>
              <a:t>x </a:t>
            </a:r>
            <a:r>
              <a:rPr lang="hu-HU" i="1" dirty="0" smtClean="0"/>
              <a:t>N </a:t>
            </a:r>
            <a:r>
              <a:rPr lang="hu-HU" dirty="0" smtClean="0"/>
              <a:t>(nem négyzetes) diagonális mátrix, amely C szinguláris értékeit tartalmazza, ezek C sajátértékeinek felelnek meg csökkenő sorrendben</a:t>
            </a:r>
            <a:endParaRPr lang="hu-HU" dirty="0" smtClean="0"/>
          </a:p>
          <a:p>
            <a:pPr lvl="2"/>
            <a:r>
              <a:rPr lang="hu-HU" i="1" dirty="0" smtClean="0"/>
              <a:t>U:</a:t>
            </a:r>
            <a:r>
              <a:rPr lang="hu-HU" dirty="0" smtClean="0"/>
              <a:t> </a:t>
            </a:r>
            <a:r>
              <a:rPr lang="hu-HU" i="1" dirty="0" smtClean="0"/>
              <a:t>M </a:t>
            </a:r>
            <a:r>
              <a:rPr lang="hu-HU" dirty="0" smtClean="0"/>
              <a:t>x </a:t>
            </a:r>
            <a:r>
              <a:rPr lang="hu-HU" i="1" dirty="0" smtClean="0"/>
              <a:t>M, </a:t>
            </a:r>
            <a:r>
              <a:rPr lang="hu-HU" i="1" dirty="0" smtClean="0"/>
              <a:t>V:</a:t>
            </a:r>
            <a:r>
              <a:rPr lang="hu-HU" dirty="0" smtClean="0"/>
              <a:t> </a:t>
            </a:r>
            <a:r>
              <a:rPr lang="hu-HU" i="1" dirty="0" smtClean="0"/>
              <a:t>N </a:t>
            </a:r>
            <a:r>
              <a:rPr lang="hu-HU" dirty="0" smtClean="0"/>
              <a:t>x </a:t>
            </a:r>
            <a:r>
              <a:rPr lang="hu-HU" i="1" dirty="0" smtClean="0"/>
              <a:t>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717032"/>
            <a:ext cx="5328592" cy="2875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117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Implementáció: </a:t>
            </a:r>
            <a:r>
              <a:rPr lang="hu-HU" dirty="0" err="1" smtClean="0"/>
              <a:t>LSA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smtClean="0"/>
              <a:t>A </a:t>
            </a:r>
            <a:r>
              <a:rPr lang="hu-HU" dirty="0" smtClean="0"/>
              <a:t>l</a:t>
            </a:r>
            <a:r>
              <a:rPr lang="hu-HU" dirty="0" smtClean="0"/>
              <a:t>atens szemantikus elemzés azon az ötleten alapul, hogy C mátrixot alacsonyabb rangú mátrixszal közelítjük</a:t>
            </a:r>
            <a:endParaRPr lang="hu-HU" i="1" dirty="0"/>
          </a:p>
          <a:p>
            <a:pPr lvl="1"/>
            <a:r>
              <a:rPr lang="hu-HU" dirty="0" smtClean="0"/>
              <a:t>kiválasztjuk </a:t>
            </a:r>
            <a:r>
              <a:rPr lang="el-GR" dirty="0" smtClean="0"/>
              <a:t>Σ</a:t>
            </a:r>
            <a:r>
              <a:rPr lang="hu-HU" dirty="0" smtClean="0"/>
              <a:t> első </a:t>
            </a:r>
            <a:r>
              <a:rPr lang="hu-HU" i="1" dirty="0" smtClean="0"/>
              <a:t>k </a:t>
            </a:r>
            <a:r>
              <a:rPr lang="hu-HU" dirty="0" smtClean="0"/>
              <a:t>(&lt;&lt; </a:t>
            </a:r>
            <a:r>
              <a:rPr lang="hu-HU" i="1" dirty="0" smtClean="0"/>
              <a:t>r</a:t>
            </a:r>
            <a:r>
              <a:rPr lang="hu-HU" dirty="0" smtClean="0"/>
              <a:t>) szinguláris értékét, jellemzően 300-at, kinullázzuk a többit</a:t>
            </a:r>
            <a:endParaRPr lang="hu-HU" dirty="0"/>
          </a:p>
          <a:p>
            <a:pPr lvl="1"/>
            <a:r>
              <a:rPr lang="hu-HU" i="1" dirty="0" err="1" smtClean="0"/>
              <a:t>C</a:t>
            </a:r>
            <a:r>
              <a:rPr lang="hu-HU" i="1" baseline="-25000" dirty="0" err="1" smtClean="0"/>
              <a:t>k</a:t>
            </a:r>
            <a:r>
              <a:rPr lang="hu-HU" i="1" dirty="0" smtClean="0"/>
              <a:t> </a:t>
            </a:r>
            <a:r>
              <a:rPr lang="hu-HU" dirty="0"/>
              <a:t>= </a:t>
            </a:r>
            <a:r>
              <a:rPr lang="hu-HU" i="1" dirty="0"/>
              <a:t>U</a:t>
            </a:r>
            <a:r>
              <a:rPr lang="hu-HU" i="1" dirty="0" smtClean="0"/>
              <a:t> </a:t>
            </a:r>
            <a:r>
              <a:rPr lang="el-GR" dirty="0"/>
              <a:t>Σ</a:t>
            </a:r>
            <a:r>
              <a:rPr lang="hu-HU" i="1" baseline="-25000" dirty="0"/>
              <a:t>k</a:t>
            </a:r>
            <a:r>
              <a:rPr lang="hu-HU" dirty="0"/>
              <a:t> </a:t>
            </a:r>
            <a:r>
              <a:rPr lang="hu-HU" i="1" dirty="0" smtClean="0"/>
              <a:t>V</a:t>
            </a:r>
            <a:r>
              <a:rPr lang="hu-HU" baseline="30000" dirty="0" smtClean="0"/>
              <a:t>T </a:t>
            </a:r>
            <a:r>
              <a:rPr lang="hu-HU" dirty="0" smtClean="0"/>
              <a:t>a legjobb k rangú közelítése C-nek</a:t>
            </a:r>
            <a:endParaRPr lang="hu-HU" i="1" dirty="0" smtClean="0"/>
          </a:p>
          <a:p>
            <a:pPr lvl="2"/>
            <a:r>
              <a:rPr lang="hu-HU" dirty="0" smtClean="0"/>
              <a:t>a közelítés azt jelenti, hogy a </a:t>
            </a:r>
            <a:r>
              <a:rPr lang="hu-HU" i="1" dirty="0" err="1" smtClean="0"/>
              <a:t>C</a:t>
            </a:r>
            <a:r>
              <a:rPr lang="hu-HU" i="1" baseline="-25000" dirty="0" err="1" smtClean="0"/>
              <a:t>k</a:t>
            </a:r>
            <a:r>
              <a:rPr lang="hu-HU" dirty="0" err="1" smtClean="0"/>
              <a:t>-ban</a:t>
            </a:r>
            <a:r>
              <a:rPr lang="hu-HU" dirty="0" smtClean="0"/>
              <a:t> szereplő értékek a lehető legpontosabban megegyeznek  C értékeivel, amiből következik, hogy C bármely két sorának vagy oszlopának </a:t>
            </a:r>
            <a:r>
              <a:rPr lang="hu-HU" dirty="0" err="1" smtClean="0"/>
              <a:t>koszinuszhasonlósága</a:t>
            </a:r>
            <a:r>
              <a:rPr lang="hu-HU" dirty="0" smtClean="0"/>
              <a:t> is viszonylag közel esik a </a:t>
            </a:r>
            <a:r>
              <a:rPr lang="hu-HU" i="1" dirty="0" err="1" smtClean="0"/>
              <a:t>C</a:t>
            </a:r>
            <a:r>
              <a:rPr lang="hu-HU" i="1" baseline="-25000" dirty="0" err="1" smtClean="0"/>
              <a:t>k</a:t>
            </a:r>
            <a:r>
              <a:rPr lang="hu-HU" dirty="0" err="1" smtClean="0"/>
              <a:t>-beli</a:t>
            </a:r>
            <a:r>
              <a:rPr lang="hu-HU" dirty="0" smtClean="0"/>
              <a:t> azonos pár hasonlóságához</a:t>
            </a:r>
          </a:p>
          <a:p>
            <a:pPr lvl="2"/>
            <a:r>
              <a:rPr lang="hu-HU" dirty="0" smtClean="0"/>
              <a:t>ugyanez igaz </a:t>
            </a:r>
            <a:r>
              <a:rPr lang="hu-HU" i="1" dirty="0" smtClean="0"/>
              <a:t>U </a:t>
            </a:r>
            <a:r>
              <a:rPr lang="hu-HU" dirty="0" smtClean="0"/>
              <a:t>sorainak hasonlóságára</a:t>
            </a:r>
            <a:r>
              <a:rPr lang="hu-HU" i="1" dirty="0"/>
              <a:t> </a:t>
            </a:r>
            <a:r>
              <a:rPr lang="hu-HU" dirty="0" smtClean="0"/>
              <a:t>és </a:t>
            </a:r>
            <a:r>
              <a:rPr lang="hu-HU" i="1" dirty="0" smtClean="0"/>
              <a:t>V </a:t>
            </a:r>
            <a:r>
              <a:rPr lang="hu-HU" dirty="0" smtClean="0"/>
              <a:t>oszlopaira</a:t>
            </a:r>
            <a:endParaRPr lang="hu-HU" i="1" dirty="0" smtClean="0"/>
          </a:p>
          <a:p>
            <a:pPr lvl="2"/>
            <a:r>
              <a:rPr lang="hu-HU" i="1" dirty="0" smtClean="0"/>
              <a:t>U</a:t>
            </a:r>
            <a:r>
              <a:rPr lang="hu-HU" dirty="0" smtClean="0"/>
              <a:t>-nak csak az első </a:t>
            </a:r>
            <a:r>
              <a:rPr lang="hu-HU" i="1" dirty="0" smtClean="0"/>
              <a:t>k </a:t>
            </a:r>
            <a:r>
              <a:rPr lang="hu-HU" dirty="0" smtClean="0"/>
              <a:t>oszlopát és </a:t>
            </a:r>
            <a:r>
              <a:rPr lang="hu-HU" i="1" dirty="0" smtClean="0"/>
              <a:t>V</a:t>
            </a:r>
            <a:r>
              <a:rPr lang="hu-HU" baseline="30000" dirty="0" smtClean="0"/>
              <a:t>T </a:t>
            </a:r>
            <a:r>
              <a:rPr lang="hu-HU" dirty="0" smtClean="0"/>
              <a:t>első </a:t>
            </a:r>
            <a:r>
              <a:rPr lang="hu-HU" i="1" dirty="0" smtClean="0"/>
              <a:t>k </a:t>
            </a:r>
            <a:r>
              <a:rPr lang="hu-HU" dirty="0" smtClean="0"/>
              <a:t>sorát vesszük figyelembe </a:t>
            </a:r>
            <a:r>
              <a:rPr lang="hu-HU" i="1" dirty="0" err="1" smtClean="0"/>
              <a:t>C</a:t>
            </a:r>
            <a:r>
              <a:rPr lang="hu-HU" i="1" baseline="-25000" dirty="0" err="1" smtClean="0"/>
              <a:t>k</a:t>
            </a:r>
            <a:r>
              <a:rPr lang="hu-HU" i="1" dirty="0" smtClean="0"/>
              <a:t> </a:t>
            </a:r>
            <a:r>
              <a:rPr lang="hu-HU" dirty="0" smtClean="0"/>
              <a:t>kiszámításakor (a többit kinullázza a szorzás </a:t>
            </a:r>
            <a:r>
              <a:rPr lang="el-GR" dirty="0" smtClean="0"/>
              <a:t>Σ</a:t>
            </a:r>
            <a:r>
              <a:rPr lang="hu-HU" i="1" baseline="-25000" dirty="0" smtClean="0"/>
              <a:t>k</a:t>
            </a:r>
            <a:r>
              <a:rPr lang="hu-HU" dirty="0"/>
              <a:t>-val</a:t>
            </a:r>
            <a:r>
              <a:rPr lang="hu-HU" dirty="0" smtClean="0"/>
              <a:t>), így a többi sor és oszlop elhagyható; </a:t>
            </a:r>
            <a:r>
              <a:rPr lang="hu-HU" i="1" dirty="0" smtClean="0"/>
              <a:t>U </a:t>
            </a:r>
            <a:r>
              <a:rPr lang="hu-HU" dirty="0" smtClean="0"/>
              <a:t>csak </a:t>
            </a:r>
            <a:r>
              <a:rPr lang="hu-HU" i="1" dirty="0" smtClean="0"/>
              <a:t>M </a:t>
            </a:r>
            <a:r>
              <a:rPr lang="hu-HU" dirty="0" smtClean="0"/>
              <a:t>x </a:t>
            </a:r>
            <a:r>
              <a:rPr lang="hu-HU" i="1" dirty="0" smtClean="0"/>
              <a:t>k</a:t>
            </a:r>
            <a:r>
              <a:rPr lang="hu-HU" dirty="0" smtClean="0"/>
              <a:t>, </a:t>
            </a:r>
            <a:r>
              <a:rPr lang="hu-HU" dirty="0" smtClean="0"/>
              <a:t>nem </a:t>
            </a:r>
            <a:r>
              <a:rPr lang="hu-HU" i="1" dirty="0" smtClean="0"/>
              <a:t>M </a:t>
            </a:r>
            <a:r>
              <a:rPr lang="hu-HU" dirty="0" smtClean="0"/>
              <a:t>x </a:t>
            </a:r>
            <a:r>
              <a:rPr lang="hu-HU" i="1" dirty="0" smtClean="0"/>
              <a:t>N, </a:t>
            </a:r>
            <a:r>
              <a:rPr lang="hu-HU" dirty="0" smtClean="0"/>
              <a:t>és </a:t>
            </a:r>
            <a:r>
              <a:rPr lang="hu-HU" i="1" dirty="0"/>
              <a:t>V</a:t>
            </a:r>
            <a:r>
              <a:rPr lang="hu-HU" baseline="30000" dirty="0"/>
              <a:t>T</a:t>
            </a:r>
            <a:r>
              <a:rPr lang="hu-HU" dirty="0" smtClean="0"/>
              <a:t> is </a:t>
            </a:r>
            <a:r>
              <a:rPr lang="hu-HU" i="1" dirty="0" smtClean="0"/>
              <a:t>k</a:t>
            </a:r>
            <a:r>
              <a:rPr lang="hu-HU" dirty="0" smtClean="0"/>
              <a:t> x </a:t>
            </a:r>
            <a:r>
              <a:rPr lang="hu-HU" i="1" dirty="0" smtClean="0"/>
              <a:t>N</a:t>
            </a:r>
          </a:p>
          <a:p>
            <a:pPr lvl="3"/>
            <a:r>
              <a:rPr lang="hu-HU" dirty="0" smtClean="0"/>
              <a:t>ezek az </a:t>
            </a:r>
            <a:r>
              <a:rPr lang="hu-HU" dirty="0" err="1" smtClean="0"/>
              <a:t>LSI-ben</a:t>
            </a:r>
            <a:r>
              <a:rPr lang="hu-HU" dirty="0" smtClean="0"/>
              <a:t> a </a:t>
            </a:r>
            <a:r>
              <a:rPr lang="hu-HU" i="1" dirty="0" smtClean="0"/>
              <a:t>k </a:t>
            </a:r>
            <a:r>
              <a:rPr lang="hu-HU" dirty="0" smtClean="0"/>
              <a:t>rangú szó- illetve dokumentummátrix</a:t>
            </a:r>
            <a:endParaRPr lang="hu-HU" dirty="0" smtClean="0"/>
          </a:p>
          <a:p>
            <a:pPr lvl="1"/>
            <a:r>
              <a:rPr lang="hu-HU" dirty="0" smtClean="0"/>
              <a:t>Az </a:t>
            </a:r>
            <a:r>
              <a:rPr lang="hu-HU" dirty="0" err="1" smtClean="0"/>
              <a:t>LSI</a:t>
            </a:r>
            <a:r>
              <a:rPr lang="hu-HU" dirty="0"/>
              <a:t> </a:t>
            </a:r>
            <a:r>
              <a:rPr lang="hu-HU" dirty="0" smtClean="0"/>
              <a:t>alkalmazásával átalakíthatunk egy lekérdezést (dokumentumot), amelyet </a:t>
            </a:r>
            <a:r>
              <a:rPr lang="hu-HU" i="1" dirty="0" smtClean="0"/>
              <a:t>M </a:t>
            </a:r>
            <a:r>
              <a:rPr lang="hu-HU" dirty="0" smtClean="0"/>
              <a:t>dimenziós </a:t>
            </a:r>
            <a:r>
              <a:rPr lang="hu-HU" i="1" dirty="0" smtClean="0"/>
              <a:t>q </a:t>
            </a:r>
            <a:r>
              <a:rPr lang="hu-HU" dirty="0" err="1" smtClean="0"/>
              <a:t>lekérdezésvektor</a:t>
            </a:r>
            <a:r>
              <a:rPr lang="hu-HU" dirty="0" smtClean="0"/>
              <a:t> formájában fejezünk ki (</a:t>
            </a:r>
            <a:r>
              <a:rPr lang="hu-HU" i="1" dirty="0" smtClean="0"/>
              <a:t>M </a:t>
            </a:r>
            <a:r>
              <a:rPr lang="hu-HU" dirty="0" smtClean="0"/>
              <a:t>= a szótár mérete), </a:t>
            </a:r>
            <a:r>
              <a:rPr lang="hu-HU" i="1" dirty="0" smtClean="0"/>
              <a:t>k</a:t>
            </a:r>
            <a:r>
              <a:rPr lang="hu-HU" dirty="0"/>
              <a:t> </a:t>
            </a:r>
            <a:r>
              <a:rPr lang="hu-HU" dirty="0" smtClean="0"/>
              <a:t>dimenziós </a:t>
            </a:r>
            <a:r>
              <a:rPr lang="hu-HU" i="1" dirty="0" err="1" smtClean="0"/>
              <a:t>q</a:t>
            </a:r>
            <a:r>
              <a:rPr lang="hu-HU" i="1" baseline="-25000" dirty="0" err="1" smtClean="0"/>
              <a:t>k</a:t>
            </a:r>
            <a:r>
              <a:rPr lang="hu-HU" i="1" baseline="-25000" dirty="0" smtClean="0"/>
              <a:t> </a:t>
            </a:r>
            <a:r>
              <a:rPr lang="hu-HU" dirty="0" err="1" smtClean="0"/>
              <a:t>lekérdezésvektorrá</a:t>
            </a:r>
            <a:endParaRPr lang="hu-HU" i="1" baseline="-25000" dirty="0" smtClean="0"/>
          </a:p>
          <a:p>
            <a:pPr lvl="2"/>
            <a:r>
              <a:rPr lang="hu-HU" i="1" dirty="0" err="1" smtClean="0"/>
              <a:t>q</a:t>
            </a:r>
            <a:r>
              <a:rPr lang="hu-HU" i="1" baseline="-25000" dirty="0" err="1" smtClean="0"/>
              <a:t>k</a:t>
            </a:r>
            <a:r>
              <a:rPr lang="hu-HU" i="1" dirty="0" smtClean="0"/>
              <a:t> </a:t>
            </a:r>
            <a:r>
              <a:rPr lang="hu-HU" dirty="0" smtClean="0"/>
              <a:t>= </a:t>
            </a:r>
            <a:r>
              <a:rPr lang="el-GR" dirty="0" smtClean="0"/>
              <a:t>Σ</a:t>
            </a:r>
            <a:r>
              <a:rPr lang="hu-HU" baseline="30000" dirty="0" smtClean="0"/>
              <a:t>-1</a:t>
            </a:r>
            <a:r>
              <a:rPr lang="hu-HU" dirty="0" smtClean="0"/>
              <a:t> </a:t>
            </a:r>
            <a:r>
              <a:rPr lang="hu-HU" dirty="0" err="1" smtClean="0"/>
              <a:t>U</a:t>
            </a:r>
            <a:r>
              <a:rPr lang="hu-HU" baseline="-25000" dirty="0" err="1" smtClean="0"/>
              <a:t>k</a:t>
            </a:r>
            <a:r>
              <a:rPr lang="hu-HU" baseline="30000" dirty="0" err="1" smtClean="0"/>
              <a:t>T</a:t>
            </a:r>
            <a:r>
              <a:rPr lang="hu-HU" dirty="0" smtClean="0"/>
              <a:t> </a:t>
            </a:r>
            <a:r>
              <a:rPr lang="hu-HU" i="1" dirty="0" smtClean="0"/>
              <a:t>q, </a:t>
            </a:r>
            <a:r>
              <a:rPr lang="hu-HU" dirty="0" smtClean="0"/>
              <a:t>ahol </a:t>
            </a:r>
            <a:r>
              <a:rPr lang="hu-HU" i="1" dirty="0" err="1" smtClean="0"/>
              <a:t>U</a:t>
            </a:r>
            <a:r>
              <a:rPr lang="hu-HU" i="1" baseline="-25000" dirty="0" err="1" smtClean="0"/>
              <a:t>k</a:t>
            </a:r>
            <a:r>
              <a:rPr lang="hu-HU" i="1" dirty="0" smtClean="0"/>
              <a:t> </a:t>
            </a:r>
            <a:r>
              <a:rPr lang="hu-HU" dirty="0" smtClean="0"/>
              <a:t>az </a:t>
            </a:r>
            <a:r>
              <a:rPr lang="hu-HU" i="1" dirty="0" smtClean="0"/>
              <a:t>U </a:t>
            </a:r>
            <a:r>
              <a:rPr lang="hu-HU" dirty="0" smtClean="0"/>
              <a:t>mátrix első </a:t>
            </a:r>
            <a:r>
              <a:rPr lang="hu-HU" i="1" dirty="0" smtClean="0"/>
              <a:t>k </a:t>
            </a:r>
            <a:r>
              <a:rPr lang="hu-HU" dirty="0" smtClean="0"/>
              <a:t>oszlopa</a:t>
            </a:r>
            <a:endParaRPr lang="hu-HU" i="1" dirty="0" smtClean="0"/>
          </a:p>
          <a:p>
            <a:pPr lvl="2"/>
            <a:r>
              <a:rPr lang="hu-HU" dirty="0" smtClean="0"/>
              <a:t>a </a:t>
            </a:r>
            <a:r>
              <a:rPr lang="hu-HU" i="1" dirty="0" err="1" smtClean="0"/>
              <a:t>V</a:t>
            </a:r>
            <a:r>
              <a:rPr lang="hu-HU" i="1" baseline="-25000" dirty="0" err="1" smtClean="0"/>
              <a:t>k</a:t>
            </a:r>
            <a:r>
              <a:rPr lang="hu-HU" i="1" dirty="0" smtClean="0"/>
              <a:t> </a:t>
            </a:r>
            <a:r>
              <a:rPr lang="hu-HU" i="1" dirty="0" err="1" smtClean="0"/>
              <a:t>q</a:t>
            </a:r>
            <a:r>
              <a:rPr lang="hu-HU" i="1" baseline="-25000" dirty="0" err="1" smtClean="0"/>
              <a:t>k</a:t>
            </a:r>
            <a:r>
              <a:rPr lang="hu-HU" i="1" dirty="0" smtClean="0"/>
              <a:t> </a:t>
            </a:r>
            <a:r>
              <a:rPr lang="hu-HU" dirty="0" smtClean="0"/>
              <a:t>belső szorzat </a:t>
            </a:r>
            <a:r>
              <a:rPr lang="hu-HU" dirty="0" err="1" smtClean="0"/>
              <a:t>koszinuszhasonlóságok</a:t>
            </a:r>
            <a:r>
              <a:rPr lang="hu-HU" dirty="0" smtClean="0"/>
              <a:t> vektora egyfelől a </a:t>
            </a:r>
            <a:r>
              <a:rPr lang="hu-HU" i="1" dirty="0" err="1" smtClean="0"/>
              <a:t>V</a:t>
            </a:r>
            <a:r>
              <a:rPr lang="hu-HU" i="1" baseline="-25000" dirty="0" err="1" smtClean="0"/>
              <a:t>k</a:t>
            </a:r>
            <a:r>
              <a:rPr lang="hu-HU" i="1" dirty="0" smtClean="0"/>
              <a:t> </a:t>
            </a:r>
            <a:r>
              <a:rPr lang="hu-HU" dirty="0" smtClean="0"/>
              <a:t>minden egyes sora és másfelől a </a:t>
            </a:r>
            <a:r>
              <a:rPr lang="hu-HU" i="1" dirty="0" err="1" smtClean="0"/>
              <a:t>q</a:t>
            </a:r>
            <a:r>
              <a:rPr lang="hu-HU" i="1" baseline="-25000" dirty="0" err="1" smtClean="0"/>
              <a:t>k</a:t>
            </a:r>
            <a:r>
              <a:rPr lang="hu-HU" i="1" dirty="0" smtClean="0"/>
              <a:t> </a:t>
            </a:r>
            <a:r>
              <a:rPr lang="hu-HU" dirty="0" smtClean="0"/>
              <a:t>vektor között (feltéve, hogy a vektorok egységnyi hosszúak)</a:t>
            </a:r>
            <a:endParaRPr lang="hu-HU" dirty="0" smtClean="0"/>
          </a:p>
          <a:p>
            <a:pPr lvl="2"/>
            <a:r>
              <a:rPr lang="hu-HU" dirty="0" smtClean="0"/>
              <a:t>ha rendezzük </a:t>
            </a:r>
            <a:r>
              <a:rPr lang="hu-HU" i="1" dirty="0" err="1" smtClean="0"/>
              <a:t>V</a:t>
            </a:r>
            <a:r>
              <a:rPr lang="hu-HU" i="1" baseline="-25000" dirty="0" err="1" smtClean="0"/>
              <a:t>k</a:t>
            </a:r>
            <a:r>
              <a:rPr lang="hu-HU" i="1" dirty="0" smtClean="0"/>
              <a:t> </a:t>
            </a:r>
            <a:r>
              <a:rPr lang="hu-HU" dirty="0" smtClean="0"/>
              <a:t>sorait növekvő sorrendbe rendezzük a szorzatvektor értékei szerint, ezáltal a </a:t>
            </a:r>
            <a:r>
              <a:rPr lang="hu-HU" dirty="0" err="1" smtClean="0"/>
              <a:t>dokumenumokat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lekérdezéshez való hasonlóságuk szerint rendezzük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500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word2vec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hu-HU" dirty="0" smtClean="0"/>
              <a:t>Egy nagy, nyers, több milliárd </a:t>
            </a:r>
            <a:r>
              <a:rPr lang="hu-HU" dirty="0" err="1" smtClean="0"/>
              <a:t>tokent</a:t>
            </a:r>
            <a:r>
              <a:rPr lang="hu-HU" dirty="0" smtClean="0"/>
              <a:t> tartalmazó korpuszból indulunk</a:t>
            </a:r>
            <a:r>
              <a:rPr lang="hu-HU" dirty="0"/>
              <a:t> </a:t>
            </a:r>
            <a:r>
              <a:rPr lang="hu-HU" dirty="0" smtClean="0"/>
              <a:t>ki.</a:t>
            </a:r>
          </a:p>
          <a:p>
            <a:r>
              <a:rPr lang="hu-HU" dirty="0" smtClean="0"/>
              <a:t>Minden szóalakhoz két </a:t>
            </a:r>
            <a:r>
              <a:rPr lang="hu-HU" i="1" dirty="0" smtClean="0">
                <a:effectLst/>
              </a:rPr>
              <a:t>k</a:t>
            </a:r>
            <a:r>
              <a:rPr lang="hu-HU" dirty="0" smtClean="0"/>
              <a:t> </a:t>
            </a:r>
            <a:r>
              <a:rPr lang="hu-HU" dirty="0" smtClean="0"/>
              <a:t>(általában 300 és 1000 közötti) </a:t>
            </a:r>
            <a:r>
              <a:rPr lang="hu-HU" dirty="0" smtClean="0"/>
              <a:t>elemű </a:t>
            </a:r>
            <a:r>
              <a:rPr lang="hu-HU" dirty="0" smtClean="0"/>
              <a:t>véletlenszerű </a:t>
            </a:r>
            <a:r>
              <a:rPr lang="hu-HU" dirty="0" smtClean="0"/>
              <a:t>lebegőpontos vektort rendelünk. Ez a szótárunk.</a:t>
            </a:r>
          </a:p>
          <a:p>
            <a:pPr lvl="1"/>
            <a:r>
              <a:rPr lang="hu-HU" dirty="0" smtClean="0"/>
              <a:t>Két mátrix: </a:t>
            </a:r>
            <a:r>
              <a:rPr lang="hu-HU" i="1" dirty="0" smtClean="0">
                <a:effectLst/>
              </a:rPr>
              <a:t>W</a:t>
            </a:r>
            <a:r>
              <a:rPr lang="hu-HU" i="1" dirty="0" smtClean="0"/>
              <a:t> </a:t>
            </a:r>
            <a:r>
              <a:rPr lang="hu-HU" dirty="0" smtClean="0"/>
              <a:t>(célszavak) és </a:t>
            </a:r>
            <a:r>
              <a:rPr lang="hu-HU" i="1" dirty="0" smtClean="0">
                <a:effectLst/>
              </a:rPr>
              <a:t>C</a:t>
            </a:r>
            <a:r>
              <a:rPr lang="hu-HU" i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kontextusszavak</a:t>
            </a:r>
            <a:r>
              <a:rPr lang="hu-HU" dirty="0" smtClean="0"/>
              <a:t>), mindkettő </a:t>
            </a:r>
            <a:r>
              <a:rPr lang="hu-HU" i="1" dirty="0" smtClean="0">
                <a:effectLst/>
              </a:rPr>
              <a:t>V </a:t>
            </a:r>
            <a:r>
              <a:rPr lang="hu-HU" dirty="0" smtClean="0"/>
              <a:t>× </a:t>
            </a:r>
            <a:r>
              <a:rPr lang="hu-HU" i="1" dirty="0" smtClean="0">
                <a:effectLst/>
              </a:rPr>
              <a:t>k</a:t>
            </a:r>
            <a:r>
              <a:rPr lang="hu-HU" i="1" dirty="0" smtClean="0"/>
              <a:t> </a:t>
            </a:r>
            <a:r>
              <a:rPr lang="hu-HU" dirty="0" smtClean="0"/>
              <a:t>dimenziós, </a:t>
            </a:r>
            <a:r>
              <a:rPr lang="hu-HU" i="1" dirty="0" smtClean="0">
                <a:effectLst/>
              </a:rPr>
              <a:t>V</a:t>
            </a:r>
            <a:r>
              <a:rPr lang="hu-HU" i="1" dirty="0" smtClean="0"/>
              <a:t> </a:t>
            </a:r>
            <a:r>
              <a:rPr lang="hu-HU" dirty="0" smtClean="0"/>
              <a:t>a szókészlet mérete.</a:t>
            </a:r>
          </a:p>
          <a:p>
            <a:r>
              <a:rPr lang="hu-HU" dirty="0" smtClean="0"/>
              <a:t>Iterálunk a korpusz minden </a:t>
            </a:r>
            <a:r>
              <a:rPr lang="hu-HU" dirty="0" err="1" smtClean="0"/>
              <a:t>tokenjén</a:t>
            </a:r>
            <a:r>
              <a:rPr lang="hu-HU" dirty="0" smtClean="0"/>
              <a:t>, kiválasztjuk az aktuális </a:t>
            </a:r>
            <a:r>
              <a:rPr lang="hu-HU" dirty="0" err="1" smtClean="0"/>
              <a:t>token</a:t>
            </a:r>
            <a:r>
              <a:rPr lang="hu-HU" dirty="0" smtClean="0"/>
              <a:t> körüli </a:t>
            </a:r>
            <a:r>
              <a:rPr lang="hu-HU" i="1" dirty="0" smtClean="0"/>
              <a:t>n </a:t>
            </a:r>
            <a:r>
              <a:rPr lang="hu-HU" dirty="0" smtClean="0"/>
              <a:t>(például 5) </a:t>
            </a:r>
            <a:r>
              <a:rPr lang="hu-HU" dirty="0" err="1" smtClean="0"/>
              <a:t>kontextustokent</a:t>
            </a:r>
            <a:r>
              <a:rPr lang="hu-HU" dirty="0" smtClean="0"/>
              <a:t> balra és jobbra.</a:t>
            </a:r>
          </a:p>
          <a:p>
            <a:pPr lvl="1"/>
            <a:r>
              <a:rPr lang="hu-HU" dirty="0" smtClean="0"/>
              <a:t>A középső </a:t>
            </a:r>
            <a:r>
              <a:rPr lang="hu-HU" dirty="0" err="1" smtClean="0"/>
              <a:t>tokenhez</a:t>
            </a:r>
            <a:r>
              <a:rPr lang="hu-HU" dirty="0" smtClean="0"/>
              <a:t> tartozó vektort kölcsönösen közelebb mozgatjuk az egyes </a:t>
            </a:r>
            <a:r>
              <a:rPr lang="hu-HU" dirty="0" err="1" smtClean="0"/>
              <a:t>kontextustokenek</a:t>
            </a:r>
            <a:r>
              <a:rPr lang="hu-HU" dirty="0" smtClean="0"/>
              <a:t> vektoraihoz.</a:t>
            </a:r>
          </a:p>
          <a:p>
            <a:pPr lvl="2"/>
            <a:r>
              <a:rPr lang="hu-HU" dirty="0" smtClean="0"/>
              <a:t>Idővel a hasonló kontextusban megjelenő szavak vektorai közel kerülnek egymáshoz.</a:t>
            </a:r>
          </a:p>
          <a:p>
            <a:pPr lvl="1"/>
            <a:r>
              <a:rPr lang="hu-HU" dirty="0" smtClean="0"/>
              <a:t>Véletlenszerűen mintavételezünk 10 szót a szókészletből negatív kontextusként, azaz olyan szavakat, amelyek </a:t>
            </a:r>
            <a:r>
              <a:rPr lang="hu-HU" b="1" dirty="0" smtClean="0"/>
              <a:t>nem</a:t>
            </a:r>
            <a:r>
              <a:rPr lang="hu-HU" dirty="0" smtClean="0"/>
              <a:t> szerepeltek a középső </a:t>
            </a:r>
            <a:r>
              <a:rPr lang="hu-HU" dirty="0" err="1" smtClean="0"/>
              <a:t>token</a:t>
            </a:r>
            <a:r>
              <a:rPr lang="hu-HU" dirty="0" smtClean="0"/>
              <a:t> környezetében.</a:t>
            </a:r>
          </a:p>
          <a:p>
            <a:pPr lvl="1"/>
            <a:r>
              <a:rPr lang="hu-HU" dirty="0" smtClean="0"/>
              <a:t>E negatív mintaszavak vektorait kölcsönösen távolabb mozgatjuk a középső </a:t>
            </a:r>
            <a:r>
              <a:rPr lang="hu-HU" dirty="0" err="1" smtClean="0"/>
              <a:t>token</a:t>
            </a:r>
            <a:r>
              <a:rPr lang="hu-HU" dirty="0" smtClean="0"/>
              <a:t> vektorától.</a:t>
            </a:r>
          </a:p>
          <a:p>
            <a:pPr lvl="2"/>
            <a:r>
              <a:rPr lang="hu-HU" dirty="0" smtClean="0"/>
              <a:t>A negatív mintavételezés nélkül minden szóvektor folyamatosan egyre közelebb kerülne egymáshoz, és idővel teljesen azonossá válnának.</a:t>
            </a:r>
          </a:p>
          <a:p>
            <a:r>
              <a:rPr lang="hu-HU" dirty="0" smtClean="0"/>
              <a:t>Ez </a:t>
            </a:r>
            <a:r>
              <a:rPr lang="hu-HU" dirty="0" err="1" smtClean="0"/>
              <a:t>Mikolov</a:t>
            </a:r>
            <a:r>
              <a:rPr lang="hu-HU" dirty="0" smtClean="0"/>
              <a:t> és munkatársai </a:t>
            </a:r>
            <a:r>
              <a:rPr lang="hu-HU" dirty="0" smtClean="0">
                <a:hlinkClick r:id="rId2"/>
              </a:rPr>
              <a:t>word2vec</a:t>
            </a:r>
            <a:r>
              <a:rPr lang="hu-HU" dirty="0" smtClean="0"/>
              <a:t> szoftverében implementált </a:t>
            </a:r>
            <a:r>
              <a:rPr lang="hu-HU" i="1" dirty="0" err="1" smtClean="0"/>
              <a:t>skip-gram</a:t>
            </a:r>
            <a:r>
              <a:rPr lang="hu-HU" dirty="0" smtClean="0"/>
              <a:t> algoritmus alapvető mechanizmusa.</a:t>
            </a:r>
          </a:p>
          <a:p>
            <a:r>
              <a:rPr lang="hu-HU" dirty="0" smtClean="0"/>
              <a:t>Egy ehhez képest fordított módszert is javasolnak, amelyet </a:t>
            </a:r>
            <a:r>
              <a:rPr lang="hu-HU" i="1" dirty="0" err="1" smtClean="0"/>
              <a:t>CBOW</a:t>
            </a:r>
            <a:r>
              <a:rPr lang="hu-HU" i="1" dirty="0" smtClean="0"/>
              <a:t> (</a:t>
            </a:r>
            <a:r>
              <a:rPr lang="hu-HU" i="1" dirty="0" err="1" smtClean="0"/>
              <a:t>continuous</a:t>
            </a:r>
            <a:r>
              <a:rPr lang="hu-HU" i="1" dirty="0" smtClean="0"/>
              <a:t> </a:t>
            </a:r>
            <a:r>
              <a:rPr lang="hu-HU" i="1" dirty="0" err="1" smtClean="0"/>
              <a:t>bag</a:t>
            </a:r>
            <a:r>
              <a:rPr lang="hu-HU" i="1" dirty="0" smtClean="0"/>
              <a:t> of </a:t>
            </a:r>
            <a:r>
              <a:rPr lang="hu-HU" i="1" dirty="0" err="1" smtClean="0"/>
              <a:t>words</a:t>
            </a:r>
            <a:r>
              <a:rPr lang="hu-HU" i="1" dirty="0" smtClean="0"/>
              <a:t>)</a:t>
            </a:r>
            <a:r>
              <a:rPr lang="hu-HU" i="1" dirty="0" err="1" smtClean="0"/>
              <a:t>-</a:t>
            </a:r>
            <a:r>
              <a:rPr lang="hu-HU" dirty="0" err="1" smtClean="0"/>
              <a:t>nak</a:t>
            </a:r>
            <a:r>
              <a:rPr lang="hu-HU" dirty="0" smtClean="0"/>
              <a:t> neveznek. Itt a célszó körüli, </a:t>
            </a:r>
            <a:r>
              <a:rPr lang="hu-HU" dirty="0" smtClean="0">
                <a:effectLst/>
              </a:rPr>
              <a:t>W</a:t>
            </a:r>
            <a:r>
              <a:rPr lang="hu-HU" dirty="0" smtClean="0"/>
              <a:t>-ben lévő minden szóvektort közelebb mozgatunk a </a:t>
            </a:r>
            <a:r>
              <a:rPr lang="hu-HU" dirty="0" smtClean="0">
                <a:effectLst/>
              </a:rPr>
              <a:t>C</a:t>
            </a:r>
            <a:r>
              <a:rPr lang="hu-HU" dirty="0" smtClean="0"/>
              <a:t>-ben lévő központi szó vektorához – mindkét megközelítés egyformán jól működik.</a:t>
            </a:r>
          </a:p>
        </p:txBody>
      </p:sp>
    </p:spTree>
    <p:extLst>
      <p:ext uri="{BB962C8B-B14F-4D97-AF65-F5344CB8AC3E}">
        <p14:creationId xmlns:p14="http://schemas.microsoft.com/office/powerpoint/2010/main" val="3504561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dirty="0" smtClean="0"/>
              <a:t>word2vec</a:t>
            </a:r>
            <a:endParaRPr lang="en-GB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smtClean="0"/>
              <a:t>A word2vec egyszerűsített implementációja </a:t>
            </a:r>
            <a:r>
              <a:rPr lang="hu-HU" dirty="0" err="1" smtClean="0"/>
              <a:t>TensorFlow-ban</a:t>
            </a:r>
            <a:r>
              <a:rPr lang="hu-HU" dirty="0" smtClean="0"/>
              <a:t> itt található: </a:t>
            </a:r>
            <a:r>
              <a:rPr lang="hu-HU" dirty="0" err="1" smtClean="0"/>
              <a:t>https</a:t>
            </a:r>
            <a:r>
              <a:rPr lang="hu-HU" dirty="0"/>
              <a:t>://</a:t>
            </a:r>
            <a:r>
              <a:rPr lang="hu-HU" dirty="0" err="1" smtClean="0"/>
              <a:t>www.tensorflow.org</a:t>
            </a:r>
            <a:r>
              <a:rPr lang="hu-HU" dirty="0" smtClean="0"/>
              <a:t>/text/</a:t>
            </a:r>
            <a:r>
              <a:rPr lang="hu-HU" dirty="0" err="1" smtClean="0"/>
              <a:t>tutorials</a:t>
            </a:r>
            <a:r>
              <a:rPr lang="hu-HU" dirty="0" smtClean="0"/>
              <a:t>/word2vec</a:t>
            </a:r>
            <a:endParaRPr lang="hu-HU" dirty="0"/>
          </a:p>
          <a:p>
            <a:r>
              <a:rPr lang="hu-HU" dirty="0" err="1" smtClean="0"/>
              <a:t>Levy</a:t>
            </a:r>
            <a:r>
              <a:rPr lang="hu-HU" dirty="0" smtClean="0"/>
              <a:t> </a:t>
            </a:r>
            <a:r>
              <a:rPr lang="hu-HU" dirty="0" smtClean="0"/>
              <a:t>és </a:t>
            </a:r>
            <a:r>
              <a:rPr lang="hu-HU" dirty="0" smtClean="0"/>
              <a:t>Goldberg egy </a:t>
            </a:r>
            <a:r>
              <a:rPr lang="hu-HU" i="1" dirty="0" err="1" smtClean="0">
                <a:hlinkClick r:id="rId2"/>
              </a:rPr>
              <a:t>Neural</a:t>
            </a:r>
            <a:r>
              <a:rPr lang="hu-HU" i="1" dirty="0" smtClean="0">
                <a:hlinkClick r:id="rId2"/>
              </a:rPr>
              <a:t> </a:t>
            </a:r>
            <a:r>
              <a:rPr lang="hu-HU" i="1" dirty="0" smtClean="0">
                <a:hlinkClick r:id="rId2"/>
              </a:rPr>
              <a:t>Word </a:t>
            </a:r>
            <a:r>
              <a:rPr lang="hu-HU" i="1" dirty="0" err="1" smtClean="0">
                <a:hlinkClick r:id="rId2"/>
              </a:rPr>
              <a:t>Embeddings</a:t>
            </a:r>
            <a:r>
              <a:rPr lang="hu-HU" i="1" dirty="0" smtClean="0">
                <a:hlinkClick r:id="rId2"/>
              </a:rPr>
              <a:t> </a:t>
            </a:r>
            <a:r>
              <a:rPr lang="hu-HU" i="1" dirty="0" err="1" smtClean="0">
                <a:hlinkClick r:id="rId2"/>
              </a:rPr>
              <a:t>as</a:t>
            </a:r>
            <a:r>
              <a:rPr lang="hu-HU" i="1" dirty="0" smtClean="0">
                <a:hlinkClick r:id="rId2"/>
              </a:rPr>
              <a:t> Implicit </a:t>
            </a:r>
            <a:r>
              <a:rPr lang="hu-HU" i="1" dirty="0" err="1" smtClean="0">
                <a:hlinkClick r:id="rId2"/>
              </a:rPr>
              <a:t>Matrix</a:t>
            </a:r>
            <a:r>
              <a:rPr lang="hu-HU" i="1" dirty="0" smtClean="0">
                <a:hlinkClick r:id="rId2"/>
              </a:rPr>
              <a:t> </a:t>
            </a:r>
            <a:r>
              <a:rPr lang="hu-HU" i="1" dirty="0" err="1" smtClean="0">
                <a:hlinkClick r:id="rId2"/>
              </a:rPr>
              <a:t>Factorization</a:t>
            </a:r>
            <a:r>
              <a:rPr lang="hu-HU" i="1" dirty="0" smtClean="0"/>
              <a:t> </a:t>
            </a:r>
            <a:r>
              <a:rPr lang="hu-HU" dirty="0" smtClean="0"/>
              <a:t>című cikkben levezette, hogy </a:t>
            </a:r>
            <a:r>
              <a:rPr lang="hu-HU" dirty="0" err="1" smtClean="0"/>
              <a:t>Mikolov</a:t>
            </a:r>
            <a:r>
              <a:rPr lang="hu-HU" dirty="0" smtClean="0"/>
              <a:t> </a:t>
            </a:r>
            <a:r>
              <a:rPr lang="hu-HU" dirty="0" err="1" smtClean="0"/>
              <a:t>skip-gram</a:t>
            </a:r>
            <a:r>
              <a:rPr lang="hu-HU" dirty="0" smtClean="0"/>
              <a:t> </a:t>
            </a:r>
            <a:r>
              <a:rPr lang="hu-HU" dirty="0" smtClean="0"/>
              <a:t>algoritmusa lényegében (a sztochasztikus </a:t>
            </a:r>
            <a:r>
              <a:rPr lang="hu-HU" dirty="0" err="1" smtClean="0"/>
              <a:t>gradiensmódszerrel</a:t>
            </a:r>
            <a:r>
              <a:rPr lang="hu-HU" dirty="0" smtClean="0"/>
              <a:t>) egy optimális </a:t>
            </a:r>
            <a:r>
              <a:rPr lang="hu-HU" i="1" dirty="0" smtClean="0"/>
              <a:t>d </a:t>
            </a:r>
            <a:r>
              <a:rPr lang="hu-HU" dirty="0" smtClean="0"/>
              <a:t>dimenziós felbontását végzi el a szavak együttes </a:t>
            </a:r>
            <a:r>
              <a:rPr lang="hu-HU" dirty="0" err="1" smtClean="0"/>
              <a:t>előfordulásszámát</a:t>
            </a:r>
            <a:r>
              <a:rPr lang="hu-HU" dirty="0" smtClean="0"/>
              <a:t> tartalmazó, bizonyos módon (eltolt pontszerű kölcsönös információ, </a:t>
            </a:r>
            <a:r>
              <a:rPr lang="hu-HU" dirty="0" err="1" smtClean="0"/>
              <a:t>PMI</a:t>
            </a:r>
            <a:r>
              <a:rPr lang="hu-HU" dirty="0" smtClean="0"/>
              <a:t>, szerint) súlyozott mátrixnak</a:t>
            </a:r>
          </a:p>
          <a:p>
            <a:pPr lvl="1"/>
            <a:r>
              <a:rPr lang="hu-HU" i="1" dirty="0" err="1" smtClean="0"/>
              <a:t>M</a:t>
            </a:r>
            <a:r>
              <a:rPr lang="hu-HU" i="1" baseline="-25000" dirty="0" err="1" smtClean="0"/>
              <a:t>PMI</a:t>
            </a:r>
            <a:r>
              <a:rPr lang="hu-HU" i="1" dirty="0" smtClean="0"/>
              <a:t> </a:t>
            </a:r>
            <a:r>
              <a:rPr lang="hu-HU" dirty="0" smtClean="0"/>
              <a:t>≈ </a:t>
            </a:r>
            <a:r>
              <a:rPr lang="hu-HU" i="1" dirty="0" err="1" smtClean="0"/>
              <a:t>W</a:t>
            </a:r>
            <a:r>
              <a:rPr lang="hu-HU" i="1" baseline="-25000" dirty="0" err="1" smtClean="0"/>
              <a:t>d</a:t>
            </a:r>
            <a:r>
              <a:rPr lang="hu-HU" i="1" dirty="0" smtClean="0"/>
              <a:t> </a:t>
            </a:r>
            <a:r>
              <a:rPr lang="hu-HU" i="1" dirty="0" err="1" smtClean="0"/>
              <a:t>C</a:t>
            </a:r>
            <a:r>
              <a:rPr lang="hu-HU" i="1" baseline="-25000" dirty="0" err="1" smtClean="0"/>
              <a:t>d</a:t>
            </a:r>
            <a:r>
              <a:rPr lang="hu-HU" baseline="30000" dirty="0" err="1" smtClean="0"/>
              <a:t>T</a:t>
            </a:r>
            <a:endParaRPr lang="hu-HU" baseline="30000" dirty="0" smtClean="0"/>
          </a:p>
          <a:p>
            <a:pPr lvl="1"/>
            <a:r>
              <a:rPr lang="hu-HU" dirty="0" smtClean="0"/>
              <a:t>optimális azt jelenti, hogy a két mátrix szorzata annyira pontosan közelít </a:t>
            </a:r>
            <a:r>
              <a:rPr lang="hu-HU" i="1" dirty="0" err="1" smtClean="0"/>
              <a:t>M</a:t>
            </a:r>
            <a:r>
              <a:rPr lang="hu-HU" i="1" baseline="-25000" dirty="0" err="1" smtClean="0"/>
              <a:t>PMI</a:t>
            </a:r>
            <a:r>
              <a:rPr lang="hu-HU" dirty="0" err="1" smtClean="0"/>
              <a:t>-hez</a:t>
            </a:r>
            <a:r>
              <a:rPr lang="hu-HU" dirty="0" smtClean="0"/>
              <a:t>, amennyire </a:t>
            </a:r>
            <a:r>
              <a:rPr lang="hu-HU" i="1" dirty="0" smtClean="0"/>
              <a:t>d </a:t>
            </a:r>
            <a:r>
              <a:rPr lang="hu-HU" dirty="0" smtClean="0"/>
              <a:t>dimenzióval lehetséges</a:t>
            </a:r>
            <a:endParaRPr lang="hu-HU" dirty="0" smtClean="0"/>
          </a:p>
          <a:p>
            <a:pPr lvl="1"/>
            <a:r>
              <a:rPr lang="hu-HU" dirty="0" smtClean="0"/>
              <a:t>ideális esetben a szorzat azonos </a:t>
            </a:r>
            <a:r>
              <a:rPr lang="hu-HU" i="1" dirty="0" err="1" smtClean="0"/>
              <a:t>M</a:t>
            </a:r>
            <a:r>
              <a:rPr lang="hu-HU" i="1" baseline="-25000" dirty="0" err="1" smtClean="0"/>
              <a:t>PMI</a:t>
            </a:r>
            <a:r>
              <a:rPr lang="hu-HU" dirty="0" err="1" smtClean="0"/>
              <a:t>-vel</a:t>
            </a:r>
            <a:r>
              <a:rPr lang="hu-HU" dirty="0" smtClean="0"/>
              <a:t>, de </a:t>
            </a:r>
            <a:r>
              <a:rPr lang="hu-HU" i="1" dirty="0" smtClean="0"/>
              <a:t>d </a:t>
            </a:r>
            <a:r>
              <a:rPr lang="hu-HU" dirty="0" smtClean="0"/>
              <a:t>dimenzió nem feltétlenül elegendő a kiinduló mátrix két ilyen mátrixra történő pontos felbontására, </a:t>
            </a:r>
            <a:r>
              <a:rPr lang="hu-HU" dirty="0" err="1" smtClean="0"/>
              <a:t>M</a:t>
            </a:r>
            <a:r>
              <a:rPr lang="hu-HU" baseline="-25000" dirty="0" err="1" smtClean="0"/>
              <a:t>PMI</a:t>
            </a:r>
            <a:r>
              <a:rPr lang="hu-HU" baseline="-25000" dirty="0" smtClean="0"/>
              <a:t> </a:t>
            </a:r>
            <a:r>
              <a:rPr lang="hu-HU" dirty="0"/>
              <a:t>tartalmától </a:t>
            </a:r>
            <a:r>
              <a:rPr lang="hu-HU" dirty="0" smtClean="0"/>
              <a:t>függően</a:t>
            </a:r>
            <a:endParaRPr lang="hu-HU" baseline="-25000" dirty="0" smtClean="0"/>
          </a:p>
          <a:p>
            <a:r>
              <a:rPr lang="hu-HU" dirty="0" smtClean="0"/>
              <a:t>A szerzők azt is tárgyalják, hogy hogyan lehet pontos, determinisztikus felbontását elvégezni a </a:t>
            </a:r>
            <a:r>
              <a:rPr lang="hu-HU" dirty="0" err="1" smtClean="0"/>
              <a:t>PMI</a:t>
            </a:r>
            <a:r>
              <a:rPr lang="hu-HU" dirty="0" smtClean="0"/>
              <a:t> mátrixnak vagy valamely változatának matematikai módszerekkel</a:t>
            </a:r>
          </a:p>
        </p:txBody>
      </p:sp>
    </p:spTree>
    <p:extLst>
      <p:ext uri="{BB962C8B-B14F-4D97-AF65-F5344CB8AC3E}">
        <p14:creationId xmlns:p14="http://schemas.microsoft.com/office/powerpoint/2010/main" val="1135166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GloVe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 smtClean="0"/>
              <a:t>Az az elképzelés, hogy a sztochasztikus </a:t>
            </a:r>
            <a:r>
              <a:rPr lang="hu-HU" dirty="0" err="1" smtClean="0"/>
              <a:t>gradiensmódszerrel</a:t>
            </a:r>
            <a:r>
              <a:rPr lang="hu-HU" dirty="0" smtClean="0"/>
              <a:t> történő tanítás nem ideális megoldás a szóvektorok meghatározására, hanem jobb lenne ezt szóelőfordulások vektorának felbontásával megoldani, a Stanford kutatói, </a:t>
            </a:r>
            <a:r>
              <a:rPr lang="hu-HU" dirty="0" err="1" smtClean="0"/>
              <a:t>Pennington</a:t>
            </a:r>
            <a:r>
              <a:rPr lang="hu-HU" dirty="0" smtClean="0"/>
              <a:t>, </a:t>
            </a:r>
            <a:r>
              <a:rPr lang="hu-HU" dirty="0" err="1" smtClean="0"/>
              <a:t>Socher</a:t>
            </a:r>
            <a:r>
              <a:rPr lang="hu-HU" dirty="0" smtClean="0"/>
              <a:t> </a:t>
            </a:r>
            <a:r>
              <a:rPr lang="hu-HU" dirty="0" smtClean="0"/>
              <a:t>és </a:t>
            </a:r>
            <a:r>
              <a:rPr lang="hu-HU" dirty="0" err="1" smtClean="0"/>
              <a:t>Manning</a:t>
            </a:r>
            <a:r>
              <a:rPr lang="hu-HU" dirty="0"/>
              <a:t> </a:t>
            </a:r>
            <a:r>
              <a:rPr lang="hu-HU" dirty="0" smtClean="0"/>
              <a:t>által</a:t>
            </a:r>
            <a:r>
              <a:rPr lang="hu-HU" dirty="0" smtClean="0"/>
              <a:t> 2014-ben javasolt </a:t>
            </a:r>
            <a:r>
              <a:rPr lang="hu-HU" dirty="0" err="1" smtClean="0"/>
              <a:t>GloVe</a:t>
            </a:r>
            <a:r>
              <a:rPr lang="hu-HU" dirty="0" smtClean="0"/>
              <a:t> </a:t>
            </a:r>
            <a:r>
              <a:rPr lang="hu-HU" dirty="0" smtClean="0"/>
              <a:t>(</a:t>
            </a:r>
            <a:r>
              <a:rPr lang="hu-HU" dirty="0" smtClean="0">
                <a:hlinkClick r:id="rId2"/>
              </a:rPr>
              <a:t>Global </a:t>
            </a:r>
            <a:r>
              <a:rPr lang="hu-HU" dirty="0" err="1" smtClean="0">
                <a:hlinkClick r:id="rId2"/>
              </a:rPr>
              <a:t>Vectors</a:t>
            </a:r>
            <a:r>
              <a:rPr lang="hu-HU" dirty="0" smtClean="0">
                <a:hlinkClick r:id="rId2"/>
              </a:rPr>
              <a:t> </a:t>
            </a:r>
            <a:r>
              <a:rPr lang="hu-HU" dirty="0" err="1" smtClean="0">
                <a:hlinkClick r:id="rId2"/>
              </a:rPr>
              <a:t>for</a:t>
            </a:r>
            <a:r>
              <a:rPr lang="hu-HU" dirty="0" smtClean="0">
                <a:hlinkClick r:id="rId2"/>
              </a:rPr>
              <a:t> Word </a:t>
            </a:r>
            <a:r>
              <a:rPr lang="hu-HU" dirty="0" err="1" smtClean="0">
                <a:hlinkClick r:id="rId2"/>
              </a:rPr>
              <a:t>Representation</a:t>
            </a:r>
            <a:r>
              <a:rPr lang="hu-HU" dirty="0" smtClean="0"/>
              <a:t>) módszernek is motivációjául szolgált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2067814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3241</Words>
  <Application>Microsoft Office PowerPoint</Application>
  <PresentationFormat>Diavetítés a képernyőre (4:3 oldalarány)</PresentationFormat>
  <Paragraphs>295</Paragraphs>
  <Slides>22</Slides>
  <Notes>3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22</vt:i4>
      </vt:variant>
    </vt:vector>
  </HeadingPairs>
  <TitlesOfParts>
    <vt:vector size="23" baseType="lpstr">
      <vt:lpstr>Office-téma</vt:lpstr>
      <vt:lpstr>Természetes nyelvek feldolgozása Disztribúciós szemantika</vt:lpstr>
      <vt:lpstr>Célkitűzés</vt:lpstr>
      <vt:lpstr>Disztribúció</vt:lpstr>
      <vt:lpstr>Disztribúciós hipotézis</vt:lpstr>
      <vt:lpstr>Szóvektorok</vt:lpstr>
      <vt:lpstr>Együtt előfordulások mátrixa</vt:lpstr>
      <vt:lpstr>Latens szemantikus elemzés</vt:lpstr>
      <vt:lpstr>Történeti áttekintés</vt:lpstr>
      <vt:lpstr>Történeti áttekintés</vt:lpstr>
      <vt:lpstr>Történeti áttekintés</vt:lpstr>
      <vt:lpstr>Mit tud a disztribúciós szemantika?</vt:lpstr>
      <vt:lpstr>Mit tud a disztribúciós szemantika?</vt:lpstr>
      <vt:lpstr>Mit nem tud?</vt:lpstr>
      <vt:lpstr>Mit nem tud?</vt:lpstr>
      <vt:lpstr>Mit nem tud?</vt:lpstr>
      <vt:lpstr>Implementáció: Kifejezésmátrix</vt:lpstr>
      <vt:lpstr>TF-IDF</vt:lpstr>
      <vt:lpstr>Implementáció: szinguláris felbontás</vt:lpstr>
      <vt:lpstr>Implementáció: LSA</vt:lpstr>
      <vt:lpstr>word2vec</vt:lpstr>
      <vt:lpstr>word2vec</vt:lpstr>
      <vt:lpstr>GloVe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Természetes nyelvek feldolgozása Disztribúciós szemantika</dc:title>
  <dc:creator>Anonim</dc:creator>
  <cp:lastModifiedBy>Anonim</cp:lastModifiedBy>
  <cp:revision>18</cp:revision>
  <dcterms:created xsi:type="dcterms:W3CDTF">2025-11-28T00:56:47Z</dcterms:created>
  <dcterms:modified xsi:type="dcterms:W3CDTF">2025-11-28T10:14:02Z</dcterms:modified>
</cp:coreProperties>
</file>
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998" y="119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916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276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05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04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101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3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33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7723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634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7186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19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CCFD7-26E2-4CE4-BA37-E039CA9FF0DE}" type="datetimeFigureOut">
              <a:rPr lang="en-GB" smtClean="0"/>
              <a:t>27/11/2025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EED49-F0E4-4864-9C55-D00EE86E7D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947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nglish-corpora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inst/SentAlign/" TargetMode="External"/><Relationship Id="rId2" Type="http://schemas.openxmlformats.org/officeDocument/2006/relationships/hyperlink" Target="http://mokk.bme.hu/resources/hunalign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etchengine.eu/wp-content/uploads/The_Sketch_Engine_2004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ketchengine.eu/guide/word-sketch-collocations-and-word-combination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ketchengine.eu/documentation/the-corpus-configuration-file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Természetes nyelvek feldolgozása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sz="3200" i="1" dirty="0" smtClean="0"/>
              <a:t>Korpuszok és </a:t>
            </a:r>
            <a:r>
              <a:rPr lang="hu-HU" sz="3200" i="1" dirty="0" err="1" smtClean="0"/>
              <a:t>NoSketchEngine</a:t>
            </a:r>
            <a:endParaRPr lang="en-GB" sz="3200" i="1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u-HU" dirty="0"/>
              <a:t>Pethő Gergely</a:t>
            </a:r>
          </a:p>
          <a:p>
            <a:r>
              <a:rPr lang="hu-HU" dirty="0" smtClean="0"/>
              <a:t>2025.10.31.</a:t>
            </a:r>
            <a:endParaRPr lang="hu-HU" dirty="0"/>
          </a:p>
          <a:p>
            <a:r>
              <a:rPr lang="hu-HU" dirty="0"/>
              <a:t>DE </a:t>
            </a:r>
            <a:r>
              <a:rPr lang="hu-HU" dirty="0" err="1"/>
              <a:t>ETK</a:t>
            </a:r>
            <a:r>
              <a:rPr lang="hu-HU" dirty="0"/>
              <a:t> </a:t>
            </a:r>
            <a:r>
              <a:rPr lang="hu-HU" dirty="0" err="1"/>
              <a:t>Bioinformatikai</a:t>
            </a:r>
            <a:r>
              <a:rPr lang="hu-HU" dirty="0"/>
              <a:t> Tanszék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215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Korpuszok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A korpusz (latin, jelentése: test) </a:t>
            </a:r>
            <a:r>
              <a:rPr lang="hu-HU" b="1" dirty="0" smtClean="0"/>
              <a:t>szövegek gyűjteménye</a:t>
            </a:r>
            <a:r>
              <a:rPr lang="hu-HU" dirty="0" smtClean="0"/>
              <a:t>, amelyeket </a:t>
            </a:r>
            <a:r>
              <a:rPr lang="hu-HU" b="1" dirty="0" smtClean="0"/>
              <a:t>együtt tárolnak és dolgoznak fe</a:t>
            </a:r>
            <a:r>
              <a:rPr lang="hu-HU" dirty="0" smtClean="0"/>
              <a:t>l.</a:t>
            </a:r>
          </a:p>
          <a:p>
            <a:pPr lvl="1"/>
            <a:r>
              <a:rPr lang="en-GB" dirty="0" smtClean="0"/>
              <a:t>A </a:t>
            </a:r>
            <a:r>
              <a:rPr lang="en-GB" dirty="0" err="1" smtClean="0"/>
              <a:t>gyakorlatban</a:t>
            </a:r>
            <a:r>
              <a:rPr lang="en-GB" dirty="0" smtClean="0"/>
              <a:t> </a:t>
            </a:r>
            <a:r>
              <a:rPr lang="en-GB" dirty="0" err="1" smtClean="0"/>
              <a:t>szinte</a:t>
            </a:r>
            <a:r>
              <a:rPr lang="en-GB" dirty="0" smtClean="0"/>
              <a:t> </a:t>
            </a:r>
            <a:r>
              <a:rPr lang="en-GB" dirty="0" err="1" smtClean="0"/>
              <a:t>mindig</a:t>
            </a:r>
            <a:r>
              <a:rPr lang="en-GB" dirty="0" smtClean="0"/>
              <a:t> </a:t>
            </a:r>
            <a:r>
              <a:rPr lang="en-GB" dirty="0" err="1" smtClean="0"/>
              <a:t>elektronikus</a:t>
            </a:r>
            <a:r>
              <a:rPr lang="en-GB" dirty="0" smtClean="0"/>
              <a:t> </a:t>
            </a:r>
            <a:r>
              <a:rPr lang="en-GB" dirty="0" err="1" smtClean="0"/>
              <a:t>szövegek</a:t>
            </a:r>
            <a:r>
              <a:rPr lang="en-GB" dirty="0" smtClean="0"/>
              <a:t>.</a:t>
            </a:r>
          </a:p>
          <a:p>
            <a:pPr lvl="1"/>
            <a:r>
              <a:rPr lang="hu-HU" b="1" dirty="0" smtClean="0"/>
              <a:t>Tetszőleges számú </a:t>
            </a:r>
            <a:r>
              <a:rPr lang="en-GB" b="1" dirty="0" err="1" smtClean="0"/>
              <a:t>szöveget</a:t>
            </a:r>
            <a:r>
              <a:rPr lang="en-GB" b="1" dirty="0" smtClean="0"/>
              <a:t> </a:t>
            </a:r>
            <a:r>
              <a:rPr lang="en-GB" dirty="0" err="1" smtClean="0"/>
              <a:t>tartalmazhat</a:t>
            </a:r>
            <a:r>
              <a:rPr lang="en-GB" dirty="0" smtClean="0"/>
              <a:t>, </a:t>
            </a:r>
            <a:r>
              <a:rPr lang="hu-HU" dirty="0" smtClean="0"/>
              <a:t>végső </a:t>
            </a:r>
            <a:r>
              <a:rPr lang="en-GB" dirty="0" err="1" smtClean="0"/>
              <a:t>esetben</a:t>
            </a:r>
            <a:r>
              <a:rPr lang="en-GB" dirty="0" smtClean="0"/>
              <a:t> </a:t>
            </a:r>
            <a:r>
              <a:rPr lang="en-GB" dirty="0" err="1" smtClean="0"/>
              <a:t>akár</a:t>
            </a:r>
            <a:r>
              <a:rPr lang="en-GB" dirty="0" smtClean="0"/>
              <a:t> </a:t>
            </a:r>
            <a:r>
              <a:rPr lang="en-GB" dirty="0" err="1" smtClean="0"/>
              <a:t>egyet</a:t>
            </a:r>
            <a:r>
              <a:rPr lang="en-GB" dirty="0" smtClean="0"/>
              <a:t> is.</a:t>
            </a:r>
          </a:p>
          <a:p>
            <a:pPr lvl="1"/>
            <a:r>
              <a:rPr lang="hu-HU" dirty="0" smtClean="0"/>
              <a:t>Maga a világháló is tekinthető korpusznak (a web mint korpusz – web </a:t>
            </a:r>
            <a:r>
              <a:rPr lang="hu-HU" dirty="0" err="1" smtClean="0"/>
              <a:t>as</a:t>
            </a:r>
            <a:r>
              <a:rPr lang="hu-HU" dirty="0" smtClean="0"/>
              <a:t> a corpus).</a:t>
            </a:r>
          </a:p>
          <a:p>
            <a:pPr lvl="1"/>
            <a:r>
              <a:rPr lang="hu-HU" dirty="0" smtClean="0"/>
              <a:t>Az angolban </a:t>
            </a:r>
            <a:r>
              <a:rPr lang="hu-HU" i="1" dirty="0" smtClean="0"/>
              <a:t>corpus, </a:t>
            </a:r>
            <a:r>
              <a:rPr lang="hu-HU" dirty="0" smtClean="0"/>
              <a:t>többes száma az eredeti latin szó többes számával egyező </a:t>
            </a:r>
            <a:r>
              <a:rPr lang="hu-HU" i="1" dirty="0" err="1" smtClean="0"/>
              <a:t>corpora</a:t>
            </a:r>
            <a:r>
              <a:rPr lang="hu-HU" i="1" dirty="0" smtClean="0"/>
              <a:t>, </a:t>
            </a:r>
            <a:r>
              <a:rPr lang="hu-HU" dirty="0" smtClean="0"/>
              <a:t>tehát nem </a:t>
            </a:r>
            <a:r>
              <a:rPr lang="hu-HU" i="1" dirty="0" err="1" smtClean="0"/>
              <a:t>corpuses</a:t>
            </a:r>
            <a:r>
              <a:rPr lang="hu-HU" i="1" dirty="0" smtClean="0"/>
              <a:t>, </a:t>
            </a:r>
            <a:r>
              <a:rPr lang="hu-HU" dirty="0" smtClean="0"/>
              <a:t>ahogy ez megszokott a latin és általában az idegen eredetű szavak esetében az angolban.</a:t>
            </a:r>
          </a:p>
          <a:p>
            <a:r>
              <a:rPr lang="en-GB" dirty="0" err="1" smtClean="0"/>
              <a:t>Magukon</a:t>
            </a:r>
            <a:r>
              <a:rPr lang="en-GB" dirty="0" smtClean="0"/>
              <a:t> a </a:t>
            </a:r>
            <a:r>
              <a:rPr lang="en-GB" dirty="0" err="1" smtClean="0"/>
              <a:t>szövegeken</a:t>
            </a:r>
            <a:r>
              <a:rPr lang="en-GB" dirty="0" smtClean="0"/>
              <a:t> </a:t>
            </a:r>
            <a:r>
              <a:rPr lang="en-GB" dirty="0" err="1" smtClean="0"/>
              <a:t>túl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korpusz</a:t>
            </a:r>
            <a:r>
              <a:rPr lang="en-GB" dirty="0" smtClean="0"/>
              <a:t> </a:t>
            </a:r>
            <a:r>
              <a:rPr lang="en-GB" dirty="0" err="1" smtClean="0"/>
              <a:t>általában</a:t>
            </a:r>
            <a:r>
              <a:rPr lang="en-GB" dirty="0" smtClean="0"/>
              <a:t> a </a:t>
            </a:r>
            <a:r>
              <a:rPr lang="en-GB" dirty="0" err="1" smtClean="0"/>
              <a:t>szövegeket</a:t>
            </a:r>
            <a:r>
              <a:rPr lang="en-GB" dirty="0" smtClean="0"/>
              <a:t> </a:t>
            </a:r>
            <a:r>
              <a:rPr lang="en-GB" dirty="0" err="1" smtClean="0"/>
              <a:t>leíró</a:t>
            </a:r>
            <a:r>
              <a:rPr lang="en-GB" dirty="0" smtClean="0"/>
              <a:t> </a:t>
            </a:r>
            <a:r>
              <a:rPr lang="en-GB" b="1" dirty="0" err="1" smtClean="0"/>
              <a:t>metaadatokat</a:t>
            </a:r>
            <a:r>
              <a:rPr lang="en-GB" dirty="0" smtClean="0"/>
              <a:t> is </a:t>
            </a:r>
            <a:r>
              <a:rPr lang="en-GB" dirty="0" err="1" smtClean="0"/>
              <a:t>tartalmaz</a:t>
            </a:r>
            <a:r>
              <a:rPr lang="en-GB" dirty="0" smtClean="0"/>
              <a:t>:</a:t>
            </a:r>
          </a:p>
          <a:p>
            <a:pPr lvl="1"/>
            <a:r>
              <a:rPr lang="hu-HU" dirty="0" smtClean="0"/>
              <a:t>Szerző, cím, dátum </a:t>
            </a:r>
          </a:p>
          <a:p>
            <a:pPr lvl="1"/>
            <a:r>
              <a:rPr lang="hu-HU" dirty="0" smtClean="0"/>
              <a:t>Forrás: honnan származik a szöveg, pl. milyen URL-ről töltötték le, mikor </a:t>
            </a:r>
          </a:p>
          <a:p>
            <a:pPr lvl="1"/>
            <a:r>
              <a:rPr lang="hu-HU" dirty="0" smtClean="0"/>
              <a:t>Egyéb leíró adatok: kulcsszavak, műfaji címkék, nyelv</a:t>
            </a:r>
          </a:p>
        </p:txBody>
      </p:sp>
    </p:spTree>
    <p:extLst>
      <p:ext uri="{BB962C8B-B14F-4D97-AF65-F5344CB8AC3E}">
        <p14:creationId xmlns:p14="http://schemas.microsoft.com/office/powerpoint/2010/main" val="125780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Korpuszok főbb típusai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 smtClean="0"/>
              <a:t>A </a:t>
            </a:r>
            <a:r>
              <a:rPr lang="en-GB" b="1" dirty="0" err="1" smtClean="0"/>
              <a:t>nyelv</a:t>
            </a:r>
            <a:r>
              <a:rPr lang="en-GB" b="1" dirty="0" smtClean="0"/>
              <a:t> </a:t>
            </a:r>
            <a:r>
              <a:rPr lang="en-GB" b="1" dirty="0" err="1" smtClean="0"/>
              <a:t>szempontjából</a:t>
            </a:r>
            <a:r>
              <a:rPr lang="en-GB" b="1" dirty="0" smtClean="0"/>
              <a:t>:</a:t>
            </a:r>
            <a:r>
              <a:rPr lang="en-GB" dirty="0" smtClean="0"/>
              <a:t> </a:t>
            </a:r>
          </a:p>
          <a:p>
            <a:pPr lvl="1"/>
            <a:r>
              <a:rPr lang="hu-HU" dirty="0" smtClean="0"/>
              <a:t>Egynyelvű</a:t>
            </a:r>
          </a:p>
          <a:p>
            <a:pPr lvl="1"/>
            <a:r>
              <a:rPr lang="hu-HU" dirty="0" smtClean="0"/>
              <a:t>Többnyelvű, beleértve a kétnyelvűt is</a:t>
            </a:r>
          </a:p>
          <a:p>
            <a:pPr lvl="2"/>
            <a:r>
              <a:rPr lang="hu-HU" b="1" dirty="0" err="1"/>
              <a:t>p</a:t>
            </a:r>
            <a:r>
              <a:rPr lang="en-GB" b="1" dirty="0" err="1" smtClean="0"/>
              <a:t>árhuzamos</a:t>
            </a:r>
            <a:r>
              <a:rPr lang="en-GB" b="1" dirty="0" smtClean="0"/>
              <a:t> </a:t>
            </a:r>
            <a:r>
              <a:rPr lang="en-GB" b="1" dirty="0" err="1" smtClean="0"/>
              <a:t>korpusz</a:t>
            </a:r>
            <a:r>
              <a:rPr lang="en-GB" b="1" dirty="0" smtClean="0"/>
              <a:t>:</a:t>
            </a:r>
            <a:r>
              <a:rPr lang="en-GB" dirty="0" smtClean="0"/>
              <a:t> </a:t>
            </a:r>
            <a:r>
              <a:rPr lang="en-GB" dirty="0" err="1" smtClean="0"/>
              <a:t>ugyanazon</a:t>
            </a:r>
            <a:r>
              <a:rPr lang="en-GB" dirty="0" smtClean="0"/>
              <a:t> </a:t>
            </a:r>
            <a:r>
              <a:rPr lang="en-GB" dirty="0" err="1" smtClean="0"/>
              <a:t>szöveg</a:t>
            </a:r>
            <a:r>
              <a:rPr lang="en-GB" dirty="0" smtClean="0"/>
              <a:t> </a:t>
            </a:r>
            <a:r>
              <a:rPr lang="en-GB" dirty="0" err="1" smtClean="0"/>
              <a:t>fordítását</a:t>
            </a:r>
            <a:r>
              <a:rPr lang="en-GB" dirty="0" smtClean="0"/>
              <a:t>(</a:t>
            </a:r>
            <a:r>
              <a:rPr lang="hu-HU" dirty="0" smtClean="0"/>
              <a:t>/</a:t>
            </a:r>
            <a:r>
              <a:rPr lang="en-GB" dirty="0" smtClean="0"/>
              <a:t>ait) </a:t>
            </a:r>
            <a:r>
              <a:rPr lang="en-GB" dirty="0" err="1" smtClean="0"/>
              <a:t>tartalmazza</a:t>
            </a:r>
            <a:r>
              <a:rPr lang="en-GB" dirty="0" smtClean="0"/>
              <a:t> </a:t>
            </a:r>
            <a:r>
              <a:rPr lang="en-GB" dirty="0" err="1" smtClean="0"/>
              <a:t>több</a:t>
            </a:r>
            <a:r>
              <a:rPr lang="en-GB" dirty="0" smtClean="0"/>
              <a:t> </a:t>
            </a:r>
            <a:r>
              <a:rPr lang="en-GB" dirty="0" err="1" smtClean="0"/>
              <a:t>nyelven</a:t>
            </a:r>
            <a:r>
              <a:rPr lang="hu-HU" dirty="0" smtClean="0"/>
              <a:t>, legjobb példa: </a:t>
            </a:r>
            <a:r>
              <a:rPr lang="hu-HU" dirty="0" err="1" smtClean="0"/>
              <a:t>https</a:t>
            </a:r>
            <a:r>
              <a:rPr lang="hu-HU" dirty="0" smtClean="0"/>
              <a:t>://</a:t>
            </a:r>
            <a:r>
              <a:rPr lang="hu-HU" dirty="0" err="1" smtClean="0"/>
              <a:t>opus.nlpl.eu</a:t>
            </a:r>
            <a:r>
              <a:rPr lang="hu-HU" dirty="0" smtClean="0"/>
              <a:t>/</a:t>
            </a:r>
          </a:p>
          <a:p>
            <a:pPr lvl="3"/>
            <a:r>
              <a:rPr lang="en-GB" dirty="0" err="1" smtClean="0"/>
              <a:t>Használható</a:t>
            </a:r>
            <a:r>
              <a:rPr lang="en-GB" dirty="0" smtClean="0"/>
              <a:t> </a:t>
            </a:r>
            <a:r>
              <a:rPr lang="en-GB" dirty="0" err="1" smtClean="0"/>
              <a:t>gépi</a:t>
            </a:r>
            <a:r>
              <a:rPr lang="en-GB" dirty="0" smtClean="0"/>
              <a:t> </a:t>
            </a:r>
            <a:r>
              <a:rPr lang="en-GB" dirty="0" err="1" smtClean="0"/>
              <a:t>tanulási</a:t>
            </a:r>
            <a:r>
              <a:rPr lang="en-GB" dirty="0" smtClean="0"/>
              <a:t> </a:t>
            </a:r>
            <a:r>
              <a:rPr lang="en-GB" dirty="0" err="1" smtClean="0"/>
              <a:t>rendszerek</a:t>
            </a:r>
            <a:r>
              <a:rPr lang="en-GB" dirty="0" smtClean="0"/>
              <a:t> </a:t>
            </a:r>
            <a:r>
              <a:rPr lang="en-GB" dirty="0" err="1" smtClean="0"/>
              <a:t>betanítására</a:t>
            </a:r>
            <a:r>
              <a:rPr lang="en-GB" dirty="0" smtClean="0"/>
              <a:t>, </a:t>
            </a:r>
            <a:r>
              <a:rPr lang="en-GB" dirty="0" err="1" smtClean="0"/>
              <a:t>emberi</a:t>
            </a:r>
            <a:r>
              <a:rPr lang="en-GB" dirty="0" smtClean="0"/>
              <a:t> </a:t>
            </a:r>
            <a:r>
              <a:rPr lang="en-GB" dirty="0" err="1" smtClean="0"/>
              <a:t>fordítók</a:t>
            </a:r>
            <a:r>
              <a:rPr lang="en-GB" dirty="0" smtClean="0"/>
              <a:t> </a:t>
            </a:r>
            <a:r>
              <a:rPr lang="en-GB" dirty="0" err="1" smtClean="0"/>
              <a:t>támogatására</a:t>
            </a:r>
            <a:r>
              <a:rPr lang="en-GB" dirty="0" smtClean="0"/>
              <a:t> (</a:t>
            </a:r>
            <a:r>
              <a:rPr lang="en-GB" dirty="0" err="1" smtClean="0"/>
              <a:t>számítógéppel</a:t>
            </a:r>
            <a:r>
              <a:rPr lang="en-GB" dirty="0" smtClean="0"/>
              <a:t> </a:t>
            </a:r>
            <a:r>
              <a:rPr lang="en-GB" dirty="0" err="1" smtClean="0"/>
              <a:t>segített</a:t>
            </a:r>
            <a:r>
              <a:rPr lang="en-GB" dirty="0" smtClean="0"/>
              <a:t> </a:t>
            </a:r>
            <a:r>
              <a:rPr lang="en-GB" dirty="0" err="1" smtClean="0"/>
              <a:t>fordítás</a:t>
            </a:r>
            <a:r>
              <a:rPr lang="en-GB" dirty="0" smtClean="0"/>
              <a:t>).</a:t>
            </a:r>
          </a:p>
          <a:p>
            <a:pPr lvl="2"/>
            <a:r>
              <a:rPr lang="hu-HU" b="1" dirty="0"/>
              <a:t>ö</a:t>
            </a:r>
            <a:r>
              <a:rPr lang="hu-HU" b="1" dirty="0" smtClean="0"/>
              <a:t>sszehasonlítható korpusz:</a:t>
            </a:r>
            <a:r>
              <a:rPr lang="hu-HU" dirty="0" smtClean="0"/>
              <a:t> különböző szövegeket tartalmaz különböző nyelveken, amelyek műfaj, téma tekintetében hasonlóak</a:t>
            </a:r>
          </a:p>
          <a:p>
            <a:pPr lvl="3"/>
            <a:r>
              <a:rPr lang="en-GB" dirty="0" smtClean="0"/>
              <a:t>Pl. </a:t>
            </a:r>
            <a:r>
              <a:rPr lang="en-GB" dirty="0" err="1" smtClean="0"/>
              <a:t>közösségimédia</a:t>
            </a:r>
            <a:r>
              <a:rPr lang="hu-HU" dirty="0" err="1" smtClean="0"/>
              <a:t>-posztok</a:t>
            </a:r>
            <a:r>
              <a:rPr lang="hu-HU" dirty="0" smtClean="0"/>
              <a:t> </a:t>
            </a:r>
            <a:r>
              <a:rPr lang="en-GB" dirty="0" err="1" smtClean="0"/>
              <a:t>angolul</a:t>
            </a:r>
            <a:r>
              <a:rPr lang="en-GB" dirty="0" smtClean="0"/>
              <a:t>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en-GB" dirty="0" err="1" smtClean="0"/>
              <a:t>magyarul</a:t>
            </a:r>
            <a:r>
              <a:rPr lang="en-GB" dirty="0" smtClean="0"/>
              <a:t>.</a:t>
            </a:r>
          </a:p>
          <a:p>
            <a:r>
              <a:rPr lang="hu-HU" b="1" dirty="0" smtClean="0"/>
              <a:t>T</a:t>
            </a:r>
            <a:r>
              <a:rPr lang="en-GB" b="1" dirty="0" err="1" smtClean="0"/>
              <a:t>artalom</a:t>
            </a:r>
            <a:r>
              <a:rPr lang="en-GB" b="1" dirty="0" smtClean="0"/>
              <a:t> </a:t>
            </a:r>
            <a:r>
              <a:rPr lang="en-GB" b="1" dirty="0" err="1" smtClean="0"/>
              <a:t>szempontjából</a:t>
            </a:r>
            <a:r>
              <a:rPr lang="en-GB" b="1" dirty="0" smtClean="0"/>
              <a:t>:</a:t>
            </a:r>
            <a:r>
              <a:rPr lang="en-GB" dirty="0" smtClean="0"/>
              <a:t> </a:t>
            </a:r>
          </a:p>
          <a:p>
            <a:pPr lvl="1"/>
            <a:r>
              <a:rPr lang="hu-HU" b="1" dirty="0" smtClean="0"/>
              <a:t>Általános:</a:t>
            </a:r>
            <a:r>
              <a:rPr lang="hu-HU" dirty="0" smtClean="0"/>
              <a:t> különböző típusú szövegek, általában egy nyelv szövegeiből vett kényelmi minta (mi érhető el könnyen?)</a:t>
            </a:r>
          </a:p>
          <a:p>
            <a:pPr lvl="1"/>
            <a:r>
              <a:rPr lang="hu-HU" b="1" dirty="0" smtClean="0"/>
              <a:t>Kiegyensúlyozott:</a:t>
            </a:r>
            <a:r>
              <a:rPr lang="hu-HU" dirty="0" smtClean="0"/>
              <a:t> rétegzett minta, megpróbál mintákat gyűjteni az összes olyan szövegtípusból/műfajból, amelyet egy nyelven előállítanak, tükrözni próbálja a műfajok relatív mennyiségét.</a:t>
            </a:r>
          </a:p>
          <a:p>
            <a:pPr lvl="2"/>
            <a:r>
              <a:rPr lang="en-GB" dirty="0" err="1" smtClean="0"/>
              <a:t>Klasszikus</a:t>
            </a:r>
            <a:r>
              <a:rPr lang="en-GB" dirty="0" smtClean="0"/>
              <a:t> </a:t>
            </a:r>
            <a:r>
              <a:rPr lang="en-GB" dirty="0" err="1" smtClean="0"/>
              <a:t>példa</a:t>
            </a:r>
            <a:r>
              <a:rPr lang="en-GB" dirty="0" smtClean="0"/>
              <a:t>: Brit </a:t>
            </a:r>
            <a:r>
              <a:rPr lang="en-GB" dirty="0" err="1" smtClean="0"/>
              <a:t>Nemzeti</a:t>
            </a:r>
            <a:r>
              <a:rPr lang="en-GB" dirty="0" smtClean="0"/>
              <a:t> </a:t>
            </a:r>
            <a:r>
              <a:rPr lang="en-GB" dirty="0" err="1" smtClean="0"/>
              <a:t>Korpusz</a:t>
            </a:r>
            <a:r>
              <a:rPr lang="en-GB" dirty="0" smtClean="0"/>
              <a:t> (</a:t>
            </a:r>
            <a:r>
              <a:rPr lang="en-GB" i="1" dirty="0" smtClean="0"/>
              <a:t>British National Corpus - BNC</a:t>
            </a:r>
            <a:r>
              <a:rPr lang="en-GB" dirty="0" smtClean="0"/>
              <a:t>).</a:t>
            </a:r>
          </a:p>
          <a:p>
            <a:pPr lvl="1"/>
            <a:r>
              <a:rPr lang="hu-HU" b="1" dirty="0" err="1" smtClean="0"/>
              <a:t>Műfajspecifikus</a:t>
            </a:r>
            <a:r>
              <a:rPr lang="hu-HU" b="1" dirty="0" smtClean="0"/>
              <a:t>:</a:t>
            </a:r>
            <a:r>
              <a:rPr lang="hu-HU" dirty="0" smtClean="0"/>
              <a:t> pl. újságírói, jogi, gyermekkönyvek, parlamenti beszédek.</a:t>
            </a:r>
          </a:p>
          <a:p>
            <a:pPr lvl="2"/>
            <a:r>
              <a:rPr lang="en-GB" dirty="0" err="1" smtClean="0"/>
              <a:t>Példa</a:t>
            </a:r>
            <a:r>
              <a:rPr lang="en-GB" dirty="0" smtClean="0"/>
              <a:t>: </a:t>
            </a:r>
            <a:r>
              <a:rPr lang="en-GB" dirty="0" smtClean="0">
                <a:hlinkClick r:id="rId2"/>
              </a:rPr>
              <a:t>https://</a:t>
            </a:r>
            <a:r>
              <a:rPr lang="en-GB" dirty="0" err="1" smtClean="0">
                <a:hlinkClick r:id="rId2"/>
              </a:rPr>
              <a:t>www.english-corpora.org</a:t>
            </a:r>
            <a:r>
              <a:rPr lang="en-GB" dirty="0" smtClean="0">
                <a:hlinkClick r:id="rId2"/>
              </a:rPr>
              <a:t>/</a:t>
            </a:r>
            <a:r>
              <a:rPr lang="en-GB" dirty="0" smtClean="0"/>
              <a:t> </a:t>
            </a:r>
          </a:p>
          <a:p>
            <a:pPr lvl="1"/>
            <a:r>
              <a:rPr lang="hu-HU" b="1" dirty="0" smtClean="0"/>
              <a:t>Történelmi:</a:t>
            </a:r>
            <a:r>
              <a:rPr lang="hu-HU" dirty="0" smtClean="0"/>
              <a:t> egy nyelv egy történelmi időszakából származó szövegek gyűjteménye, pl. ó- és </a:t>
            </a:r>
            <a:r>
              <a:rPr lang="hu-HU" dirty="0" err="1" smtClean="0"/>
              <a:t>középmagyar</a:t>
            </a:r>
            <a:r>
              <a:rPr lang="hu-HU" dirty="0" smtClean="0"/>
              <a:t>: Régi magyar konkordancia, http://</a:t>
            </a:r>
            <a:r>
              <a:rPr lang="hu-HU" dirty="0" err="1" smtClean="0"/>
              <a:t>omagyarkorpusz.nytud.hu</a:t>
            </a:r>
            <a:r>
              <a:rPr lang="hu-HU" dirty="0" smtClean="0"/>
              <a:t>/</a:t>
            </a:r>
            <a:r>
              <a:rPr lang="hu-HU" dirty="0" err="1" smtClean="0"/>
              <a:t>hu-search.html</a:t>
            </a:r>
            <a:endParaRPr lang="hu-HU" dirty="0" smtClean="0"/>
          </a:p>
          <a:p>
            <a:pPr lvl="2"/>
            <a:r>
              <a:rPr lang="hu-HU" dirty="0" smtClean="0"/>
              <a:t>Cél lehet az összes fennmaradt szöveg összegyűjtése, közzététele az adott időszakból.</a:t>
            </a:r>
          </a:p>
        </p:txBody>
      </p:sp>
    </p:spTree>
    <p:extLst>
      <p:ext uri="{BB962C8B-B14F-4D97-AF65-F5344CB8AC3E}">
        <p14:creationId xmlns:p14="http://schemas.microsoft.com/office/powerpoint/2010/main" val="351957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Korpuszok főbb típusai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b="1" dirty="0" smtClean="0"/>
              <a:t>M</a:t>
            </a:r>
            <a:r>
              <a:rPr lang="en-GB" b="1" dirty="0" err="1" smtClean="0"/>
              <a:t>odalitás</a:t>
            </a:r>
            <a:r>
              <a:rPr lang="en-GB" b="1" dirty="0" smtClean="0"/>
              <a:t> </a:t>
            </a:r>
            <a:r>
              <a:rPr lang="en-GB" dirty="0" err="1" smtClean="0"/>
              <a:t>szempontjából</a:t>
            </a:r>
            <a:r>
              <a:rPr lang="en-GB" dirty="0" smtClean="0"/>
              <a:t>: </a:t>
            </a:r>
          </a:p>
          <a:p>
            <a:pPr lvl="1"/>
            <a:r>
              <a:rPr lang="en-GB" dirty="0" err="1" smtClean="0"/>
              <a:t>Írott</a:t>
            </a:r>
            <a:r>
              <a:rPr lang="en-GB" dirty="0" smtClean="0"/>
              <a:t>: a </a:t>
            </a:r>
            <a:r>
              <a:rPr lang="en-GB" dirty="0" err="1" smtClean="0"/>
              <a:t>legtöbb</a:t>
            </a:r>
            <a:r>
              <a:rPr lang="en-GB" dirty="0" smtClean="0"/>
              <a:t> </a:t>
            </a:r>
            <a:r>
              <a:rPr lang="en-GB" dirty="0" err="1" smtClean="0"/>
              <a:t>korpusz</a:t>
            </a:r>
            <a:r>
              <a:rPr lang="en-GB" dirty="0" smtClean="0"/>
              <a:t> </a:t>
            </a:r>
          </a:p>
          <a:p>
            <a:pPr lvl="1"/>
            <a:r>
              <a:rPr lang="en-GB" dirty="0" err="1" smtClean="0"/>
              <a:t>Multimodális</a:t>
            </a:r>
            <a:r>
              <a:rPr lang="en-GB" dirty="0" smtClean="0"/>
              <a:t>: </a:t>
            </a:r>
            <a:r>
              <a:rPr lang="en-GB" dirty="0" err="1" smtClean="0"/>
              <a:t>írott</a:t>
            </a:r>
            <a:r>
              <a:rPr lang="en-GB" dirty="0" smtClean="0"/>
              <a:t> + hang </a:t>
            </a:r>
            <a:r>
              <a:rPr lang="en-GB" dirty="0" err="1" smtClean="0"/>
              <a:t>és</a:t>
            </a:r>
            <a:r>
              <a:rPr lang="en-GB" dirty="0" smtClean="0"/>
              <a:t>/</a:t>
            </a:r>
            <a:r>
              <a:rPr lang="en-GB" dirty="0" err="1" smtClean="0"/>
              <a:t>vagy</a:t>
            </a:r>
            <a:r>
              <a:rPr lang="en-GB" dirty="0" smtClean="0"/>
              <a:t> </a:t>
            </a:r>
            <a:r>
              <a:rPr lang="en-GB" dirty="0" err="1" smtClean="0"/>
              <a:t>videó</a:t>
            </a:r>
            <a:r>
              <a:rPr lang="en-GB" dirty="0" smtClean="0"/>
              <a:t> </a:t>
            </a:r>
          </a:p>
          <a:p>
            <a:r>
              <a:rPr lang="hu-HU" b="1" dirty="0" smtClean="0"/>
              <a:t>A</a:t>
            </a:r>
            <a:r>
              <a:rPr lang="en-GB" b="1" dirty="0" err="1" smtClean="0"/>
              <a:t>nnotáció</a:t>
            </a:r>
            <a:r>
              <a:rPr lang="en-GB" b="1" dirty="0" smtClean="0"/>
              <a:t> </a:t>
            </a:r>
            <a:r>
              <a:rPr lang="en-GB" b="1" dirty="0" err="1" smtClean="0"/>
              <a:t>szempontjából</a:t>
            </a:r>
            <a:r>
              <a:rPr lang="en-GB" b="1" dirty="0" smtClean="0"/>
              <a:t>:</a:t>
            </a:r>
            <a:endParaRPr lang="hu-HU" dirty="0"/>
          </a:p>
          <a:p>
            <a:pPr lvl="1"/>
            <a:r>
              <a:rPr lang="hu-HU" b="1" dirty="0" smtClean="0"/>
              <a:t>Nyers szövegkorpusz:</a:t>
            </a:r>
            <a:r>
              <a:rPr lang="hu-HU" dirty="0" smtClean="0"/>
              <a:t> csak a szövegek, esetleg </a:t>
            </a:r>
            <a:r>
              <a:rPr lang="hu-HU" dirty="0" err="1" smtClean="0"/>
              <a:t>tokenizálva</a:t>
            </a:r>
            <a:r>
              <a:rPr lang="hu-HU" dirty="0" smtClean="0"/>
              <a:t> és mondatokra szegmentálva, szöveg-szintű </a:t>
            </a:r>
            <a:r>
              <a:rPr lang="hu-HU" dirty="0" err="1" smtClean="0"/>
              <a:t>metaadatokkal</a:t>
            </a:r>
            <a:r>
              <a:rPr lang="hu-HU" dirty="0" smtClean="0"/>
              <a:t>.</a:t>
            </a:r>
          </a:p>
          <a:p>
            <a:pPr lvl="1"/>
            <a:r>
              <a:rPr lang="hu-HU" b="1" dirty="0" smtClean="0"/>
              <a:t>Annotált korpusz:</a:t>
            </a:r>
            <a:r>
              <a:rPr lang="hu-HU" dirty="0" smtClean="0"/>
              <a:t> mindig </a:t>
            </a:r>
            <a:r>
              <a:rPr lang="hu-HU" dirty="0" err="1" smtClean="0"/>
              <a:t>tokenizálva</a:t>
            </a:r>
            <a:r>
              <a:rPr lang="hu-HU" dirty="0" smtClean="0"/>
              <a:t>, </a:t>
            </a:r>
            <a:r>
              <a:rPr lang="hu-HU" dirty="0" err="1" smtClean="0"/>
              <a:t>tokenszintű</a:t>
            </a:r>
            <a:r>
              <a:rPr lang="hu-HU" dirty="0" smtClean="0"/>
              <a:t> annotációt tartalmaz, ami magában foglalhatja:</a:t>
            </a:r>
          </a:p>
          <a:p>
            <a:pPr lvl="2"/>
            <a:r>
              <a:rPr lang="en-GB" dirty="0" err="1" smtClean="0"/>
              <a:t>Szófaj</a:t>
            </a:r>
            <a:endParaRPr lang="en-GB" dirty="0" smtClean="0"/>
          </a:p>
          <a:p>
            <a:pPr lvl="2"/>
            <a:r>
              <a:rPr lang="hu-HU" dirty="0" smtClean="0"/>
              <a:t>Morfológiai jellemzők </a:t>
            </a:r>
          </a:p>
          <a:p>
            <a:pPr lvl="2"/>
            <a:r>
              <a:rPr lang="en-GB" dirty="0" err="1" smtClean="0"/>
              <a:t>Lemmatizálás</a:t>
            </a:r>
            <a:endParaRPr lang="hu-HU" dirty="0"/>
          </a:p>
          <a:p>
            <a:pPr lvl="2"/>
            <a:r>
              <a:rPr lang="en-GB" dirty="0" err="1" smtClean="0"/>
              <a:t>Szintaktikai</a:t>
            </a:r>
            <a:r>
              <a:rPr lang="en-GB" dirty="0" smtClean="0"/>
              <a:t> </a:t>
            </a:r>
            <a:r>
              <a:rPr lang="en-GB" dirty="0" err="1" smtClean="0"/>
              <a:t>annotáció</a:t>
            </a:r>
            <a:endParaRPr lang="en-GB" dirty="0" smtClean="0"/>
          </a:p>
          <a:p>
            <a:pPr lvl="2"/>
            <a:r>
              <a:rPr lang="hu-HU" dirty="0" smtClean="0"/>
              <a:t>Névelem (</a:t>
            </a:r>
            <a:r>
              <a:rPr lang="hu-HU" dirty="0" err="1" smtClean="0"/>
              <a:t>NER</a:t>
            </a:r>
            <a:r>
              <a:rPr lang="hu-HU" dirty="0" smtClean="0"/>
              <a:t>), </a:t>
            </a:r>
            <a:r>
              <a:rPr lang="hu-HU" dirty="0" err="1" smtClean="0"/>
              <a:t>koreferencia</a:t>
            </a:r>
            <a:r>
              <a:rPr lang="hu-HU" dirty="0"/>
              <a:t> </a:t>
            </a:r>
            <a:r>
              <a:rPr lang="hu-HU" dirty="0" smtClean="0"/>
              <a:t>stb.</a:t>
            </a:r>
            <a:endParaRPr lang="en-GB" dirty="0" smtClean="0"/>
          </a:p>
          <a:p>
            <a:r>
              <a:rPr lang="hu-HU" b="1" dirty="0" smtClean="0"/>
              <a:t>M</a:t>
            </a:r>
            <a:r>
              <a:rPr lang="en-GB" b="1" dirty="0" err="1" smtClean="0"/>
              <a:t>éret</a:t>
            </a:r>
            <a:r>
              <a:rPr lang="en-GB" b="1" dirty="0" smtClean="0"/>
              <a:t> </a:t>
            </a:r>
            <a:r>
              <a:rPr lang="en-GB" b="1" dirty="0" err="1" smtClean="0"/>
              <a:t>szempontjából</a:t>
            </a:r>
            <a:r>
              <a:rPr lang="en-GB" b="1" dirty="0" smtClean="0"/>
              <a:t>:</a:t>
            </a:r>
            <a:r>
              <a:rPr lang="en-GB" dirty="0" smtClean="0"/>
              <a:t> </a:t>
            </a:r>
            <a:r>
              <a:rPr lang="en-GB" dirty="0" err="1" smtClean="0"/>
              <a:t>mindig</a:t>
            </a:r>
            <a:r>
              <a:rPr lang="en-GB" dirty="0" smtClean="0"/>
              <a:t> a </a:t>
            </a:r>
            <a:r>
              <a:rPr lang="en-GB" dirty="0" err="1" smtClean="0"/>
              <a:t>tokenek</a:t>
            </a:r>
            <a:r>
              <a:rPr lang="en-GB" dirty="0" smtClean="0"/>
              <a:t> </a:t>
            </a:r>
            <a:r>
              <a:rPr lang="en-GB" dirty="0" err="1" smtClean="0"/>
              <a:t>szám</a:t>
            </a:r>
            <a:r>
              <a:rPr lang="hu-HU" dirty="0" smtClean="0"/>
              <a:t>át</a:t>
            </a:r>
            <a:r>
              <a:rPr lang="en-GB" dirty="0" smtClean="0"/>
              <a:t> </a:t>
            </a:r>
            <a:r>
              <a:rPr lang="en-GB" dirty="0" err="1" smtClean="0"/>
              <a:t>mérik</a:t>
            </a:r>
            <a:r>
              <a:rPr lang="en-GB" dirty="0" smtClean="0"/>
              <a:t>.</a:t>
            </a:r>
          </a:p>
          <a:p>
            <a:pPr lvl="1"/>
            <a:r>
              <a:rPr lang="hu-HU" b="1" dirty="0" smtClean="0"/>
              <a:t>Kis korpusz:</a:t>
            </a:r>
            <a:r>
              <a:rPr lang="hu-HU" dirty="0" smtClean="0"/>
              <a:t> jellemzően néhány millió szó, klasszikus példa: Brown korpusz.</a:t>
            </a:r>
          </a:p>
          <a:p>
            <a:pPr lvl="1"/>
            <a:r>
              <a:rPr lang="hu-HU" b="1" dirty="0" smtClean="0"/>
              <a:t>Közepes korpusz:</a:t>
            </a:r>
            <a:r>
              <a:rPr lang="hu-HU" dirty="0" smtClean="0"/>
              <a:t> 100+ millió szó.</a:t>
            </a:r>
          </a:p>
          <a:p>
            <a:pPr lvl="2"/>
            <a:r>
              <a:rPr lang="hu-HU" dirty="0" smtClean="0"/>
              <a:t>Általában elegendő korpusznyelvészethez és statisztikai nyelvmodellek tanításához.</a:t>
            </a:r>
          </a:p>
          <a:p>
            <a:pPr lvl="1"/>
            <a:r>
              <a:rPr lang="en-GB" b="1" dirty="0" smtClean="0"/>
              <a:t>Nagy </a:t>
            </a:r>
            <a:r>
              <a:rPr lang="en-GB" b="1" dirty="0" err="1" smtClean="0"/>
              <a:t>korpuszok</a:t>
            </a:r>
            <a:r>
              <a:rPr lang="en-GB" b="1" dirty="0" smtClean="0"/>
              <a:t>:</a:t>
            </a:r>
            <a:r>
              <a:rPr lang="en-GB" dirty="0" smtClean="0"/>
              <a:t> 1 </a:t>
            </a:r>
            <a:r>
              <a:rPr lang="en-GB" dirty="0" err="1" smtClean="0"/>
              <a:t>milliárd</a:t>
            </a:r>
            <a:r>
              <a:rPr lang="en-GB" dirty="0" smtClean="0"/>
              <a:t> </a:t>
            </a:r>
            <a:r>
              <a:rPr lang="en-GB" dirty="0" err="1" smtClean="0"/>
              <a:t>szó</a:t>
            </a:r>
            <a:r>
              <a:rPr lang="en-GB" dirty="0" smtClean="0"/>
              <a:t>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en-GB" dirty="0" err="1" smtClean="0"/>
              <a:t>afelett</a:t>
            </a:r>
            <a:r>
              <a:rPr lang="en-GB" dirty="0" smtClean="0"/>
              <a:t> (</a:t>
            </a:r>
            <a:r>
              <a:rPr lang="en-GB" dirty="0" err="1" smtClean="0"/>
              <a:t>gigaword</a:t>
            </a:r>
            <a:r>
              <a:rPr lang="en-GB" dirty="0" smtClean="0"/>
              <a:t> </a:t>
            </a:r>
            <a:r>
              <a:rPr lang="en-GB" dirty="0" err="1" smtClean="0"/>
              <a:t>korpuszok</a:t>
            </a:r>
            <a:r>
              <a:rPr lang="en-GB" dirty="0" smtClean="0"/>
              <a:t>, </a:t>
            </a:r>
            <a:r>
              <a:rPr lang="en-GB" i="1" dirty="0" err="1" smtClean="0"/>
              <a:t>TenTen</a:t>
            </a:r>
            <a:r>
              <a:rPr lang="en-GB" dirty="0" smtClean="0"/>
              <a:t> </a:t>
            </a:r>
            <a:r>
              <a:rPr lang="en-GB" dirty="0" err="1" smtClean="0"/>
              <a:t>korpuszcsalád</a:t>
            </a:r>
            <a:r>
              <a:rPr lang="en-GB" dirty="0" smtClean="0"/>
              <a:t>).</a:t>
            </a:r>
          </a:p>
          <a:p>
            <a:pPr lvl="2"/>
            <a:r>
              <a:rPr lang="hu-HU" dirty="0" smtClean="0"/>
              <a:t>Olyan nagy, hogy akár az összes elérhető elektronikus szöveget tartalmazza egy nyelvből, kivéve a legnagyobb nyelvek esetében.</a:t>
            </a:r>
          </a:p>
          <a:p>
            <a:pPr lvl="1"/>
            <a:r>
              <a:rPr lang="hu-HU" b="1" dirty="0" err="1" smtClean="0"/>
              <a:t>Common</a:t>
            </a:r>
            <a:r>
              <a:rPr lang="hu-HU" b="1" dirty="0" smtClean="0"/>
              <a:t> </a:t>
            </a:r>
            <a:r>
              <a:rPr lang="hu-HU" b="1" dirty="0" err="1" smtClean="0"/>
              <a:t>Crawl</a:t>
            </a:r>
            <a:r>
              <a:rPr lang="hu-HU" b="1" dirty="0" smtClean="0"/>
              <a:t> </a:t>
            </a:r>
            <a:r>
              <a:rPr lang="hu-HU" dirty="0" smtClean="0"/>
              <a:t>adathalmaz: a webről nyert legnagyobb korpuszszerű struktúra, </a:t>
            </a:r>
            <a:r>
              <a:rPr lang="hu-HU" dirty="0" err="1" smtClean="0"/>
              <a:t>LLM-eket</a:t>
            </a:r>
            <a:r>
              <a:rPr lang="hu-HU" dirty="0" smtClean="0"/>
              <a:t> tanítanak rajta</a:t>
            </a:r>
          </a:p>
        </p:txBody>
      </p:sp>
    </p:spTree>
    <p:extLst>
      <p:ext uri="{BB962C8B-B14F-4D97-AF65-F5344CB8AC3E}">
        <p14:creationId xmlns:p14="http://schemas.microsoft.com/office/powerpoint/2010/main" val="2839255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Korpuszok használata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b="1" dirty="0" smtClean="0"/>
              <a:t>A n</a:t>
            </a:r>
            <a:r>
              <a:rPr lang="en-GB" b="1" dirty="0" err="1" smtClean="0"/>
              <a:t>yelvésze</a:t>
            </a:r>
            <a:r>
              <a:rPr lang="hu-HU" b="1" dirty="0" err="1" smtClean="0"/>
              <a:t>tben</a:t>
            </a:r>
            <a:r>
              <a:rPr lang="hu-HU" b="1" dirty="0" smtClean="0"/>
              <a:t>:</a:t>
            </a:r>
          </a:p>
          <a:p>
            <a:pPr lvl="1"/>
            <a:r>
              <a:rPr lang="hu-HU" dirty="0" smtClean="0"/>
              <a:t>A korpusz </a:t>
            </a:r>
            <a:r>
              <a:rPr lang="hu-HU" dirty="0"/>
              <a:t>a</a:t>
            </a:r>
            <a:r>
              <a:rPr lang="en-GB" dirty="0" smtClean="0"/>
              <a:t> </a:t>
            </a:r>
            <a:r>
              <a:rPr lang="en-GB" b="1" dirty="0" err="1" smtClean="0"/>
              <a:t>nyelvészet</a:t>
            </a:r>
            <a:r>
              <a:rPr lang="en-GB" b="1" dirty="0" smtClean="0"/>
              <a:t> mint </a:t>
            </a:r>
            <a:r>
              <a:rPr lang="en-GB" b="1" dirty="0" err="1" smtClean="0"/>
              <a:t>empirikus</a:t>
            </a:r>
            <a:r>
              <a:rPr lang="en-GB" b="1" dirty="0" smtClean="0"/>
              <a:t> </a:t>
            </a:r>
            <a:r>
              <a:rPr lang="en-GB" b="1" dirty="0" err="1" smtClean="0"/>
              <a:t>tudomány</a:t>
            </a:r>
            <a:r>
              <a:rPr lang="en-GB" b="1" dirty="0" smtClean="0"/>
              <a:t> </a:t>
            </a:r>
            <a:r>
              <a:rPr lang="en-GB" dirty="0" err="1" smtClean="0"/>
              <a:t>alapja</a:t>
            </a:r>
            <a:r>
              <a:rPr lang="en-GB" dirty="0" smtClean="0"/>
              <a:t>.</a:t>
            </a:r>
          </a:p>
          <a:p>
            <a:pPr lvl="1"/>
            <a:r>
              <a:rPr lang="hu-HU" dirty="0" smtClean="0"/>
              <a:t>A nyelvi struktúrákra vonatkozó általános tudományos állítások, hipotézisek </a:t>
            </a:r>
            <a:r>
              <a:rPr lang="hu-HU" b="1" dirty="0" smtClean="0"/>
              <a:t>igazolhatók vagy cáfolhatók </a:t>
            </a:r>
            <a:r>
              <a:rPr lang="hu-HU" dirty="0" smtClean="0"/>
              <a:t>egy megfelelő korpusz segítségével.</a:t>
            </a:r>
          </a:p>
          <a:p>
            <a:pPr lvl="1"/>
            <a:r>
              <a:rPr lang="hu-HU" dirty="0"/>
              <a:t>N</a:t>
            </a:r>
            <a:r>
              <a:rPr lang="en-GB" dirty="0" err="1" smtClean="0"/>
              <a:t>yelvi</a:t>
            </a:r>
            <a:r>
              <a:rPr lang="en-GB" dirty="0" smtClean="0"/>
              <a:t> </a:t>
            </a:r>
            <a:r>
              <a:rPr lang="en-GB" dirty="0" err="1" smtClean="0"/>
              <a:t>változatok</a:t>
            </a:r>
            <a:r>
              <a:rPr lang="en-GB" dirty="0" smtClean="0"/>
              <a:t>, </a:t>
            </a:r>
            <a:r>
              <a:rPr lang="hu-HU" dirty="0" smtClean="0"/>
              <a:t>pl. </a:t>
            </a:r>
            <a:r>
              <a:rPr lang="en-GB" dirty="0" smtClean="0"/>
              <a:t>a </a:t>
            </a:r>
            <a:r>
              <a:rPr lang="en-GB" dirty="0" err="1" smtClean="0"/>
              <a:t>nyelvjárások</a:t>
            </a:r>
            <a:r>
              <a:rPr lang="en-GB" dirty="0" smtClean="0"/>
              <a:t>, </a:t>
            </a:r>
            <a:r>
              <a:rPr lang="en-GB" dirty="0" err="1" smtClean="0"/>
              <a:t>szisztematikusan</a:t>
            </a:r>
            <a:r>
              <a:rPr lang="en-GB" dirty="0" smtClean="0"/>
              <a:t> </a:t>
            </a:r>
            <a:r>
              <a:rPr lang="en-GB" b="1" dirty="0" err="1" smtClean="0"/>
              <a:t>összehasonlíthatók</a:t>
            </a:r>
            <a:r>
              <a:rPr lang="en-GB" b="1" dirty="0" smtClean="0"/>
              <a:t> </a:t>
            </a:r>
            <a:r>
              <a:rPr lang="en-GB" dirty="0" smtClean="0"/>
              <a:t>(</a:t>
            </a:r>
            <a:r>
              <a:rPr lang="en-GB" dirty="0" err="1" smtClean="0"/>
              <a:t>szintaktikai</a:t>
            </a:r>
            <a:r>
              <a:rPr lang="en-GB" dirty="0" smtClean="0"/>
              <a:t>, </a:t>
            </a:r>
            <a:r>
              <a:rPr lang="en-GB" dirty="0" err="1" smtClean="0"/>
              <a:t>morfológiai</a:t>
            </a:r>
            <a:r>
              <a:rPr lang="en-GB" dirty="0" smtClean="0"/>
              <a:t>, </a:t>
            </a:r>
            <a:r>
              <a:rPr lang="en-GB" dirty="0" err="1" smtClean="0"/>
              <a:t>lexikai</a:t>
            </a:r>
            <a:r>
              <a:rPr lang="en-GB" dirty="0" smtClean="0"/>
              <a:t> </a:t>
            </a:r>
            <a:r>
              <a:rPr lang="en-GB" dirty="0" err="1" smtClean="0"/>
              <a:t>különbségek</a:t>
            </a:r>
            <a:r>
              <a:rPr lang="en-GB" dirty="0" smtClean="0"/>
              <a:t>).</a:t>
            </a:r>
          </a:p>
          <a:p>
            <a:pPr lvl="1"/>
            <a:r>
              <a:rPr lang="en-GB" b="1" dirty="0" err="1" smtClean="0"/>
              <a:t>Korpusznyelvészet</a:t>
            </a:r>
            <a:r>
              <a:rPr lang="en-GB" b="1" dirty="0" smtClean="0"/>
              <a:t>:</a:t>
            </a:r>
            <a:r>
              <a:rPr lang="en-GB" dirty="0" smtClean="0"/>
              <a:t> a </a:t>
            </a:r>
            <a:r>
              <a:rPr lang="en-GB" dirty="0" err="1" smtClean="0"/>
              <a:t>nyelvészet</a:t>
            </a:r>
            <a:r>
              <a:rPr lang="en-GB" dirty="0" smtClean="0"/>
              <a:t> </a:t>
            </a:r>
            <a:r>
              <a:rPr lang="en-GB" dirty="0" err="1" smtClean="0"/>
              <a:t>specializált</a:t>
            </a:r>
            <a:r>
              <a:rPr lang="en-GB" dirty="0" smtClean="0"/>
              <a:t> </a:t>
            </a:r>
            <a:r>
              <a:rPr lang="en-GB" dirty="0" err="1" smtClean="0"/>
              <a:t>ága</a:t>
            </a:r>
            <a:r>
              <a:rPr lang="en-GB" dirty="0" smtClean="0"/>
              <a:t>, </a:t>
            </a:r>
            <a:r>
              <a:rPr lang="en-GB" dirty="0" err="1" smtClean="0"/>
              <a:t>amely</a:t>
            </a:r>
            <a:r>
              <a:rPr lang="en-GB" dirty="0" smtClean="0"/>
              <a:t> </a:t>
            </a:r>
            <a:r>
              <a:rPr lang="en-GB" dirty="0" err="1" smtClean="0"/>
              <a:t>vagy</a:t>
            </a:r>
            <a:r>
              <a:rPr lang="en-GB" dirty="0" smtClean="0"/>
              <a:t> </a:t>
            </a:r>
            <a:r>
              <a:rPr lang="en-GB" dirty="0" err="1" smtClean="0"/>
              <a:t>kifejezetten</a:t>
            </a:r>
            <a:r>
              <a:rPr lang="en-GB" dirty="0" smtClean="0"/>
              <a:t> </a:t>
            </a:r>
            <a:r>
              <a:rPr lang="en-GB" dirty="0" err="1" smtClean="0"/>
              <a:t>korpuszelemzést</a:t>
            </a:r>
            <a:r>
              <a:rPr lang="en-GB" dirty="0" smtClean="0"/>
              <a:t> </a:t>
            </a:r>
            <a:r>
              <a:rPr lang="en-GB" dirty="0" err="1" smtClean="0"/>
              <a:t>használ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nyelvi</a:t>
            </a:r>
            <a:r>
              <a:rPr lang="en-GB" dirty="0" smtClean="0"/>
              <a:t> </a:t>
            </a:r>
            <a:r>
              <a:rPr lang="hu-HU" dirty="0" smtClean="0"/>
              <a:t>vizsgálat </a:t>
            </a:r>
            <a:r>
              <a:rPr lang="en-GB" dirty="0" err="1" smtClean="0"/>
              <a:t>empirikus</a:t>
            </a:r>
            <a:r>
              <a:rPr lang="en-GB" dirty="0" smtClean="0"/>
              <a:t> </a:t>
            </a:r>
            <a:r>
              <a:rPr lang="en-GB" dirty="0" err="1" smtClean="0"/>
              <a:t>alapjaként</a:t>
            </a:r>
            <a:r>
              <a:rPr lang="en-GB" dirty="0" smtClean="0"/>
              <a:t>, </a:t>
            </a:r>
            <a:r>
              <a:rPr lang="en-GB" dirty="0" err="1" smtClean="0"/>
              <a:t>vagy</a:t>
            </a:r>
            <a:r>
              <a:rPr lang="en-GB" dirty="0" smtClean="0"/>
              <a:t> </a:t>
            </a:r>
            <a:r>
              <a:rPr lang="en-GB" dirty="0" err="1" smtClean="0"/>
              <a:t>korpuszok</a:t>
            </a:r>
            <a:r>
              <a:rPr lang="en-GB" dirty="0" smtClean="0"/>
              <a:t> </a:t>
            </a:r>
            <a:r>
              <a:rPr lang="en-GB" dirty="0" err="1" smtClean="0"/>
              <a:t>használatának</a:t>
            </a:r>
            <a:r>
              <a:rPr lang="en-GB" dirty="0" smtClean="0"/>
              <a:t> </a:t>
            </a:r>
            <a:r>
              <a:rPr lang="hu-HU" dirty="0" smtClean="0"/>
              <a:t>lehetőségeit, módjait </a:t>
            </a:r>
            <a:r>
              <a:rPr lang="en-GB" dirty="0" err="1" smtClean="0"/>
              <a:t>kutatja</a:t>
            </a:r>
            <a:r>
              <a:rPr lang="en-GB" dirty="0" smtClean="0"/>
              <a:t> a </a:t>
            </a:r>
            <a:r>
              <a:rPr lang="en-GB" dirty="0" err="1" smtClean="0"/>
              <a:t>nyelvészet</a:t>
            </a:r>
            <a:r>
              <a:rPr lang="en-GB" dirty="0" smtClean="0"/>
              <a:t> </a:t>
            </a:r>
            <a:r>
              <a:rPr lang="en-GB" dirty="0" err="1" smtClean="0"/>
              <a:t>szempontjából</a:t>
            </a:r>
            <a:r>
              <a:rPr lang="en-GB" dirty="0" smtClean="0"/>
              <a:t> </a:t>
            </a:r>
            <a:r>
              <a:rPr lang="en-GB" dirty="0" err="1" smtClean="0"/>
              <a:t>releváns</a:t>
            </a:r>
            <a:r>
              <a:rPr lang="en-GB" dirty="0" smtClean="0"/>
              <a:t> </a:t>
            </a:r>
            <a:r>
              <a:rPr lang="en-GB" dirty="0" err="1" smtClean="0"/>
              <a:t>problémák</a:t>
            </a:r>
            <a:r>
              <a:rPr lang="hu-HU" dirty="0" err="1" smtClean="0"/>
              <a:t>kal</a:t>
            </a:r>
            <a:r>
              <a:rPr lang="hu-HU" dirty="0" smtClean="0"/>
              <a:t> kapcsolatban</a:t>
            </a:r>
            <a:r>
              <a:rPr lang="en-GB" dirty="0" smtClean="0"/>
              <a:t>.</a:t>
            </a:r>
          </a:p>
          <a:p>
            <a:pPr lvl="1"/>
            <a:r>
              <a:rPr lang="hu-HU" b="1" dirty="0" smtClean="0"/>
              <a:t>Kvantitatív nyelvészet:</a:t>
            </a:r>
            <a:r>
              <a:rPr lang="hu-HU" dirty="0" smtClean="0"/>
              <a:t> a nyelvek számszerű tulajdonságaira fókuszál, például különböző nyelvi jelenségek használatának gyakorisága. </a:t>
            </a:r>
            <a:r>
              <a:rPr lang="en-GB" dirty="0" err="1" smtClean="0"/>
              <a:t>Mindig</a:t>
            </a:r>
            <a:r>
              <a:rPr lang="en-GB" dirty="0" smtClean="0"/>
              <a:t> </a:t>
            </a:r>
            <a:r>
              <a:rPr lang="en-GB" dirty="0" err="1" smtClean="0"/>
              <a:t>korpuszon</a:t>
            </a:r>
            <a:r>
              <a:rPr lang="en-GB" dirty="0" smtClean="0"/>
              <a:t> </a:t>
            </a:r>
            <a:r>
              <a:rPr lang="en-GB" dirty="0" err="1" smtClean="0"/>
              <a:t>alapul</a:t>
            </a:r>
            <a:r>
              <a:rPr lang="en-GB" dirty="0" smtClean="0"/>
              <a:t>.</a:t>
            </a:r>
          </a:p>
          <a:p>
            <a:r>
              <a:rPr lang="en-GB" b="1" dirty="0" err="1" smtClean="0"/>
              <a:t>Lexikográfia</a:t>
            </a:r>
            <a:r>
              <a:rPr lang="en-GB" b="1" dirty="0" smtClean="0"/>
              <a:t> (= </a:t>
            </a:r>
            <a:r>
              <a:rPr lang="en-GB" b="1" dirty="0" err="1" smtClean="0"/>
              <a:t>szótár</a:t>
            </a:r>
            <a:r>
              <a:rPr lang="hu-HU" b="1" dirty="0" smtClean="0"/>
              <a:t>írás</a:t>
            </a:r>
            <a:r>
              <a:rPr lang="en-GB" b="1" dirty="0" smtClean="0"/>
              <a:t>)</a:t>
            </a:r>
            <a:r>
              <a:rPr lang="en-GB" dirty="0" smtClean="0"/>
              <a:t> </a:t>
            </a:r>
          </a:p>
          <a:p>
            <a:pPr lvl="1"/>
            <a:r>
              <a:rPr lang="hu-HU" dirty="0" smtClean="0"/>
              <a:t>A korpuszok támogatják a lexikográfus (a szótáríró, aki a szócikkeket írja) munkáját.</a:t>
            </a:r>
          </a:p>
          <a:p>
            <a:pPr lvl="1"/>
            <a:r>
              <a:rPr lang="hu-HU" dirty="0"/>
              <a:t>a</a:t>
            </a:r>
            <a:r>
              <a:rPr lang="hu-HU" dirty="0" smtClean="0"/>
              <a:t> szótárba bekerülő </a:t>
            </a:r>
            <a:r>
              <a:rPr lang="hu-HU" b="1" dirty="0" smtClean="0"/>
              <a:t>c</a:t>
            </a:r>
            <a:r>
              <a:rPr lang="en-GB" b="1" dirty="0" err="1" smtClean="0"/>
              <a:t>ímszavak</a:t>
            </a:r>
            <a:r>
              <a:rPr lang="en-GB" b="1" dirty="0" smtClean="0"/>
              <a:t> </a:t>
            </a:r>
            <a:r>
              <a:rPr lang="en-GB" dirty="0" smtClean="0"/>
              <a:t>(</a:t>
            </a:r>
            <a:r>
              <a:rPr lang="en-GB" dirty="0" err="1" smtClean="0"/>
              <a:t>lemm</a:t>
            </a:r>
            <a:r>
              <a:rPr lang="hu-HU" dirty="0" err="1" smtClean="0"/>
              <a:t>ák</a:t>
            </a:r>
            <a:r>
              <a:rPr lang="en-GB" dirty="0" smtClean="0"/>
              <a:t>) </a:t>
            </a:r>
            <a:r>
              <a:rPr lang="en-GB" b="1" dirty="0" err="1" smtClean="0"/>
              <a:t>kiválasztása</a:t>
            </a:r>
            <a:r>
              <a:rPr lang="en-GB" dirty="0" smtClean="0"/>
              <a:t> a </a:t>
            </a:r>
            <a:r>
              <a:rPr lang="en-GB" dirty="0" err="1" smtClean="0"/>
              <a:t>korpuszban</a:t>
            </a:r>
            <a:r>
              <a:rPr lang="en-GB" dirty="0" smtClean="0"/>
              <a:t> </a:t>
            </a:r>
            <a:r>
              <a:rPr lang="hu-HU" dirty="0" smtClean="0"/>
              <a:t>előforduló </a:t>
            </a:r>
            <a:r>
              <a:rPr lang="en-GB" dirty="0" err="1" smtClean="0"/>
              <a:t>lemmák</a:t>
            </a:r>
            <a:r>
              <a:rPr lang="en-GB" dirty="0" smtClean="0"/>
              <a:t> </a:t>
            </a:r>
            <a:r>
              <a:rPr lang="en-GB" dirty="0" err="1" smtClean="0"/>
              <a:t>gyakorisági</a:t>
            </a:r>
            <a:r>
              <a:rPr lang="en-GB" dirty="0" smtClean="0"/>
              <a:t> </a:t>
            </a:r>
            <a:r>
              <a:rPr lang="en-GB" dirty="0" err="1" smtClean="0"/>
              <a:t>listája</a:t>
            </a:r>
            <a:r>
              <a:rPr lang="en-GB" dirty="0" smtClean="0"/>
              <a:t> </a:t>
            </a:r>
            <a:r>
              <a:rPr lang="en-GB" dirty="0" err="1" smtClean="0"/>
              <a:t>alapján</a:t>
            </a:r>
            <a:endParaRPr lang="en-GB" dirty="0" smtClean="0"/>
          </a:p>
          <a:p>
            <a:pPr lvl="1"/>
            <a:r>
              <a:rPr lang="hu-HU" dirty="0"/>
              <a:t>e</a:t>
            </a:r>
            <a:r>
              <a:rPr lang="hu-HU" dirty="0" smtClean="0"/>
              <a:t>gy szó előfordulásainak vizsgálata és csoportosítása egy korpuszban </a:t>
            </a:r>
            <a:r>
              <a:rPr lang="hu-HU" dirty="0" smtClean="0"/>
              <a:t>a szó </a:t>
            </a:r>
            <a:r>
              <a:rPr lang="hu-HU" b="1" dirty="0" smtClean="0"/>
              <a:t>jelentésének és használati mintázatainak meghatározása </a:t>
            </a:r>
            <a:r>
              <a:rPr lang="hu-HU" dirty="0" smtClean="0"/>
              <a:t>céljából</a:t>
            </a:r>
          </a:p>
          <a:p>
            <a:pPr lvl="1"/>
            <a:r>
              <a:rPr lang="en-GB" dirty="0" err="1" smtClean="0"/>
              <a:t>szócikkek</a:t>
            </a:r>
            <a:r>
              <a:rPr lang="en-GB" dirty="0" smtClean="0"/>
              <a:t> </a:t>
            </a:r>
            <a:r>
              <a:rPr lang="en-GB" dirty="0" err="1" smtClean="0"/>
              <a:t>korpuszban</a:t>
            </a:r>
            <a:r>
              <a:rPr lang="en-GB" dirty="0" smtClean="0"/>
              <a:t> </a:t>
            </a:r>
            <a:r>
              <a:rPr lang="en-GB" dirty="0" err="1" smtClean="0"/>
              <a:t>található</a:t>
            </a:r>
            <a:r>
              <a:rPr lang="en-GB" dirty="0" smtClean="0"/>
              <a:t> </a:t>
            </a:r>
            <a:r>
              <a:rPr lang="hu-HU" dirty="0" smtClean="0"/>
              <a:t>hiteles, életszerű, autentikus </a:t>
            </a:r>
            <a:r>
              <a:rPr lang="en-GB" b="1" dirty="0" err="1" smtClean="0"/>
              <a:t>használati</a:t>
            </a:r>
            <a:r>
              <a:rPr lang="en-GB" b="1" dirty="0" smtClean="0"/>
              <a:t> </a:t>
            </a:r>
            <a:r>
              <a:rPr lang="en-GB" b="1" dirty="0" err="1" smtClean="0"/>
              <a:t>példákkal</a:t>
            </a:r>
            <a:r>
              <a:rPr lang="en-GB" b="1" dirty="0" smtClean="0"/>
              <a:t> </a:t>
            </a:r>
            <a:r>
              <a:rPr lang="en-GB" dirty="0" err="1" smtClean="0"/>
              <a:t>való</a:t>
            </a:r>
            <a:r>
              <a:rPr lang="en-GB" dirty="0" smtClean="0"/>
              <a:t> </a:t>
            </a:r>
            <a:r>
              <a:rPr lang="en-GB" dirty="0" err="1" smtClean="0"/>
              <a:t>alátámasztása</a:t>
            </a:r>
            <a:r>
              <a:rPr lang="en-GB" dirty="0" smtClean="0"/>
              <a:t> </a:t>
            </a:r>
            <a:r>
              <a:rPr lang="en-GB" dirty="0" err="1" smtClean="0"/>
              <a:t>mesterséges</a:t>
            </a:r>
            <a:r>
              <a:rPr lang="en-GB" dirty="0" smtClean="0"/>
              <a:t>, </a:t>
            </a:r>
            <a:r>
              <a:rPr lang="en-GB" dirty="0" err="1" smtClean="0"/>
              <a:t>kitalált</a:t>
            </a:r>
            <a:r>
              <a:rPr lang="hu-HU" dirty="0" smtClean="0"/>
              <a:t>, sokszor mesterkélt</a:t>
            </a:r>
            <a:r>
              <a:rPr lang="en-GB" dirty="0" smtClean="0"/>
              <a:t> </a:t>
            </a:r>
            <a:r>
              <a:rPr lang="en-GB" dirty="0" err="1" smtClean="0"/>
              <a:t>példák</a:t>
            </a:r>
            <a:r>
              <a:rPr lang="en-GB" dirty="0" smtClean="0"/>
              <a:t> </a:t>
            </a:r>
            <a:r>
              <a:rPr lang="en-GB" dirty="0" err="1" smtClean="0"/>
              <a:t>helyett</a:t>
            </a:r>
            <a:r>
              <a:rPr lang="en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3882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Korpuszok az </a:t>
            </a:r>
            <a:r>
              <a:rPr lang="hu-HU" dirty="0" err="1" smtClean="0"/>
              <a:t>NLP-ben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Bemenetként:</a:t>
            </a:r>
          </a:p>
          <a:p>
            <a:pPr lvl="1"/>
            <a:r>
              <a:rPr lang="en-GB" b="1" dirty="0" smtClean="0"/>
              <a:t>NLP</a:t>
            </a:r>
            <a:r>
              <a:rPr lang="hu-HU" b="1" dirty="0" smtClean="0"/>
              <a:t>-</a:t>
            </a:r>
            <a:r>
              <a:rPr lang="en-GB" b="1" dirty="0" err="1" smtClean="0"/>
              <a:t>modellek</a:t>
            </a:r>
            <a:r>
              <a:rPr lang="en-GB" b="1" dirty="0" smtClean="0"/>
              <a:t>:</a:t>
            </a:r>
            <a:r>
              <a:rPr lang="en-GB" dirty="0" smtClean="0"/>
              <a:t> </a:t>
            </a:r>
            <a:r>
              <a:rPr lang="hu-HU" dirty="0" smtClean="0"/>
              <a:t>s</a:t>
            </a:r>
            <a:r>
              <a:rPr lang="en-GB" dirty="0" err="1" smtClean="0"/>
              <a:t>tatisztikai</a:t>
            </a:r>
            <a:r>
              <a:rPr lang="en-GB" dirty="0" smtClean="0"/>
              <a:t> </a:t>
            </a:r>
            <a:r>
              <a:rPr lang="en-GB" dirty="0" err="1" smtClean="0"/>
              <a:t>nyelvmodelleket</a:t>
            </a:r>
            <a:r>
              <a:rPr lang="en-GB" dirty="0" smtClean="0"/>
              <a:t> (n-gram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en-GB" dirty="0" err="1" smtClean="0"/>
              <a:t>rejtett</a:t>
            </a:r>
            <a:r>
              <a:rPr lang="en-GB" dirty="0" smtClean="0"/>
              <a:t> Markov</a:t>
            </a:r>
            <a:r>
              <a:rPr lang="hu-HU" dirty="0" smtClean="0"/>
              <a:t>-</a:t>
            </a:r>
            <a:r>
              <a:rPr lang="en-GB" dirty="0" err="1" smtClean="0"/>
              <a:t>modellek</a:t>
            </a:r>
            <a:r>
              <a:rPr lang="en-GB" dirty="0" smtClean="0"/>
              <a:t>), </a:t>
            </a:r>
            <a:r>
              <a:rPr lang="en-GB" dirty="0" err="1" smtClean="0"/>
              <a:t>gépi</a:t>
            </a:r>
            <a:r>
              <a:rPr lang="en-GB" dirty="0" smtClean="0"/>
              <a:t> </a:t>
            </a:r>
            <a:r>
              <a:rPr lang="en-GB" dirty="0" err="1" smtClean="0"/>
              <a:t>tanulási</a:t>
            </a:r>
            <a:r>
              <a:rPr lang="en-GB" dirty="0" smtClean="0"/>
              <a:t> </a:t>
            </a:r>
            <a:r>
              <a:rPr lang="en-GB" dirty="0" err="1" smtClean="0"/>
              <a:t>modelleket</a:t>
            </a:r>
            <a:r>
              <a:rPr lang="en-GB" dirty="0" smtClean="0"/>
              <a:t> (</a:t>
            </a:r>
            <a:r>
              <a:rPr lang="en-GB" dirty="0" err="1" smtClean="0"/>
              <a:t>szövegosztályozás</a:t>
            </a:r>
            <a:r>
              <a:rPr lang="hu-HU" dirty="0" err="1" smtClean="0"/>
              <a:t>ra</a:t>
            </a:r>
            <a:r>
              <a:rPr lang="en-GB" dirty="0" smtClean="0"/>
              <a:t>, </a:t>
            </a:r>
            <a:r>
              <a:rPr lang="en-GB" dirty="0" err="1" smtClean="0"/>
              <a:t>nyelvgenerálás</a:t>
            </a:r>
            <a:r>
              <a:rPr lang="hu-HU" dirty="0" err="1" smtClean="0"/>
              <a:t>ra</a:t>
            </a:r>
            <a:r>
              <a:rPr lang="en-GB" dirty="0" smtClean="0"/>
              <a:t> </a:t>
            </a:r>
            <a:r>
              <a:rPr lang="en-GB" dirty="0" err="1" smtClean="0"/>
              <a:t>stb</a:t>
            </a:r>
            <a:r>
              <a:rPr lang="en-GB" dirty="0" smtClean="0"/>
              <a:t>.) </a:t>
            </a:r>
            <a:r>
              <a:rPr lang="en-GB" dirty="0" err="1" smtClean="0"/>
              <a:t>mindig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korpuszon</a:t>
            </a:r>
            <a:r>
              <a:rPr lang="en-GB" dirty="0" smtClean="0"/>
              <a:t> </a:t>
            </a:r>
            <a:r>
              <a:rPr lang="en-GB" b="1" dirty="0" err="1" smtClean="0"/>
              <a:t>tanítják</a:t>
            </a:r>
            <a:r>
              <a:rPr lang="en-GB" dirty="0" smtClean="0"/>
              <a:t>.</a:t>
            </a:r>
          </a:p>
          <a:p>
            <a:pPr lvl="2"/>
            <a:r>
              <a:rPr lang="en-GB" dirty="0" smtClean="0"/>
              <a:t>A </a:t>
            </a:r>
            <a:r>
              <a:rPr lang="en-GB" dirty="0" err="1" smtClean="0"/>
              <a:t>tanítókorpusz</a:t>
            </a:r>
            <a:r>
              <a:rPr lang="en-GB" dirty="0" smtClean="0"/>
              <a:t> </a:t>
            </a:r>
            <a:r>
              <a:rPr lang="en-GB" b="1" dirty="0" err="1" smtClean="0"/>
              <a:t>mérete</a:t>
            </a:r>
            <a:r>
              <a:rPr lang="en-GB" b="1" dirty="0" smtClean="0"/>
              <a:t> </a:t>
            </a:r>
            <a:r>
              <a:rPr lang="en-GB" b="1" dirty="0" err="1" smtClean="0"/>
              <a:t>és</a:t>
            </a:r>
            <a:r>
              <a:rPr lang="en-GB" b="1" dirty="0" smtClean="0"/>
              <a:t> </a:t>
            </a:r>
            <a:r>
              <a:rPr lang="en-GB" b="1" dirty="0" err="1" smtClean="0"/>
              <a:t>tartalma</a:t>
            </a:r>
            <a:r>
              <a:rPr lang="en-GB" b="1" dirty="0" smtClean="0"/>
              <a:t> </a:t>
            </a:r>
            <a:r>
              <a:rPr lang="hu-HU" dirty="0" smtClean="0"/>
              <a:t>döntő </a:t>
            </a:r>
            <a:r>
              <a:rPr lang="en-GB" dirty="0" err="1" smtClean="0"/>
              <a:t>fontosságú</a:t>
            </a:r>
            <a:r>
              <a:rPr lang="en-GB" dirty="0" smtClean="0"/>
              <a:t>.</a:t>
            </a:r>
          </a:p>
          <a:p>
            <a:pPr lvl="2"/>
            <a:r>
              <a:rPr lang="hu-HU" dirty="0" smtClean="0"/>
              <a:t>Az </a:t>
            </a:r>
            <a:r>
              <a:rPr lang="hu-HU" b="1" dirty="0" smtClean="0"/>
              <a:t>annotáció felhasználható jegyként</a:t>
            </a:r>
            <a:r>
              <a:rPr lang="hu-HU" dirty="0" smtClean="0"/>
              <a:t>, leíró jellemzőként (</a:t>
            </a:r>
            <a:r>
              <a:rPr lang="hu-HU" dirty="0" err="1" smtClean="0"/>
              <a:t>feature</a:t>
            </a:r>
            <a:r>
              <a:rPr lang="hu-HU" dirty="0" smtClean="0"/>
              <a:t>), és ekként jelentősen javíthatja a modell előrejelzéseinek pontosságát.</a:t>
            </a:r>
          </a:p>
          <a:p>
            <a:pPr lvl="3"/>
            <a:r>
              <a:rPr lang="en-GB" dirty="0" err="1" smtClean="0"/>
              <a:t>Ez</a:t>
            </a:r>
            <a:r>
              <a:rPr lang="en-GB" dirty="0" smtClean="0"/>
              <a:t> </a:t>
            </a:r>
            <a:r>
              <a:rPr lang="en-GB" dirty="0" err="1" smtClean="0"/>
              <a:t>nem</a:t>
            </a:r>
            <a:r>
              <a:rPr lang="en-GB" dirty="0" smtClean="0"/>
              <a:t> </a:t>
            </a:r>
            <a:r>
              <a:rPr lang="en-GB" dirty="0" err="1" smtClean="0"/>
              <a:t>feltétlenül</a:t>
            </a:r>
            <a:r>
              <a:rPr lang="en-GB" dirty="0" smtClean="0"/>
              <a:t> </a:t>
            </a:r>
            <a:r>
              <a:rPr lang="en-GB" dirty="0" err="1" smtClean="0"/>
              <a:t>igaz</a:t>
            </a:r>
            <a:r>
              <a:rPr lang="en-GB" dirty="0" smtClean="0"/>
              <a:t> a </a:t>
            </a:r>
            <a:r>
              <a:rPr lang="en-GB" dirty="0" err="1" smtClean="0"/>
              <a:t>mélytanuláson</a:t>
            </a:r>
            <a:r>
              <a:rPr lang="en-GB" dirty="0" smtClean="0"/>
              <a:t> </a:t>
            </a:r>
            <a:r>
              <a:rPr lang="en-GB" dirty="0" err="1" smtClean="0"/>
              <a:t>alapuló</a:t>
            </a:r>
            <a:r>
              <a:rPr lang="en-GB" dirty="0" smtClean="0"/>
              <a:t> </a:t>
            </a:r>
            <a:r>
              <a:rPr lang="en-GB" dirty="0" err="1" smtClean="0"/>
              <a:t>nyelv</a:t>
            </a:r>
            <a:r>
              <a:rPr lang="hu-HU" dirty="0" smtClean="0"/>
              <a:t>m</a:t>
            </a:r>
            <a:r>
              <a:rPr lang="en-GB" dirty="0" err="1" smtClean="0"/>
              <a:t>odellekre</a:t>
            </a:r>
            <a:r>
              <a:rPr lang="en-GB" dirty="0" smtClean="0"/>
              <a:t>.</a:t>
            </a:r>
          </a:p>
          <a:p>
            <a:r>
              <a:rPr lang="hu-HU" dirty="0" smtClean="0"/>
              <a:t>Kimenetként:</a:t>
            </a:r>
          </a:p>
          <a:p>
            <a:pPr lvl="1"/>
            <a:r>
              <a:rPr lang="hu-HU" dirty="0" smtClean="0"/>
              <a:t>Az</a:t>
            </a:r>
            <a:r>
              <a:rPr lang="en-GB" dirty="0" smtClean="0"/>
              <a:t> </a:t>
            </a:r>
            <a:r>
              <a:rPr lang="en-GB" dirty="0" err="1" smtClean="0"/>
              <a:t>annotált</a:t>
            </a:r>
            <a:r>
              <a:rPr lang="en-GB" dirty="0" smtClean="0"/>
              <a:t> </a:t>
            </a:r>
            <a:r>
              <a:rPr lang="en-GB" dirty="0" err="1" smtClean="0"/>
              <a:t>korpusz</a:t>
            </a:r>
            <a:r>
              <a:rPr lang="hu-HU" dirty="0" err="1" smtClean="0"/>
              <a:t>ba</a:t>
            </a:r>
            <a:r>
              <a:rPr lang="hu-HU" dirty="0" smtClean="0"/>
              <a:t> kerülő annotációk rendszerint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b="1" dirty="0" smtClean="0"/>
              <a:t>NLP</a:t>
            </a:r>
            <a:r>
              <a:rPr lang="hu-HU" b="1" dirty="0" err="1" smtClean="0"/>
              <a:t>-pipeline</a:t>
            </a:r>
            <a:r>
              <a:rPr lang="en-GB" b="1" dirty="0" smtClean="0"/>
              <a:t> </a:t>
            </a:r>
            <a:r>
              <a:rPr lang="en-GB" b="1" dirty="0" err="1" smtClean="0"/>
              <a:t>kimenetei</a:t>
            </a:r>
            <a:r>
              <a:rPr lang="en-GB" dirty="0" smtClean="0"/>
              <a:t>.</a:t>
            </a:r>
          </a:p>
          <a:p>
            <a:pPr lvl="1"/>
            <a:r>
              <a:rPr lang="en-GB" b="1" dirty="0" err="1" smtClean="0"/>
              <a:t>Párhuzamos</a:t>
            </a:r>
            <a:r>
              <a:rPr lang="en-GB" b="1" dirty="0" smtClean="0"/>
              <a:t> </a:t>
            </a:r>
            <a:r>
              <a:rPr lang="en-GB" b="1" dirty="0" err="1" smtClean="0"/>
              <a:t>korpusz</a:t>
            </a:r>
            <a:r>
              <a:rPr lang="en-GB" b="1" dirty="0" smtClean="0"/>
              <a:t> </a:t>
            </a:r>
            <a:r>
              <a:rPr lang="en-GB" b="1" dirty="0" err="1" smtClean="0"/>
              <a:t>létrehozása</a:t>
            </a:r>
            <a:r>
              <a:rPr lang="en-GB" b="1" dirty="0" smtClean="0"/>
              <a:t>:</a:t>
            </a:r>
            <a:r>
              <a:rPr lang="hu-HU" b="1" dirty="0" smtClean="0"/>
              <a:t> </a:t>
            </a:r>
            <a:r>
              <a:rPr lang="en-GB" dirty="0" smtClean="0"/>
              <a:t>A </a:t>
            </a:r>
            <a:r>
              <a:rPr lang="en-GB" dirty="0" err="1" smtClean="0"/>
              <a:t>forrás</a:t>
            </a:r>
            <a:r>
              <a:rPr lang="en-GB" dirty="0" smtClean="0"/>
              <a:t>- </a:t>
            </a:r>
            <a:r>
              <a:rPr lang="en-GB" dirty="0" err="1" smtClean="0"/>
              <a:t>és</a:t>
            </a:r>
            <a:r>
              <a:rPr lang="en-GB" dirty="0" smtClean="0"/>
              <a:t> a </a:t>
            </a:r>
            <a:r>
              <a:rPr lang="en-GB" dirty="0" err="1" smtClean="0"/>
              <a:t>célnyelvi</a:t>
            </a:r>
            <a:r>
              <a:rPr lang="en-GB" dirty="0" smtClean="0"/>
              <a:t> </a:t>
            </a:r>
            <a:r>
              <a:rPr lang="en-GB" dirty="0" err="1" smtClean="0"/>
              <a:t>dokumentumot</a:t>
            </a:r>
            <a:r>
              <a:rPr lang="en-GB" dirty="0" smtClean="0"/>
              <a:t> </a:t>
            </a:r>
            <a:r>
              <a:rPr lang="en-GB" dirty="0" err="1" smtClean="0"/>
              <a:t>alkotó</a:t>
            </a:r>
            <a:r>
              <a:rPr lang="en-GB" dirty="0" smtClean="0"/>
              <a:t> </a:t>
            </a:r>
            <a:r>
              <a:rPr lang="en-GB" dirty="0" err="1" smtClean="0"/>
              <a:t>mondatokat</a:t>
            </a:r>
            <a:r>
              <a:rPr lang="en-GB" dirty="0" smtClean="0"/>
              <a:t> </a:t>
            </a:r>
            <a:r>
              <a:rPr lang="hu-HU" b="1" dirty="0" smtClean="0"/>
              <a:t>illeszteni </a:t>
            </a:r>
            <a:r>
              <a:rPr lang="en-GB" dirty="0" err="1" smtClean="0"/>
              <a:t>kell</a:t>
            </a:r>
            <a:r>
              <a:rPr lang="en-GB" dirty="0" smtClean="0"/>
              <a:t>.</a:t>
            </a:r>
          </a:p>
          <a:p>
            <a:pPr lvl="2"/>
            <a:r>
              <a:rPr lang="hu-HU" dirty="0" smtClean="0"/>
              <a:t>Ennek előfeltétele a mondatokra bontás (mondathatár-észlelés).</a:t>
            </a:r>
          </a:p>
          <a:p>
            <a:pPr lvl="2"/>
            <a:r>
              <a:rPr lang="hu-HU" dirty="0" smtClean="0"/>
              <a:t>Két fő módszer:</a:t>
            </a:r>
          </a:p>
          <a:p>
            <a:pPr lvl="3"/>
            <a:r>
              <a:rPr lang="hu-HU" b="1" dirty="0" smtClean="0"/>
              <a:t>Algoritmikus:</a:t>
            </a:r>
            <a:r>
              <a:rPr lang="hu-HU" dirty="0" smtClean="0"/>
              <a:t> általában a mondatok egyszerű jellemzőin alapul, pl. karakterben vagy </a:t>
            </a:r>
            <a:r>
              <a:rPr lang="hu-HU" dirty="0" err="1" smtClean="0"/>
              <a:t>szó-tokenekben</a:t>
            </a:r>
            <a:r>
              <a:rPr lang="hu-HU" dirty="0" smtClean="0"/>
              <a:t> mért hosszúságon, a </a:t>
            </a:r>
            <a:r>
              <a:rPr lang="hu-HU" dirty="0" err="1" smtClean="0"/>
              <a:t>tokenek</a:t>
            </a:r>
            <a:r>
              <a:rPr lang="hu-HU" dirty="0" smtClean="0"/>
              <a:t> együttes előfordulásán a forrás- és célmondatokban. Legjobb példa: </a:t>
            </a:r>
            <a:r>
              <a:rPr lang="hu-HU" dirty="0" err="1" smtClean="0">
                <a:hlinkClick r:id="rId2"/>
              </a:rPr>
              <a:t>HunAlign</a:t>
            </a:r>
            <a:r>
              <a:rPr lang="hu-HU" dirty="0" smtClean="0"/>
              <a:t>.</a:t>
            </a:r>
          </a:p>
          <a:p>
            <a:pPr lvl="3"/>
            <a:r>
              <a:rPr lang="en-GB" dirty="0" err="1" smtClean="0"/>
              <a:t>Nyelvmodelleken</a:t>
            </a:r>
            <a:r>
              <a:rPr lang="hu-HU" dirty="0" smtClean="0"/>
              <a:t>,</a:t>
            </a:r>
            <a:r>
              <a:rPr lang="en-GB" dirty="0" smtClean="0"/>
              <a:t> </a:t>
            </a:r>
            <a:r>
              <a:rPr lang="en-GB" dirty="0" err="1" smtClean="0"/>
              <a:t>különösen</a:t>
            </a:r>
            <a:r>
              <a:rPr lang="en-GB" dirty="0" smtClean="0"/>
              <a:t> </a:t>
            </a:r>
            <a:r>
              <a:rPr lang="en-GB" dirty="0" err="1" smtClean="0"/>
              <a:t>mondatbeágyazásokon</a:t>
            </a:r>
            <a:r>
              <a:rPr lang="en-GB" dirty="0" smtClean="0"/>
              <a:t> (sentence </a:t>
            </a:r>
            <a:r>
              <a:rPr lang="en-GB" dirty="0" err="1" smtClean="0"/>
              <a:t>embeddings</a:t>
            </a:r>
            <a:r>
              <a:rPr lang="hu-HU" dirty="0" smtClean="0"/>
              <a:t>, mondatvektorokon</a:t>
            </a:r>
            <a:r>
              <a:rPr lang="en-GB" dirty="0" smtClean="0"/>
              <a:t>) </a:t>
            </a:r>
            <a:r>
              <a:rPr lang="en-GB" dirty="0" err="1" smtClean="0"/>
              <a:t>alapul</a:t>
            </a:r>
            <a:r>
              <a:rPr lang="hu-HU" dirty="0" smtClean="0"/>
              <a:t>ó</a:t>
            </a:r>
            <a:r>
              <a:rPr lang="en-GB" dirty="0" smtClean="0"/>
              <a:t>. </a:t>
            </a:r>
            <a:r>
              <a:rPr lang="en-GB" dirty="0" err="1" smtClean="0"/>
              <a:t>Legjobb</a:t>
            </a:r>
            <a:r>
              <a:rPr lang="en-GB" dirty="0" smtClean="0"/>
              <a:t> </a:t>
            </a:r>
            <a:r>
              <a:rPr lang="en-GB" dirty="0" err="1" smtClean="0"/>
              <a:t>példa</a:t>
            </a:r>
            <a:r>
              <a:rPr lang="en-GB" dirty="0" smtClean="0"/>
              <a:t>: </a:t>
            </a:r>
            <a:r>
              <a:rPr lang="en-GB" dirty="0" err="1" smtClean="0">
                <a:hlinkClick r:id="rId3"/>
              </a:rPr>
              <a:t>SentAlign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227636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Korpuszformátumok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b="1" dirty="0" err="1" smtClean="0"/>
              <a:t>Nyers</a:t>
            </a:r>
            <a:r>
              <a:rPr lang="en-GB" b="1" dirty="0" smtClean="0"/>
              <a:t> </a:t>
            </a:r>
            <a:r>
              <a:rPr lang="en-GB" b="1" dirty="0" err="1" smtClean="0"/>
              <a:t>szövegfájlok</a:t>
            </a:r>
            <a:r>
              <a:rPr lang="en-GB" dirty="0" smtClean="0"/>
              <a:t>:</a:t>
            </a:r>
          </a:p>
          <a:p>
            <a:pPr lvl="1"/>
            <a:r>
              <a:rPr lang="hu-HU" dirty="0"/>
              <a:t>M</a:t>
            </a:r>
            <a:r>
              <a:rPr lang="en-GB" dirty="0" err="1" smtClean="0"/>
              <a:t>etaadatok</a:t>
            </a:r>
            <a:r>
              <a:rPr lang="en-GB" dirty="0" smtClean="0"/>
              <a:t> </a:t>
            </a:r>
            <a:r>
              <a:rPr lang="en-GB" dirty="0" err="1" smtClean="0"/>
              <a:t>külön</a:t>
            </a:r>
            <a:r>
              <a:rPr lang="en-GB" dirty="0" smtClean="0"/>
              <a:t> </a:t>
            </a:r>
            <a:r>
              <a:rPr lang="en-GB" dirty="0" err="1" smtClean="0"/>
              <a:t>szöveges</a:t>
            </a:r>
            <a:r>
              <a:rPr lang="en-GB" dirty="0" smtClean="0"/>
              <a:t> </a:t>
            </a:r>
            <a:r>
              <a:rPr lang="en-GB" dirty="0" err="1" smtClean="0"/>
              <a:t>dokumentumban</a:t>
            </a:r>
            <a:r>
              <a:rPr lang="en-GB" dirty="0" smtClean="0"/>
              <a:t> </a:t>
            </a:r>
            <a:r>
              <a:rPr lang="hu-HU" dirty="0" smtClean="0"/>
              <a:t>szerepelhetnek</a:t>
            </a:r>
            <a:r>
              <a:rPr lang="en-GB" dirty="0" smtClean="0"/>
              <a:t>.</a:t>
            </a:r>
          </a:p>
          <a:p>
            <a:pPr lvl="1"/>
            <a:r>
              <a:rPr lang="hu-HU" dirty="0" smtClean="0"/>
              <a:t>A</a:t>
            </a:r>
            <a:r>
              <a:rPr lang="en-GB" dirty="0" err="1" smtClean="0"/>
              <a:t>nnotáció</a:t>
            </a:r>
            <a:r>
              <a:rPr lang="en-GB" dirty="0" smtClean="0"/>
              <a:t> </a:t>
            </a:r>
            <a:r>
              <a:rPr lang="en-GB" dirty="0" err="1" smtClean="0"/>
              <a:t>hozzáadható</a:t>
            </a:r>
            <a:r>
              <a:rPr lang="en-GB" dirty="0" smtClean="0"/>
              <a:t> </a:t>
            </a:r>
            <a:r>
              <a:rPr lang="en-GB" b="1" dirty="0" err="1" smtClean="0"/>
              <a:t>külön</a:t>
            </a:r>
            <a:r>
              <a:rPr lang="en-GB" b="1" dirty="0" smtClean="0"/>
              <a:t> </a:t>
            </a:r>
            <a:r>
              <a:rPr lang="en-GB" b="1" dirty="0" err="1" smtClean="0"/>
              <a:t>fájlban</a:t>
            </a:r>
            <a:r>
              <a:rPr lang="en-GB" b="1" dirty="0" smtClean="0"/>
              <a:t> </a:t>
            </a:r>
            <a:r>
              <a:rPr lang="en-GB" dirty="0" err="1" smtClean="0"/>
              <a:t>ún</a:t>
            </a:r>
            <a:r>
              <a:rPr lang="en-GB" dirty="0" smtClean="0"/>
              <a:t>. </a:t>
            </a:r>
            <a:r>
              <a:rPr lang="en-GB" b="1" dirty="0" smtClean="0"/>
              <a:t>standoff </a:t>
            </a:r>
            <a:r>
              <a:rPr lang="en-GB" b="1" dirty="0" err="1" smtClean="0"/>
              <a:t>annot</a:t>
            </a:r>
            <a:r>
              <a:rPr lang="hu-HU" b="1" dirty="0" err="1" smtClean="0"/>
              <a:t>áció</a:t>
            </a:r>
            <a:r>
              <a:rPr lang="en-GB" dirty="0" smtClean="0"/>
              <a:t> </a:t>
            </a:r>
            <a:r>
              <a:rPr lang="en-GB" dirty="0" err="1" smtClean="0"/>
              <a:t>formájában</a:t>
            </a:r>
            <a:r>
              <a:rPr lang="en-GB" dirty="0" smtClean="0"/>
              <a:t>.</a:t>
            </a:r>
          </a:p>
          <a:p>
            <a:pPr lvl="2"/>
            <a:r>
              <a:rPr lang="hu-HU" dirty="0" smtClean="0"/>
              <a:t>Ebben karakterindexszel (a szöveg elejétől számolva) jelölhető meg, a </a:t>
            </a:r>
            <a:r>
              <a:rPr lang="hu-HU" dirty="0" err="1" smtClean="0"/>
              <a:t>tokenizálás</a:t>
            </a:r>
            <a:r>
              <a:rPr lang="hu-HU" dirty="0" smtClean="0"/>
              <a:t>, itt tároljuk az egyes </a:t>
            </a:r>
            <a:r>
              <a:rPr lang="hu-HU" dirty="0" err="1" smtClean="0"/>
              <a:t>tokenekhez</a:t>
            </a:r>
            <a:r>
              <a:rPr lang="hu-HU" dirty="0" smtClean="0"/>
              <a:t> tartozó címkéket, stb.</a:t>
            </a:r>
          </a:p>
          <a:p>
            <a:r>
              <a:rPr lang="hu-HU" b="1" dirty="0" smtClean="0"/>
              <a:t>XML-fájlok:</a:t>
            </a:r>
          </a:p>
          <a:p>
            <a:pPr lvl="1"/>
            <a:r>
              <a:rPr lang="en-GB" dirty="0" smtClean="0"/>
              <a:t>XML</a:t>
            </a:r>
            <a:r>
              <a:rPr lang="hu-HU" dirty="0" smtClean="0"/>
              <a:t>-</a:t>
            </a:r>
            <a:r>
              <a:rPr lang="en-GB" b="1" dirty="0" err="1" smtClean="0"/>
              <a:t>címkék</a:t>
            </a:r>
            <a:r>
              <a:rPr lang="en-GB" dirty="0" smtClean="0"/>
              <a:t> </a:t>
            </a:r>
            <a:r>
              <a:rPr lang="en-GB" dirty="0" err="1" smtClean="0"/>
              <a:t>használhatók</a:t>
            </a:r>
            <a:r>
              <a:rPr lang="en-GB" dirty="0" smtClean="0"/>
              <a:t> a </a:t>
            </a:r>
            <a:r>
              <a:rPr lang="en-GB" dirty="0" err="1" smtClean="0"/>
              <a:t>bekezdések</a:t>
            </a:r>
            <a:r>
              <a:rPr lang="en-GB" dirty="0" smtClean="0"/>
              <a:t>, </a:t>
            </a:r>
            <a:r>
              <a:rPr lang="en-GB" dirty="0" err="1" smtClean="0"/>
              <a:t>mondatok</a:t>
            </a:r>
            <a:r>
              <a:rPr lang="en-GB" dirty="0" smtClean="0"/>
              <a:t>, </a:t>
            </a:r>
            <a:r>
              <a:rPr lang="en-GB" dirty="0" err="1" smtClean="0"/>
              <a:t>tokenek</a:t>
            </a:r>
            <a:r>
              <a:rPr lang="en-GB" dirty="0" smtClean="0"/>
              <a:t> </a:t>
            </a:r>
            <a:r>
              <a:rPr lang="en-GB" dirty="0" err="1" smtClean="0"/>
              <a:t>jelölésére</a:t>
            </a:r>
            <a:r>
              <a:rPr lang="en-GB" dirty="0" smtClean="0"/>
              <a:t>.</a:t>
            </a:r>
          </a:p>
          <a:p>
            <a:pPr lvl="1"/>
            <a:r>
              <a:rPr lang="en-GB" dirty="0" smtClean="0"/>
              <a:t>XML</a:t>
            </a:r>
            <a:r>
              <a:rPr lang="hu-HU" dirty="0" smtClean="0"/>
              <a:t>-</a:t>
            </a:r>
            <a:r>
              <a:rPr lang="en-GB" b="1" dirty="0" err="1" smtClean="0"/>
              <a:t>attribútumok</a:t>
            </a:r>
            <a:r>
              <a:rPr lang="hu-HU" b="1" dirty="0" err="1" smtClean="0"/>
              <a:t>ban</a:t>
            </a:r>
            <a:r>
              <a:rPr lang="en-GB" b="1" dirty="0" smtClean="0"/>
              <a:t> </a:t>
            </a:r>
            <a:r>
              <a:rPr lang="en-GB" dirty="0" err="1" smtClean="0"/>
              <a:t>tárolhat</a:t>
            </a:r>
            <a:r>
              <a:rPr lang="hu-HU" dirty="0" smtClean="0"/>
              <a:t>ó</a:t>
            </a:r>
            <a:r>
              <a:rPr lang="en-GB" dirty="0" smtClean="0"/>
              <a:t>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 smtClean="0"/>
              <a:t>annotáció</a:t>
            </a:r>
            <a:r>
              <a:rPr lang="en-GB" dirty="0" smtClean="0"/>
              <a:t>.</a:t>
            </a:r>
          </a:p>
          <a:p>
            <a:pPr lvl="1"/>
            <a:r>
              <a:rPr lang="hu-HU" dirty="0" err="1"/>
              <a:t>á</a:t>
            </a:r>
            <a:r>
              <a:rPr lang="en-GB" dirty="0" err="1" smtClean="0"/>
              <a:t>ltalános</a:t>
            </a:r>
            <a:r>
              <a:rPr lang="en-GB" dirty="0" smtClean="0"/>
              <a:t> </a:t>
            </a:r>
            <a:r>
              <a:rPr lang="en-GB" dirty="0" err="1" smtClean="0"/>
              <a:t>célú</a:t>
            </a:r>
            <a:r>
              <a:rPr lang="en-GB" dirty="0" smtClean="0"/>
              <a:t>, </a:t>
            </a:r>
            <a:r>
              <a:rPr lang="en-GB" dirty="0" err="1" smtClean="0"/>
              <a:t>gyakori</a:t>
            </a:r>
            <a:r>
              <a:rPr lang="en-GB" dirty="0" smtClean="0"/>
              <a:t> </a:t>
            </a:r>
            <a:r>
              <a:rPr lang="en-GB" dirty="0" err="1" smtClean="0"/>
              <a:t>formátum</a:t>
            </a:r>
            <a:endParaRPr lang="en-GB" dirty="0" smtClean="0"/>
          </a:p>
          <a:p>
            <a:pPr lvl="1"/>
            <a:r>
              <a:rPr lang="en-GB" dirty="0" smtClean="0"/>
              <a:t>XML</a:t>
            </a:r>
            <a:r>
              <a:rPr lang="hu-HU" dirty="0" smtClean="0"/>
              <a:t>-</a:t>
            </a:r>
            <a:r>
              <a:rPr lang="en-GB" b="1" dirty="0" err="1" smtClean="0"/>
              <a:t>szabvány</a:t>
            </a:r>
            <a:r>
              <a:rPr lang="en-GB" dirty="0" smtClean="0"/>
              <a:t>, </a:t>
            </a:r>
            <a:r>
              <a:rPr lang="en-GB" dirty="0" err="1" smtClean="0"/>
              <a:t>amelyet</a:t>
            </a:r>
            <a:r>
              <a:rPr lang="en-GB" dirty="0" smtClean="0"/>
              <a:t> </a:t>
            </a:r>
            <a:r>
              <a:rPr lang="en-GB" dirty="0" err="1" smtClean="0"/>
              <a:t>gyakran</a:t>
            </a:r>
            <a:r>
              <a:rPr lang="en-GB" dirty="0" smtClean="0"/>
              <a:t> </a:t>
            </a:r>
            <a:r>
              <a:rPr lang="en-GB" dirty="0" err="1" smtClean="0"/>
              <a:t>használnak</a:t>
            </a:r>
            <a:r>
              <a:rPr lang="en-GB" dirty="0" smtClean="0"/>
              <a:t> </a:t>
            </a:r>
            <a:r>
              <a:rPr lang="en-GB" dirty="0" err="1" smtClean="0"/>
              <a:t>szövegek</a:t>
            </a:r>
            <a:r>
              <a:rPr lang="hu-HU" dirty="0" smtClean="0"/>
              <a:t>re</a:t>
            </a:r>
            <a:r>
              <a:rPr lang="en-GB" dirty="0" smtClean="0"/>
              <a:t>, </a:t>
            </a:r>
            <a:r>
              <a:rPr lang="en-GB" dirty="0" err="1" smtClean="0"/>
              <a:t>különösen</a:t>
            </a:r>
            <a:r>
              <a:rPr lang="en-GB" dirty="0" smtClean="0"/>
              <a:t> a </a:t>
            </a:r>
            <a:r>
              <a:rPr lang="en-GB" dirty="0" err="1" smtClean="0"/>
              <a:t>digitális</a:t>
            </a:r>
            <a:r>
              <a:rPr lang="en-GB" dirty="0" smtClean="0"/>
              <a:t> </a:t>
            </a:r>
            <a:r>
              <a:rPr lang="hu-HU" dirty="0" smtClean="0"/>
              <a:t>bölcsészetben</a:t>
            </a:r>
            <a:r>
              <a:rPr lang="en-GB" dirty="0" smtClean="0"/>
              <a:t>: </a:t>
            </a:r>
            <a:r>
              <a:rPr lang="en-GB" b="1" dirty="0" err="1" smtClean="0"/>
              <a:t>TEI</a:t>
            </a:r>
            <a:r>
              <a:rPr lang="en-GB" dirty="0" smtClean="0"/>
              <a:t> (</a:t>
            </a:r>
            <a:r>
              <a:rPr lang="en-GB" i="1" dirty="0" smtClean="0"/>
              <a:t>text encoding initiative</a:t>
            </a:r>
            <a:r>
              <a:rPr lang="en-GB" dirty="0" smtClean="0"/>
              <a:t>), </a:t>
            </a:r>
            <a:r>
              <a:rPr lang="en-GB" dirty="0" err="1" smtClean="0"/>
              <a:t>részletes</a:t>
            </a:r>
            <a:r>
              <a:rPr lang="en-GB" dirty="0" smtClean="0"/>
              <a:t> </a:t>
            </a:r>
            <a:r>
              <a:rPr lang="en-GB" dirty="0" err="1" smtClean="0"/>
              <a:t>specifikáció</a:t>
            </a:r>
            <a:r>
              <a:rPr lang="en-GB" dirty="0" smtClean="0"/>
              <a:t>.</a:t>
            </a:r>
          </a:p>
          <a:p>
            <a:r>
              <a:rPr lang="hu-HU" b="1" dirty="0" smtClean="0"/>
              <a:t>Függőleges </a:t>
            </a:r>
            <a:r>
              <a:rPr lang="hu-HU" dirty="0" smtClean="0"/>
              <a:t>(vertikális) formátum:</a:t>
            </a:r>
          </a:p>
          <a:p>
            <a:pPr lvl="1"/>
            <a:r>
              <a:rPr lang="hu-HU" dirty="0" err="1" smtClean="0"/>
              <a:t>Markup</a:t>
            </a:r>
            <a:r>
              <a:rPr lang="hu-HU" dirty="0" smtClean="0"/>
              <a:t> nélküli egyszerű szöveges fájl </a:t>
            </a:r>
            <a:r>
              <a:rPr lang="hu-HU" b="1" dirty="0" err="1" smtClean="0"/>
              <a:t>tsv</a:t>
            </a:r>
            <a:r>
              <a:rPr lang="hu-HU" dirty="0" smtClean="0"/>
              <a:t> formátumban (tabulátorral elválasztott oszlopok)</a:t>
            </a:r>
          </a:p>
          <a:p>
            <a:pPr lvl="1"/>
            <a:r>
              <a:rPr lang="en-GB" dirty="0" smtClean="0"/>
              <a:t>A </a:t>
            </a:r>
            <a:r>
              <a:rPr lang="en-GB" dirty="0" err="1" smtClean="0"/>
              <a:t>táblázat</a:t>
            </a:r>
            <a:r>
              <a:rPr lang="en-GB" dirty="0" smtClean="0"/>
              <a:t> </a:t>
            </a:r>
            <a:r>
              <a:rPr lang="en-GB" dirty="0" err="1" smtClean="0"/>
              <a:t>fejléce</a:t>
            </a:r>
            <a:r>
              <a:rPr lang="en-GB" dirty="0" smtClean="0"/>
              <a:t> </a:t>
            </a:r>
            <a:r>
              <a:rPr lang="en-GB" dirty="0" err="1" smtClean="0"/>
              <a:t>tartalmazza</a:t>
            </a:r>
            <a:r>
              <a:rPr lang="en-GB" dirty="0" smtClean="0"/>
              <a:t>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 smtClean="0"/>
              <a:t>annotáció</a:t>
            </a:r>
            <a:r>
              <a:rPr lang="en-GB" dirty="0" smtClean="0"/>
              <a:t> </a:t>
            </a:r>
            <a:r>
              <a:rPr lang="en-GB" dirty="0" err="1" smtClean="0"/>
              <a:t>típusát</a:t>
            </a:r>
            <a:r>
              <a:rPr lang="en-GB" dirty="0" smtClean="0"/>
              <a:t>.</a:t>
            </a:r>
          </a:p>
          <a:p>
            <a:pPr lvl="1"/>
            <a:r>
              <a:rPr lang="hu-HU" dirty="0" smtClean="0"/>
              <a:t>Minden sor egy-egy </a:t>
            </a:r>
            <a:r>
              <a:rPr lang="hu-HU" dirty="0" err="1" smtClean="0"/>
              <a:t>token</a:t>
            </a:r>
            <a:r>
              <a:rPr lang="hu-HU" dirty="0" smtClean="0"/>
              <a:t> adatait tartalmazza, az oszlopok pedig az adott jellemző értékét az adott </a:t>
            </a:r>
            <a:r>
              <a:rPr lang="hu-HU" dirty="0" err="1" smtClean="0"/>
              <a:t>tokenre</a:t>
            </a:r>
            <a:r>
              <a:rPr lang="hu-HU" dirty="0" smtClean="0"/>
              <a:t> vonatkozóan.</a:t>
            </a:r>
          </a:p>
        </p:txBody>
      </p:sp>
    </p:spTree>
    <p:extLst>
      <p:ext uri="{BB962C8B-B14F-4D97-AF65-F5344CB8AC3E}">
        <p14:creationId xmlns:p14="http://schemas.microsoft.com/office/powerpoint/2010/main" val="1967844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Korpuszmotorok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hu-HU" sz="2000" dirty="0"/>
              <a:t>Először létrehozunk egy korpuszt:</a:t>
            </a:r>
            <a:endParaRPr lang="hu-HU" sz="2000" dirty="0"/>
          </a:p>
          <a:p>
            <a:pPr lvl="1">
              <a:spcBef>
                <a:spcPts val="0"/>
              </a:spcBef>
            </a:pPr>
            <a:r>
              <a:rPr lang="hu-HU" sz="1800" dirty="0"/>
              <a:t>a</a:t>
            </a:r>
            <a:r>
              <a:rPr lang="hu-HU" sz="1800" dirty="0"/>
              <a:t>z egyes szövegeket összegyűjtjük, esetleg részkorpuszokba csoportosítjuk (pl. műfaj, év, nyelv stb. szerint).</a:t>
            </a:r>
          </a:p>
          <a:p>
            <a:pPr lvl="1">
              <a:spcBef>
                <a:spcPts val="0"/>
              </a:spcBef>
            </a:pPr>
            <a:r>
              <a:rPr lang="en-GB" sz="1800" dirty="0" err="1"/>
              <a:t>Feldolgozás</a:t>
            </a:r>
            <a:r>
              <a:rPr lang="en-GB" sz="1800" dirty="0" smtClean="0"/>
              <a:t>: </a:t>
            </a:r>
          </a:p>
          <a:p>
            <a:pPr lvl="2">
              <a:lnSpc>
                <a:spcPct val="80000"/>
              </a:lnSpc>
            </a:pPr>
            <a:r>
              <a:rPr lang="hu-HU" sz="1600" dirty="0" err="1"/>
              <a:t>t</a:t>
            </a:r>
            <a:r>
              <a:rPr lang="en-GB" sz="1600" dirty="0" err="1"/>
              <a:t>okenizálás</a:t>
            </a:r>
            <a:r>
              <a:rPr lang="en-GB" sz="1600" dirty="0"/>
              <a:t>, </a:t>
            </a:r>
            <a:r>
              <a:rPr lang="en-GB" sz="1600" dirty="0" err="1"/>
              <a:t>mondatokra</a:t>
            </a:r>
            <a:r>
              <a:rPr lang="en-GB" sz="1600" dirty="0"/>
              <a:t> </a:t>
            </a:r>
            <a:r>
              <a:rPr lang="en-GB" sz="1600" dirty="0" err="1"/>
              <a:t>szegmentálás</a:t>
            </a:r>
            <a:r>
              <a:rPr lang="en-GB" sz="1600" dirty="0"/>
              <a:t>.</a:t>
            </a:r>
          </a:p>
          <a:p>
            <a:pPr lvl="2">
              <a:lnSpc>
                <a:spcPct val="80000"/>
              </a:lnSpc>
            </a:pPr>
            <a:r>
              <a:rPr lang="hu-HU" sz="1600" dirty="0" err="1"/>
              <a:t>a</a:t>
            </a:r>
            <a:r>
              <a:rPr lang="en-GB" sz="1600" dirty="0" err="1"/>
              <a:t>nnotáció</a:t>
            </a:r>
            <a:endParaRPr lang="hu-HU" sz="1600" dirty="0"/>
          </a:p>
          <a:p>
            <a:pPr lvl="2">
              <a:lnSpc>
                <a:spcPct val="80000"/>
              </a:lnSpc>
            </a:pPr>
            <a:r>
              <a:rPr lang="hu-HU" sz="1600" dirty="0"/>
              <a:t>átalakítás a kívánt </a:t>
            </a:r>
            <a:r>
              <a:rPr lang="en-GB" sz="1600" dirty="0" err="1"/>
              <a:t>formátum</a:t>
            </a:r>
            <a:r>
              <a:rPr lang="hu-HU" sz="1600" dirty="0"/>
              <a:t>r</a:t>
            </a:r>
            <a:r>
              <a:rPr lang="en-GB" sz="1600" dirty="0"/>
              <a:t>a (</a:t>
            </a:r>
            <a:r>
              <a:rPr lang="en-GB" sz="1600" dirty="0" err="1"/>
              <a:t>általában</a:t>
            </a:r>
            <a:r>
              <a:rPr lang="en-GB" sz="1600" dirty="0"/>
              <a:t> XML </a:t>
            </a:r>
            <a:r>
              <a:rPr lang="en-GB" sz="1600" dirty="0" err="1"/>
              <a:t>vagy</a:t>
            </a:r>
            <a:r>
              <a:rPr lang="en-GB" sz="1600" dirty="0"/>
              <a:t> </a:t>
            </a:r>
            <a:r>
              <a:rPr lang="en-GB" sz="1600" dirty="0" err="1"/>
              <a:t>vertikális</a:t>
            </a:r>
            <a:r>
              <a:rPr lang="en-GB" sz="1600" dirty="0"/>
              <a:t>).</a:t>
            </a:r>
            <a:endParaRPr lang="hu-HU" sz="1600" dirty="0"/>
          </a:p>
          <a:p>
            <a:r>
              <a:rPr lang="hu-HU" sz="2000" dirty="0" smtClean="0"/>
              <a:t>A </a:t>
            </a:r>
            <a:r>
              <a:rPr lang="hu-HU" sz="2000" dirty="0"/>
              <a:t>korpusz</a:t>
            </a:r>
            <a:r>
              <a:rPr lang="hu-HU" sz="2000" dirty="0" smtClean="0"/>
              <a:t> terjeszthető </a:t>
            </a:r>
            <a:r>
              <a:rPr lang="hu-HU" sz="2000" dirty="0" smtClean="0"/>
              <a:t>e formában, </a:t>
            </a:r>
            <a:r>
              <a:rPr lang="hu-HU" sz="2000" dirty="0" smtClean="0"/>
              <a:t>vagy kiszolgálható </a:t>
            </a:r>
            <a:r>
              <a:rPr lang="hu-HU" sz="2000" b="1" dirty="0" smtClean="0"/>
              <a:t>korpuszmotorral</a:t>
            </a:r>
            <a:r>
              <a:rPr lang="hu-HU" sz="2000" dirty="0" smtClean="0"/>
              <a:t>:</a:t>
            </a:r>
          </a:p>
          <a:p>
            <a:pPr lvl="1">
              <a:spcBef>
                <a:spcPts val="0"/>
              </a:spcBef>
            </a:pPr>
            <a:r>
              <a:rPr lang="hu-HU" sz="1800" b="1" dirty="0" err="1"/>
              <a:t>t</a:t>
            </a:r>
            <a:r>
              <a:rPr lang="en-GB" sz="1800" b="1" dirty="0" err="1" smtClean="0"/>
              <a:t>árolja</a:t>
            </a:r>
            <a:r>
              <a:rPr lang="en-GB" sz="1800" b="1" dirty="0" smtClean="0"/>
              <a:t> </a:t>
            </a:r>
            <a:r>
              <a:rPr lang="en-GB" sz="1800" dirty="0" smtClean="0"/>
              <a:t>a </a:t>
            </a:r>
            <a:r>
              <a:rPr lang="en-GB" sz="1800" dirty="0" err="1" smtClean="0"/>
              <a:t>korpuszt</a:t>
            </a:r>
            <a:r>
              <a:rPr lang="en-GB" sz="1800" dirty="0" smtClean="0"/>
              <a:t> </a:t>
            </a:r>
            <a:r>
              <a:rPr lang="en-GB" sz="1800" dirty="0" err="1" smtClean="0"/>
              <a:t>az</a:t>
            </a:r>
            <a:r>
              <a:rPr lang="en-GB" sz="1800" dirty="0" smtClean="0"/>
              <a:t> </a:t>
            </a:r>
            <a:r>
              <a:rPr lang="en-GB" sz="1800" dirty="0" err="1" smtClean="0"/>
              <a:t>összes</a:t>
            </a:r>
            <a:r>
              <a:rPr lang="en-GB" sz="1800" dirty="0" smtClean="0"/>
              <a:t> </a:t>
            </a:r>
            <a:r>
              <a:rPr lang="en-GB" sz="1800" b="1" dirty="0" err="1"/>
              <a:t>annotációval</a:t>
            </a:r>
            <a:r>
              <a:rPr lang="en-GB" sz="1800" dirty="0" smtClean="0"/>
              <a:t> </a:t>
            </a:r>
            <a:r>
              <a:rPr lang="en-GB" sz="1800" dirty="0" err="1" smtClean="0"/>
              <a:t>együtt</a:t>
            </a:r>
            <a:r>
              <a:rPr lang="hu-HU" sz="1800" dirty="0"/>
              <a:t>,</a:t>
            </a:r>
            <a:endParaRPr lang="en-GB" sz="1800" dirty="0" smtClean="0"/>
          </a:p>
          <a:p>
            <a:pPr lvl="1">
              <a:spcBef>
                <a:spcPts val="0"/>
              </a:spcBef>
            </a:pPr>
            <a:r>
              <a:rPr lang="hu-HU" sz="1800" b="1" dirty="0"/>
              <a:t>indexet </a:t>
            </a:r>
            <a:r>
              <a:rPr lang="hu-HU" sz="1800" dirty="0" smtClean="0"/>
              <a:t>épít </a:t>
            </a:r>
            <a:r>
              <a:rPr lang="hu-HU" sz="1800" dirty="0" smtClean="0"/>
              <a:t>és kezel a </a:t>
            </a:r>
            <a:r>
              <a:rPr lang="hu-HU" sz="1800" dirty="0"/>
              <a:t>korpuszban</a:t>
            </a:r>
            <a:r>
              <a:rPr lang="hu-HU" sz="1800" dirty="0" smtClean="0"/>
              <a:t> lévő összes </a:t>
            </a:r>
            <a:r>
              <a:rPr lang="hu-HU" sz="1800" dirty="0" err="1" smtClean="0"/>
              <a:t>tokenről</a:t>
            </a:r>
            <a:r>
              <a:rPr lang="hu-HU" sz="1800" dirty="0" smtClean="0"/>
              <a:t> a </a:t>
            </a:r>
            <a:r>
              <a:rPr lang="hu-HU" sz="1800" dirty="0" smtClean="0"/>
              <a:t>gyorsabb keresés érdekében </a:t>
            </a:r>
            <a:r>
              <a:rPr lang="hu-HU" sz="1800" dirty="0" smtClean="0"/>
              <a:t>(sokkal </a:t>
            </a:r>
            <a:r>
              <a:rPr lang="hu-HU" sz="1800" dirty="0" smtClean="0"/>
              <a:t>gyorsabb, </a:t>
            </a:r>
            <a:r>
              <a:rPr lang="hu-HU" sz="1800" dirty="0" smtClean="0"/>
              <a:t>mint a szövegek lineáris átvizsgálása).</a:t>
            </a:r>
          </a:p>
          <a:p>
            <a:pPr lvl="1">
              <a:spcBef>
                <a:spcPts val="0"/>
              </a:spcBef>
            </a:pPr>
            <a:r>
              <a:rPr lang="en-GB" sz="1800" b="1" dirty="0" err="1"/>
              <a:t>felhasználói</a:t>
            </a:r>
            <a:r>
              <a:rPr lang="en-GB" sz="1800" b="1" dirty="0"/>
              <a:t> </a:t>
            </a:r>
            <a:r>
              <a:rPr lang="en-GB" sz="1800" b="1" dirty="0" err="1" smtClean="0"/>
              <a:t>felülete</a:t>
            </a:r>
            <a:r>
              <a:rPr lang="hu-HU" sz="1800" b="1" dirty="0" smtClean="0"/>
              <a:t>t</a:t>
            </a:r>
            <a:r>
              <a:rPr lang="en-GB" sz="1800" b="1" dirty="0" smtClean="0"/>
              <a:t> </a:t>
            </a:r>
            <a:r>
              <a:rPr lang="hu-HU" sz="1800" dirty="0" smtClean="0"/>
              <a:t>kínál </a:t>
            </a:r>
            <a:r>
              <a:rPr lang="en-GB" sz="1800" dirty="0" smtClean="0"/>
              <a:t>a</a:t>
            </a:r>
            <a:r>
              <a:rPr lang="en-GB" sz="1800" dirty="0" smtClean="0"/>
              <a:t> </a:t>
            </a:r>
            <a:r>
              <a:rPr lang="en-GB" sz="1800" dirty="0" err="1" smtClean="0"/>
              <a:t>szövegekhez</a:t>
            </a:r>
            <a:r>
              <a:rPr lang="en-GB" sz="1800" dirty="0" smtClean="0"/>
              <a:t> </a:t>
            </a:r>
            <a:r>
              <a:rPr lang="en-GB" sz="1800" dirty="0" err="1" smtClean="0"/>
              <a:t>való</a:t>
            </a:r>
            <a:r>
              <a:rPr lang="en-GB" sz="1800" dirty="0" smtClean="0"/>
              <a:t> </a:t>
            </a:r>
            <a:r>
              <a:rPr lang="en-GB" sz="1800" dirty="0" err="1" smtClean="0"/>
              <a:t>hozzáférés</a:t>
            </a:r>
            <a:r>
              <a:rPr lang="hu-HU" sz="1800" dirty="0"/>
              <a:t> </a:t>
            </a:r>
            <a:r>
              <a:rPr lang="hu-HU" sz="1800" dirty="0" smtClean="0"/>
              <a:t>céljából:</a:t>
            </a:r>
            <a:endParaRPr lang="en-GB" sz="1800" dirty="0" smtClean="0"/>
          </a:p>
          <a:p>
            <a:pPr lvl="2">
              <a:lnSpc>
                <a:spcPct val="80000"/>
              </a:lnSpc>
            </a:pPr>
            <a:r>
              <a:rPr lang="hu-HU" sz="1400" b="1" dirty="0" err="1"/>
              <a:t>k</a:t>
            </a:r>
            <a:r>
              <a:rPr lang="en-GB" sz="1500" b="1" dirty="0" err="1"/>
              <a:t>eresés</a:t>
            </a:r>
            <a:r>
              <a:rPr lang="en-GB" sz="1500" b="1" dirty="0"/>
              <a:t> token</a:t>
            </a:r>
            <a:r>
              <a:rPr lang="hu-HU" sz="1500" b="1" dirty="0"/>
              <a:t>alakra </a:t>
            </a:r>
            <a:r>
              <a:rPr lang="en-GB" sz="1500" b="1" dirty="0" err="1"/>
              <a:t>vagy</a:t>
            </a:r>
            <a:r>
              <a:rPr lang="en-GB" sz="1500" b="1" dirty="0"/>
              <a:t> </a:t>
            </a:r>
            <a:r>
              <a:rPr lang="en-GB" sz="1500" b="1" dirty="0" err="1"/>
              <a:t>annotációra</a:t>
            </a:r>
            <a:r>
              <a:rPr lang="hu-HU" sz="1500" b="1" dirty="0"/>
              <a:t>,</a:t>
            </a:r>
            <a:endParaRPr lang="en-GB" sz="1500" b="1" dirty="0"/>
          </a:p>
          <a:p>
            <a:pPr lvl="2">
              <a:lnSpc>
                <a:spcPct val="80000"/>
              </a:lnSpc>
            </a:pPr>
            <a:r>
              <a:rPr lang="hu-HU" sz="1500" dirty="0"/>
              <a:t>kiegészülhet menüalapú </a:t>
            </a:r>
            <a:r>
              <a:rPr lang="hu-HU" sz="1500" dirty="0" smtClean="0"/>
              <a:t>keresőfelülettel, a </a:t>
            </a:r>
            <a:r>
              <a:rPr lang="hu-HU" sz="1500" dirty="0"/>
              <a:t>motor </a:t>
            </a:r>
            <a:r>
              <a:rPr lang="hu-HU" sz="1500" dirty="0" smtClean="0"/>
              <a:t>által értelmezett lekérdező nyelvvel</a:t>
            </a:r>
            <a:endParaRPr lang="hu-HU" sz="1500" dirty="0"/>
          </a:p>
          <a:p>
            <a:pPr lvl="2">
              <a:lnSpc>
                <a:spcPct val="80000"/>
              </a:lnSpc>
            </a:pPr>
            <a:r>
              <a:rPr lang="hu-HU" sz="1500" dirty="0"/>
              <a:t>a</a:t>
            </a:r>
            <a:r>
              <a:rPr lang="en-GB" sz="1500" dirty="0"/>
              <a:t> </a:t>
            </a:r>
            <a:r>
              <a:rPr lang="en-GB" sz="1500" dirty="0" err="1"/>
              <a:t>keresési</a:t>
            </a:r>
            <a:r>
              <a:rPr lang="en-GB" sz="1500" dirty="0"/>
              <a:t> </a:t>
            </a:r>
            <a:r>
              <a:rPr lang="en-GB" sz="1500" dirty="0" err="1"/>
              <a:t>eredményeket</a:t>
            </a:r>
            <a:r>
              <a:rPr lang="en-GB" sz="1500" dirty="0"/>
              <a:t> </a:t>
            </a:r>
            <a:r>
              <a:rPr lang="en-GB" sz="1500" dirty="0" err="1" smtClean="0"/>
              <a:t>gyakorisági</a:t>
            </a:r>
            <a:r>
              <a:rPr lang="en-GB" sz="1500" dirty="0" smtClean="0"/>
              <a:t> </a:t>
            </a:r>
            <a:r>
              <a:rPr lang="hu-HU" sz="1500" dirty="0"/>
              <a:t>számok </a:t>
            </a:r>
            <a:r>
              <a:rPr lang="en-GB" sz="1500" dirty="0" err="1"/>
              <a:t>és</a:t>
            </a:r>
            <a:r>
              <a:rPr lang="en-GB" sz="1500" dirty="0"/>
              <a:t> </a:t>
            </a:r>
            <a:r>
              <a:rPr lang="en-GB" sz="1500" dirty="0" err="1"/>
              <a:t>konkordanciák</a:t>
            </a:r>
            <a:r>
              <a:rPr lang="en-GB" sz="1500" dirty="0"/>
              <a:t> </a:t>
            </a:r>
            <a:r>
              <a:rPr lang="en-GB" sz="1500" dirty="0" err="1"/>
              <a:t>formájában</a:t>
            </a:r>
            <a:r>
              <a:rPr lang="en-GB" sz="1500" dirty="0"/>
              <a:t> </a:t>
            </a:r>
            <a:r>
              <a:rPr lang="hu-HU" sz="1500" dirty="0"/>
              <a:t>jeleníti meg,</a:t>
            </a:r>
            <a:endParaRPr lang="en-GB" sz="1500" dirty="0"/>
          </a:p>
          <a:p>
            <a:pPr lvl="2">
              <a:lnSpc>
                <a:spcPct val="80000"/>
              </a:lnSpc>
            </a:pPr>
            <a:r>
              <a:rPr lang="hu-HU" sz="1500" dirty="0"/>
              <a:t>gyakran további funkciókkal egészül ki, mint pl. </a:t>
            </a:r>
            <a:r>
              <a:rPr lang="hu-HU" sz="1500" dirty="0" err="1"/>
              <a:t>kollokációk</a:t>
            </a:r>
            <a:r>
              <a:rPr lang="hu-HU" sz="1500" dirty="0"/>
              <a:t> kinyerése</a:t>
            </a:r>
          </a:p>
        </p:txBody>
      </p:sp>
    </p:spTree>
    <p:extLst>
      <p:ext uri="{BB962C8B-B14F-4D97-AF65-F5344CB8AC3E}">
        <p14:creationId xmlns:p14="http://schemas.microsoft.com/office/powerpoint/2010/main" val="2105865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smtClean="0"/>
              <a:t>A </a:t>
            </a:r>
            <a:r>
              <a:rPr lang="hu-HU" b="1" dirty="0" err="1" smtClean="0"/>
              <a:t>Sketch</a:t>
            </a:r>
            <a:r>
              <a:rPr lang="hu-HU" b="1" dirty="0" smtClean="0"/>
              <a:t> </a:t>
            </a:r>
            <a:r>
              <a:rPr lang="hu-HU" b="1" dirty="0" err="1" smtClean="0"/>
              <a:t>Engine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legfontosabb korpuszkezelő rendszer, 2004 óta létezik.</a:t>
            </a:r>
          </a:p>
          <a:p>
            <a:pPr lvl="1"/>
            <a:r>
              <a:rPr lang="en-GB" dirty="0">
                <a:hlinkClick r:id="rId2"/>
              </a:rPr>
              <a:t>Adam </a:t>
            </a:r>
            <a:r>
              <a:rPr lang="en-GB" dirty="0" err="1" smtClean="0">
                <a:hlinkClick r:id="rId2"/>
              </a:rPr>
              <a:t>Kilgarriff</a:t>
            </a:r>
            <a:r>
              <a:rPr lang="hu-HU" dirty="0" smtClean="0">
                <a:hlinkClick r:id="rId2"/>
              </a:rPr>
              <a:t> </a:t>
            </a:r>
            <a:r>
              <a:rPr lang="hu-HU" dirty="0" smtClean="0">
                <a:hlinkClick r:id="rId2"/>
              </a:rPr>
              <a:t>és </a:t>
            </a:r>
            <a:r>
              <a:rPr lang="hu-HU" dirty="0" err="1" smtClean="0">
                <a:hlinkClick r:id="rId2"/>
              </a:rPr>
              <a:t>mtsai</a:t>
            </a:r>
            <a:r>
              <a:rPr lang="hu-HU" dirty="0" smtClean="0">
                <a:hlinkClick r:id="rId2"/>
              </a:rPr>
              <a:t>,</a:t>
            </a:r>
            <a:r>
              <a:rPr lang="en-GB" dirty="0" smtClean="0">
                <a:hlinkClick r:id="rId2"/>
              </a:rPr>
              <a:t> </a:t>
            </a:r>
            <a:r>
              <a:rPr lang="en-GB" dirty="0">
                <a:hlinkClick r:id="rId2"/>
              </a:rPr>
              <a:t>The Sketch Engine. </a:t>
            </a:r>
            <a:r>
              <a:rPr lang="en-GB" i="1" dirty="0">
                <a:hlinkClick r:id="rId2"/>
              </a:rPr>
              <a:t>Proceedings of the 11th </a:t>
            </a:r>
            <a:r>
              <a:rPr lang="en-GB" i="1" dirty="0" err="1">
                <a:hlinkClick r:id="rId2"/>
              </a:rPr>
              <a:t>EURALEX</a:t>
            </a:r>
            <a:r>
              <a:rPr lang="en-GB" i="1" dirty="0">
                <a:hlinkClick r:id="rId2"/>
              </a:rPr>
              <a:t> International Congress</a:t>
            </a:r>
            <a:r>
              <a:rPr lang="en-GB" dirty="0">
                <a:hlinkClick r:id="rId2"/>
              </a:rPr>
              <a:t>: 105-116, 2004</a:t>
            </a:r>
            <a:r>
              <a:rPr lang="en-GB" dirty="0" smtClean="0"/>
              <a:t>.</a:t>
            </a:r>
            <a:endParaRPr lang="hu-HU" dirty="0" smtClean="0"/>
          </a:p>
          <a:p>
            <a:r>
              <a:rPr lang="hu-HU" dirty="0" smtClean="0"/>
              <a:t>A szokásos funkciókon túl, mint </a:t>
            </a:r>
            <a:r>
              <a:rPr lang="hu-HU" dirty="0" smtClean="0"/>
              <a:t>indexelés</a:t>
            </a:r>
            <a:r>
              <a:rPr lang="hu-HU" dirty="0" smtClean="0"/>
              <a:t>, keresés és az eredmények </a:t>
            </a:r>
            <a:r>
              <a:rPr lang="hu-HU" dirty="0" err="1" smtClean="0"/>
              <a:t>KWIC</a:t>
            </a:r>
            <a:r>
              <a:rPr lang="hu-HU" dirty="0" smtClean="0"/>
              <a:t> formátumban való megjelenítése, ún. </a:t>
            </a:r>
            <a:r>
              <a:rPr lang="hu-HU" b="1" dirty="0" smtClean="0"/>
              <a:t>szóvázlatokat</a:t>
            </a:r>
            <a:r>
              <a:rPr lang="hu-HU" dirty="0" smtClean="0"/>
              <a:t> (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sketch</a:t>
            </a:r>
            <a:r>
              <a:rPr lang="hu-HU" dirty="0" smtClean="0"/>
              <a:t>) </a:t>
            </a:r>
            <a:r>
              <a:rPr lang="hu-HU" dirty="0" smtClean="0"/>
              <a:t>készít, </a:t>
            </a:r>
            <a:r>
              <a:rPr lang="hu-HU" dirty="0" smtClean="0"/>
              <a:t>amelyek egy szó nyelvtani viselkedésének tömör, </a:t>
            </a:r>
            <a:r>
              <a:rPr lang="hu-HU" dirty="0" err="1" smtClean="0"/>
              <a:t>szócikkszerű</a:t>
            </a:r>
            <a:r>
              <a:rPr lang="hu-HU" dirty="0" smtClean="0"/>
              <a:t> </a:t>
            </a:r>
            <a:r>
              <a:rPr lang="hu-HU" dirty="0" smtClean="0"/>
              <a:t>összefoglalásai</a:t>
            </a:r>
            <a:r>
              <a:rPr lang="hu-HU" dirty="0" smtClean="0"/>
              <a:t>.</a:t>
            </a:r>
          </a:p>
          <a:p>
            <a:r>
              <a:rPr lang="hu-HU" dirty="0" smtClean="0"/>
              <a:t>Például </a:t>
            </a:r>
            <a:r>
              <a:rPr lang="hu-HU" dirty="0" smtClean="0"/>
              <a:t>a </a:t>
            </a:r>
            <a:r>
              <a:rPr lang="hu-HU" i="1" dirty="0" smtClean="0"/>
              <a:t>döntés </a:t>
            </a:r>
            <a:r>
              <a:rPr lang="hu-HU" dirty="0" smtClean="0"/>
              <a:t>főnévhez egy szóvázlat olyan dolgokat tartalmazhat, mint:</a:t>
            </a:r>
          </a:p>
          <a:p>
            <a:pPr lvl="1"/>
            <a:r>
              <a:rPr lang="hu-HU" dirty="0" smtClean="0"/>
              <a:t>gyakori módosítói (melléknévi jelzői): </a:t>
            </a:r>
            <a:r>
              <a:rPr lang="hu-HU" i="1" dirty="0" smtClean="0"/>
              <a:t>fontos, végső, szabad, felelős</a:t>
            </a:r>
          </a:p>
          <a:p>
            <a:pPr lvl="1"/>
            <a:r>
              <a:rPr lang="hu-HU" dirty="0" smtClean="0"/>
              <a:t>mely igéknek lehet tárgya: </a:t>
            </a:r>
            <a:r>
              <a:rPr lang="hu-HU" i="1" dirty="0" smtClean="0"/>
              <a:t>hoz, megtámad</a:t>
            </a:r>
          </a:p>
          <a:p>
            <a:pPr lvl="1"/>
            <a:r>
              <a:rPr lang="hu-HU" dirty="0" smtClean="0"/>
              <a:t>ezeket a </a:t>
            </a:r>
            <a:r>
              <a:rPr lang="en-GB" dirty="0" smtClean="0"/>
              <a:t>Sketch Engine</a:t>
            </a:r>
            <a:r>
              <a:rPr lang="hu-HU" dirty="0" smtClean="0"/>
              <a:t> a benne </a:t>
            </a:r>
            <a:r>
              <a:rPr lang="en-GB" dirty="0" err="1" smtClean="0"/>
              <a:t>tárolt</a:t>
            </a:r>
            <a:r>
              <a:rPr lang="en-GB" dirty="0" smtClean="0"/>
              <a:t> </a:t>
            </a:r>
            <a:r>
              <a:rPr lang="hu-HU" dirty="0" smtClean="0"/>
              <a:t>adott </a:t>
            </a:r>
            <a:r>
              <a:rPr lang="en-GB" dirty="0" err="1" smtClean="0"/>
              <a:t>korpuszból</a:t>
            </a:r>
            <a:r>
              <a:rPr lang="en-GB" dirty="0" smtClean="0"/>
              <a:t> </a:t>
            </a:r>
            <a:r>
              <a:rPr lang="hu-HU" b="1" dirty="0" smtClean="0"/>
              <a:t>nyeri ki</a:t>
            </a:r>
            <a:r>
              <a:rPr lang="en-GB" dirty="0" smtClean="0"/>
              <a:t>,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en-GB" dirty="0" err="1" smtClean="0"/>
              <a:t>így</a:t>
            </a:r>
            <a:r>
              <a:rPr lang="en-GB" dirty="0" smtClean="0"/>
              <a:t> </a:t>
            </a:r>
            <a:r>
              <a:rPr lang="hu-HU" dirty="0" smtClean="0"/>
              <a:t>kifejezetten </a:t>
            </a:r>
            <a:r>
              <a:rPr lang="hu-HU" b="1" dirty="0" smtClean="0"/>
              <a:t>arra jellemzőek</a:t>
            </a:r>
            <a:endParaRPr lang="hu-HU" b="1" dirty="0"/>
          </a:p>
          <a:p>
            <a:pPr lvl="1"/>
            <a:r>
              <a:rPr lang="hu-HU" dirty="0" err="1"/>
              <a:t>l</a:t>
            </a:r>
            <a:r>
              <a:rPr lang="en-GB" dirty="0" err="1" smtClean="0"/>
              <a:t>ényegében</a:t>
            </a:r>
            <a:r>
              <a:rPr lang="en-GB" dirty="0" smtClean="0"/>
              <a:t> </a:t>
            </a:r>
            <a:r>
              <a:rPr lang="hu-HU" dirty="0" smtClean="0"/>
              <a:t>olyan statisztikai </a:t>
            </a:r>
            <a:r>
              <a:rPr lang="en-GB" dirty="0" err="1" smtClean="0"/>
              <a:t>szóhasználat</a:t>
            </a:r>
            <a:r>
              <a:rPr lang="hu-HU" dirty="0" smtClean="0"/>
              <a:t>i szótár</a:t>
            </a:r>
            <a:r>
              <a:rPr lang="en-GB" dirty="0" smtClean="0"/>
              <a:t>, </a:t>
            </a:r>
            <a:r>
              <a:rPr lang="en-GB" dirty="0" err="1" smtClean="0"/>
              <a:t>amely</a:t>
            </a:r>
            <a:r>
              <a:rPr lang="en-GB" dirty="0" smtClean="0"/>
              <a:t> </a:t>
            </a:r>
            <a:r>
              <a:rPr lang="en-GB" b="1" dirty="0" err="1" smtClean="0"/>
              <a:t>nem</a:t>
            </a:r>
            <a:r>
              <a:rPr lang="en-GB" b="1" dirty="0" smtClean="0"/>
              <a:t> </a:t>
            </a:r>
            <a:r>
              <a:rPr lang="en-GB" b="1" dirty="0" err="1" smtClean="0"/>
              <a:t>intuíción</a:t>
            </a:r>
            <a:r>
              <a:rPr lang="en-GB" b="1" dirty="0" smtClean="0"/>
              <a:t> </a:t>
            </a:r>
            <a:r>
              <a:rPr lang="en-GB" dirty="0" smtClean="0"/>
              <a:t>(</a:t>
            </a:r>
            <a:r>
              <a:rPr lang="hu-HU" dirty="0" smtClean="0"/>
              <a:t>különösen </a:t>
            </a:r>
            <a:r>
              <a:rPr lang="en-GB" dirty="0" smtClean="0"/>
              <a:t>a </a:t>
            </a:r>
            <a:r>
              <a:rPr lang="hu-HU" dirty="0" smtClean="0"/>
              <a:t>szótáríróén</a:t>
            </a:r>
            <a:r>
              <a:rPr lang="en-GB" dirty="0" smtClean="0"/>
              <a:t>), </a:t>
            </a:r>
            <a:r>
              <a:rPr lang="en-GB" dirty="0" err="1" smtClean="0"/>
              <a:t>hanem</a:t>
            </a:r>
            <a:r>
              <a:rPr lang="en-GB" dirty="0" smtClean="0"/>
              <a:t> </a:t>
            </a:r>
            <a:r>
              <a:rPr lang="en-GB" dirty="0" err="1" smtClean="0"/>
              <a:t>valós</a:t>
            </a:r>
            <a:r>
              <a:rPr lang="en-GB" dirty="0" smtClean="0"/>
              <a:t> </a:t>
            </a:r>
            <a:r>
              <a:rPr lang="en-GB" dirty="0" err="1" smtClean="0"/>
              <a:t>adatokon</a:t>
            </a:r>
            <a:r>
              <a:rPr lang="en-GB" dirty="0" smtClean="0"/>
              <a:t> </a:t>
            </a:r>
            <a:r>
              <a:rPr lang="en-GB" dirty="0" err="1" smtClean="0"/>
              <a:t>alapul</a:t>
            </a:r>
            <a:r>
              <a:rPr lang="en-GB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709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Sketch</a:t>
            </a:r>
            <a:r>
              <a:rPr lang="hu-HU" dirty="0"/>
              <a:t> </a:t>
            </a:r>
            <a:r>
              <a:rPr lang="hu-HU" dirty="0" err="1"/>
              <a:t>Engine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600" dirty="0" smtClean="0"/>
              <a:t>Forrás: </a:t>
            </a:r>
            <a:r>
              <a:rPr lang="hu-HU" sz="1600" dirty="0" err="1">
                <a:hlinkClick r:id="rId2"/>
              </a:rPr>
              <a:t>https</a:t>
            </a:r>
            <a:r>
              <a:rPr lang="hu-HU" sz="1600" dirty="0">
                <a:hlinkClick r:id="rId2"/>
              </a:rPr>
              <a:t>://</a:t>
            </a:r>
            <a:r>
              <a:rPr lang="hu-HU" sz="1600" dirty="0" err="1" smtClean="0">
                <a:hlinkClick r:id="rId2"/>
              </a:rPr>
              <a:t>www.sketchengine.eu</a:t>
            </a:r>
            <a:r>
              <a:rPr lang="hu-HU" sz="1600" dirty="0" smtClean="0">
                <a:hlinkClick r:id="rId2"/>
              </a:rPr>
              <a:t>/</a:t>
            </a:r>
            <a:r>
              <a:rPr lang="hu-HU" sz="1600" dirty="0" err="1" smtClean="0">
                <a:hlinkClick r:id="rId2"/>
              </a:rPr>
              <a:t>guide</a:t>
            </a:r>
            <a:r>
              <a:rPr lang="hu-HU" sz="1600" dirty="0" smtClean="0">
                <a:hlinkClick r:id="rId2"/>
              </a:rPr>
              <a:t>/</a:t>
            </a:r>
            <a:r>
              <a:rPr lang="hu-HU" sz="1600" dirty="0" err="1" smtClean="0">
                <a:hlinkClick r:id="rId2"/>
              </a:rPr>
              <a:t>word-sketch-collocations-and-word-combinations</a:t>
            </a:r>
            <a:r>
              <a:rPr lang="hu-HU" sz="1600" dirty="0" smtClean="0">
                <a:hlinkClick r:id="rId2"/>
              </a:rPr>
              <a:t>/</a:t>
            </a:r>
            <a:endParaRPr lang="en-GB" sz="1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276872"/>
            <a:ext cx="8415337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4819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Kollokációk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 </a:t>
            </a:r>
            <a:r>
              <a:rPr lang="hu-HU" b="1" dirty="0" err="1" smtClean="0"/>
              <a:t>kollokáció</a:t>
            </a:r>
            <a:r>
              <a:rPr lang="hu-HU" dirty="0" smtClean="0"/>
              <a:t> </a:t>
            </a:r>
            <a:r>
              <a:rPr lang="hu-HU" dirty="0" smtClean="0"/>
              <a:t>olyan </a:t>
            </a:r>
            <a:r>
              <a:rPr lang="hu-HU" dirty="0" smtClean="0"/>
              <a:t>szópár, amely </a:t>
            </a:r>
            <a:r>
              <a:rPr lang="hu-HU" b="1" dirty="0" smtClean="0"/>
              <a:t>gyakrabban fordul elő </a:t>
            </a:r>
            <a:r>
              <a:rPr lang="hu-HU" dirty="0" smtClean="0"/>
              <a:t>együtt egy nyelvben, mint ami </a:t>
            </a:r>
            <a:r>
              <a:rPr lang="hu-HU" b="1" dirty="0" smtClean="0"/>
              <a:t>véletlenszerűen várható lenne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pl. </a:t>
            </a:r>
            <a:r>
              <a:rPr lang="hu-HU" i="1" dirty="0" smtClean="0"/>
              <a:t>ígéretet tesz, kap, betart, teljesít, megszeg, ígéretéhez híven, ígéret földje, hangzatos ígéret</a:t>
            </a:r>
          </a:p>
          <a:p>
            <a:pPr lvl="1"/>
            <a:r>
              <a:rPr lang="hu-HU" dirty="0" smtClean="0"/>
              <a:t>a </a:t>
            </a:r>
            <a:r>
              <a:rPr lang="hu-HU" i="1" dirty="0" smtClean="0"/>
              <a:t>véletlenszerűen </a:t>
            </a:r>
            <a:r>
              <a:rPr lang="hu-HU" dirty="0" smtClean="0"/>
              <a:t>szigorúan valószínűségi, matematikai értelemben értendő, </a:t>
            </a:r>
            <a:r>
              <a:rPr lang="hu-HU" dirty="0" smtClean="0"/>
              <a:t>azt </a:t>
            </a:r>
            <a:r>
              <a:rPr lang="hu-HU" dirty="0" smtClean="0"/>
              <a:t>feltételezve, hogy a </a:t>
            </a:r>
            <a:r>
              <a:rPr lang="hu-HU" dirty="0" err="1" smtClean="0"/>
              <a:t>tokenek</a:t>
            </a:r>
            <a:r>
              <a:rPr lang="hu-HU" dirty="0" smtClean="0"/>
              <a:t> előfordulása független egymástól.</a:t>
            </a:r>
          </a:p>
          <a:p>
            <a:pPr lvl="2"/>
            <a:r>
              <a:rPr lang="hu-HU" i="1" dirty="0" smtClean="0"/>
              <a:t>független</a:t>
            </a:r>
            <a:r>
              <a:rPr lang="hu-HU" dirty="0" smtClean="0"/>
              <a:t> </a:t>
            </a:r>
            <a:r>
              <a:rPr lang="hu-HU" dirty="0" smtClean="0"/>
              <a:t>azt jelenti, hogy a szavak véletlenszerű sorrendben fordulnak elő, pusztán a külön-külön vett abszolút gyakoriságuk </a:t>
            </a:r>
            <a:r>
              <a:rPr lang="hu-HU" dirty="0" smtClean="0"/>
              <a:t>alapján</a:t>
            </a:r>
            <a:endParaRPr lang="hu-HU" dirty="0" smtClean="0"/>
          </a:p>
          <a:p>
            <a:pPr lvl="2"/>
            <a:r>
              <a:rPr lang="hu-HU" dirty="0" smtClean="0"/>
              <a:t>Ez nem reális modellje a nyelvnek, mivel egy </a:t>
            </a:r>
            <a:r>
              <a:rPr lang="hu-HU" dirty="0" err="1" smtClean="0"/>
              <a:t>szótoken</a:t>
            </a:r>
            <a:r>
              <a:rPr lang="hu-HU" dirty="0" smtClean="0"/>
              <a:t> előfordulása mindig nagyban függ a környező kontextustól,</a:t>
            </a:r>
          </a:p>
          <a:p>
            <a:pPr lvl="2"/>
            <a:r>
              <a:rPr lang="hu-HU" dirty="0" smtClean="0"/>
              <a:t>a </a:t>
            </a:r>
            <a:r>
              <a:rPr lang="hu-HU" dirty="0" smtClean="0"/>
              <a:t>függetlenségi feltevés ennek ellenére </a:t>
            </a:r>
            <a:r>
              <a:rPr lang="hu-HU" dirty="0" smtClean="0"/>
              <a:t>jól </a:t>
            </a:r>
            <a:r>
              <a:rPr lang="hu-HU" dirty="0" smtClean="0"/>
              <a:t>működik a </a:t>
            </a:r>
            <a:r>
              <a:rPr lang="hu-HU" dirty="0" smtClean="0"/>
              <a:t>gyakorlatban, ha </a:t>
            </a:r>
            <a:r>
              <a:rPr lang="hu-HU" dirty="0" err="1" smtClean="0"/>
              <a:t>kollokációkat</a:t>
            </a:r>
            <a:r>
              <a:rPr lang="hu-HU" dirty="0" smtClean="0"/>
              <a:t> akarunk keresni.</a:t>
            </a:r>
            <a:endParaRPr lang="hu-HU" dirty="0" smtClean="0"/>
          </a:p>
          <a:p>
            <a:pPr lvl="1"/>
            <a:r>
              <a:rPr lang="hu-HU" i="1" dirty="0" smtClean="0"/>
              <a:t>gyakrabban: </a:t>
            </a:r>
            <a:r>
              <a:rPr lang="hu-HU" b="1" dirty="0" smtClean="0"/>
              <a:t>fokozatos</a:t>
            </a:r>
            <a:r>
              <a:rPr lang="hu-HU" dirty="0" smtClean="0"/>
              <a:t> kategória, nem diszkrét </a:t>
            </a:r>
            <a:r>
              <a:rPr lang="en-GB" dirty="0" err="1" smtClean="0"/>
              <a:t>bináris</a:t>
            </a:r>
            <a:r>
              <a:rPr lang="en-GB" dirty="0" smtClean="0"/>
              <a:t>, </a:t>
            </a:r>
            <a:r>
              <a:rPr lang="en-GB" dirty="0" err="1" smtClean="0"/>
              <a:t>kategorikus</a:t>
            </a:r>
            <a:r>
              <a:rPr lang="en-GB" dirty="0" smtClean="0"/>
              <a:t>, </a:t>
            </a:r>
            <a:r>
              <a:rPr lang="en-GB" dirty="0" err="1" smtClean="0"/>
              <a:t>hanem</a:t>
            </a:r>
            <a:r>
              <a:rPr lang="en-GB" dirty="0" smtClean="0"/>
              <a:t> </a:t>
            </a:r>
            <a:r>
              <a:rPr lang="hu-HU" dirty="0" smtClean="0"/>
              <a:t>úgy tehető fel a kérdés</a:t>
            </a:r>
            <a:r>
              <a:rPr lang="en-GB" dirty="0" smtClean="0"/>
              <a:t>, </a:t>
            </a:r>
            <a:r>
              <a:rPr lang="en-GB" dirty="0" err="1" smtClean="0"/>
              <a:t>hogy</a:t>
            </a:r>
            <a:r>
              <a:rPr lang="en-GB" dirty="0" smtClean="0"/>
              <a:t> </a:t>
            </a:r>
            <a:r>
              <a:rPr lang="en-GB" b="1" dirty="0" err="1" smtClean="0"/>
              <a:t>mennyivel</a:t>
            </a:r>
            <a:r>
              <a:rPr lang="en-GB" b="1" dirty="0" smtClean="0"/>
              <a:t> </a:t>
            </a:r>
            <a:r>
              <a:rPr lang="hu-HU" dirty="0" smtClean="0"/>
              <a:t>gyakrabban</a:t>
            </a:r>
          </a:p>
          <a:p>
            <a:pPr lvl="2"/>
            <a:r>
              <a:rPr lang="hu-HU" dirty="0" smtClean="0"/>
              <a:t>Különféle statisztikai mérőszámok használhatók a </a:t>
            </a:r>
            <a:r>
              <a:rPr lang="hu-HU" dirty="0" err="1" smtClean="0"/>
              <a:t>kollokáció</a:t>
            </a:r>
            <a:r>
              <a:rPr lang="hu-HU" dirty="0" smtClean="0"/>
              <a:t> </a:t>
            </a:r>
            <a:r>
              <a:rPr lang="hu-HU" b="1" dirty="0" smtClean="0"/>
              <a:t>erősségének </a:t>
            </a:r>
            <a:r>
              <a:rPr lang="hu-HU" dirty="0" smtClean="0"/>
              <a:t>számszerűsítésére.</a:t>
            </a:r>
          </a:p>
          <a:p>
            <a:pPr lvl="3"/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r>
              <a:rPr lang="hu-HU" dirty="0" smtClean="0"/>
              <a:t>: </a:t>
            </a:r>
            <a:r>
              <a:rPr lang="hu-HU" dirty="0" err="1" smtClean="0"/>
              <a:t>T-score</a:t>
            </a:r>
            <a:r>
              <a:rPr lang="hu-HU" dirty="0" smtClean="0"/>
              <a:t>, </a:t>
            </a:r>
            <a:r>
              <a:rPr lang="hu-HU" dirty="0" err="1" smtClean="0"/>
              <a:t>mutual</a:t>
            </a:r>
            <a:r>
              <a:rPr lang="hu-HU" dirty="0" smtClean="0"/>
              <a:t> </a:t>
            </a:r>
            <a:r>
              <a:rPr lang="hu-HU" dirty="0" err="1" smtClean="0"/>
              <a:t>information</a:t>
            </a:r>
            <a:r>
              <a:rPr lang="hu-HU" dirty="0" smtClean="0"/>
              <a:t> (MI), </a:t>
            </a:r>
            <a:r>
              <a:rPr lang="hu-HU" dirty="0" err="1" smtClean="0"/>
              <a:t>LogDice</a:t>
            </a:r>
            <a:endParaRPr lang="hu-HU" dirty="0" smtClean="0"/>
          </a:p>
          <a:p>
            <a:pPr lvl="2"/>
            <a:r>
              <a:rPr lang="hu-HU" dirty="0" smtClean="0"/>
              <a:t>A </a:t>
            </a:r>
            <a:r>
              <a:rPr lang="hu-HU" dirty="0" err="1" smtClean="0"/>
              <a:t>kollokációk</a:t>
            </a:r>
            <a:r>
              <a:rPr lang="hu-HU" dirty="0" smtClean="0"/>
              <a:t> erősség szerint sorrendbe állíthatók, nincs éles határ vagy küszöb, amely elválasztja a </a:t>
            </a:r>
            <a:r>
              <a:rPr lang="hu-HU" dirty="0" err="1" smtClean="0"/>
              <a:t>kollokációkat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nem </a:t>
            </a:r>
            <a:r>
              <a:rPr lang="hu-HU" dirty="0" err="1" smtClean="0"/>
              <a:t>kollokáció</a:t>
            </a:r>
            <a:r>
              <a:rPr lang="hu-HU" dirty="0" smtClean="0"/>
              <a:t> jellegű szópároktól</a:t>
            </a:r>
          </a:p>
          <a:p>
            <a:pPr lvl="1"/>
            <a:r>
              <a:rPr lang="hu-HU" dirty="0" smtClean="0"/>
              <a:t>általánosabban: nem feltétlenül pont két szó, lehet több szóból álló </a:t>
            </a:r>
            <a:r>
              <a:rPr lang="hu-HU" dirty="0" err="1" smtClean="0"/>
              <a:t>tokensorozatok</a:t>
            </a:r>
            <a:r>
              <a:rPr lang="hu-HU" dirty="0" smtClean="0"/>
              <a:t> párja is</a:t>
            </a:r>
          </a:p>
        </p:txBody>
      </p:sp>
    </p:spTree>
    <p:extLst>
      <p:ext uri="{BB962C8B-B14F-4D97-AF65-F5344CB8AC3E}">
        <p14:creationId xmlns:p14="http://schemas.microsoft.com/office/powerpoint/2010/main" val="1305329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NoSketchEngine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A </a:t>
            </a:r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r>
              <a:rPr lang="hu-HU" dirty="0" smtClean="0"/>
              <a:t> fizetett szolgáltatás, </a:t>
            </a:r>
            <a:r>
              <a:rPr lang="hu-HU" dirty="0" smtClean="0"/>
              <a:t>amely több dolgot tartalmaz:</a:t>
            </a:r>
            <a:endParaRPr lang="hu-HU" dirty="0" smtClean="0"/>
          </a:p>
          <a:p>
            <a:pPr lvl="1"/>
            <a:r>
              <a:rPr lang="hu-HU" dirty="0"/>
              <a:t>m</a:t>
            </a:r>
            <a:r>
              <a:rPr lang="hu-HU" dirty="0" smtClean="0"/>
              <a:t>agát a korpuszkezelő rendszert,</a:t>
            </a:r>
          </a:p>
          <a:p>
            <a:pPr lvl="1"/>
            <a:r>
              <a:rPr lang="hu-HU" dirty="0"/>
              <a:t>a</a:t>
            </a:r>
            <a:r>
              <a:rPr lang="hu-HU" dirty="0" smtClean="0"/>
              <a:t> korpusz </a:t>
            </a:r>
            <a:r>
              <a:rPr lang="hu-HU" dirty="0" err="1" smtClean="0"/>
              <a:t>hosztolását</a:t>
            </a:r>
            <a:r>
              <a:rPr lang="hu-HU" dirty="0" smtClean="0"/>
              <a:t> a </a:t>
            </a:r>
            <a:r>
              <a:rPr lang="hu-HU" dirty="0" err="1" smtClean="0"/>
              <a:t>Lexical</a:t>
            </a:r>
            <a:r>
              <a:rPr lang="hu-HU" dirty="0" smtClean="0"/>
              <a:t> </a:t>
            </a:r>
            <a:r>
              <a:rPr lang="hu-HU" dirty="0" err="1" smtClean="0"/>
              <a:t>Computing</a:t>
            </a:r>
            <a:r>
              <a:rPr lang="hu-HU" dirty="0" smtClean="0"/>
              <a:t> nevű cég által kezelt szervereken (székhely: </a:t>
            </a:r>
            <a:r>
              <a:rPr lang="hu-HU" dirty="0" smtClean="0"/>
              <a:t>Nagy-Britannia és </a:t>
            </a:r>
            <a:r>
              <a:rPr lang="hu-HU" dirty="0" smtClean="0"/>
              <a:t>Csehország),</a:t>
            </a:r>
          </a:p>
          <a:p>
            <a:pPr lvl="1"/>
            <a:r>
              <a:rPr lang="hu-HU" dirty="0" smtClean="0"/>
              <a:t>támogatást egy </a:t>
            </a:r>
            <a:r>
              <a:rPr lang="hu-HU" dirty="0" smtClean="0"/>
              <a:t>korpusz létrehozásához nyers szövegekből.</a:t>
            </a:r>
          </a:p>
          <a:p>
            <a:r>
              <a:rPr lang="hu-HU" dirty="0" smtClean="0"/>
              <a:t>A </a:t>
            </a:r>
            <a:r>
              <a:rPr lang="hu-HU" b="1" dirty="0" err="1" smtClean="0"/>
              <a:t>NoSketchEngine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Sketch</a:t>
            </a:r>
            <a:r>
              <a:rPr lang="hu-HU" dirty="0" smtClean="0"/>
              <a:t> </a:t>
            </a:r>
            <a:r>
              <a:rPr lang="hu-HU" dirty="0" err="1" smtClean="0"/>
              <a:t>Engine</a:t>
            </a:r>
            <a:r>
              <a:rPr lang="hu-HU" dirty="0" smtClean="0"/>
              <a:t> </a:t>
            </a:r>
            <a:r>
              <a:rPr lang="hu-HU" b="1" dirty="0" smtClean="0"/>
              <a:t>ingyenes, nyílt forráskódú </a:t>
            </a:r>
            <a:r>
              <a:rPr lang="hu-HU" dirty="0" smtClean="0"/>
              <a:t>leágazása csökkentett funkcionalitással.</a:t>
            </a:r>
          </a:p>
          <a:p>
            <a:pPr lvl="1"/>
            <a:r>
              <a:rPr lang="hu-HU" dirty="0" smtClean="0"/>
              <a:t>Fő különbség: nincsenek szóvázlatok, csak sima </a:t>
            </a:r>
            <a:r>
              <a:rPr lang="hu-HU" dirty="0" err="1" smtClean="0"/>
              <a:t>kollokációk</a:t>
            </a:r>
            <a:endParaRPr lang="hu-HU" dirty="0" smtClean="0"/>
          </a:p>
          <a:p>
            <a:pPr lvl="1"/>
            <a:r>
              <a:rPr lang="en-GB" dirty="0" smtClean="0"/>
              <a:t>A </a:t>
            </a:r>
            <a:r>
              <a:rPr lang="en-GB" dirty="0" err="1" smtClean="0"/>
              <a:t>felhasználó</a:t>
            </a:r>
            <a:r>
              <a:rPr lang="en-GB" dirty="0" smtClean="0"/>
              <a:t> </a:t>
            </a:r>
            <a:r>
              <a:rPr lang="en-GB" dirty="0" err="1" smtClean="0"/>
              <a:t>saját</a:t>
            </a:r>
            <a:r>
              <a:rPr lang="en-GB" dirty="0" smtClean="0"/>
              <a:t> </a:t>
            </a:r>
            <a:r>
              <a:rPr lang="en-GB" dirty="0" err="1" smtClean="0"/>
              <a:t>platformján</a:t>
            </a:r>
            <a:r>
              <a:rPr lang="en-GB" dirty="0" smtClean="0"/>
              <a:t> </a:t>
            </a:r>
            <a:r>
              <a:rPr lang="en-GB" dirty="0" err="1" smtClean="0"/>
              <a:t>futtatható</a:t>
            </a:r>
            <a:r>
              <a:rPr lang="en-GB" dirty="0" smtClean="0"/>
              <a:t>.</a:t>
            </a:r>
          </a:p>
          <a:p>
            <a:pPr lvl="1"/>
            <a:r>
              <a:rPr lang="hu-HU" dirty="0" smtClean="0"/>
              <a:t>Ugyanazt a </a:t>
            </a:r>
            <a:r>
              <a:rPr lang="hu-HU" dirty="0" smtClean="0"/>
              <a:t>böngészőalapú </a:t>
            </a:r>
            <a:r>
              <a:rPr lang="hu-HU" dirty="0" smtClean="0"/>
              <a:t>grafikus felhasználói felületet biztosítja, mint a </a:t>
            </a:r>
            <a:r>
              <a:rPr lang="hu-HU" dirty="0" err="1" smtClean="0"/>
              <a:t>SkE</a:t>
            </a:r>
            <a:r>
              <a:rPr lang="hu-HU" dirty="0" smtClean="0"/>
              <a:t>.</a:t>
            </a:r>
          </a:p>
          <a:p>
            <a:pPr lvl="1"/>
            <a:r>
              <a:rPr lang="en-GB" dirty="0" smtClean="0"/>
              <a:t>A </a:t>
            </a:r>
            <a:r>
              <a:rPr lang="en-GB" dirty="0" err="1" smtClean="0"/>
              <a:t>korpuszt</a:t>
            </a:r>
            <a:r>
              <a:rPr lang="en-GB" dirty="0" smtClean="0"/>
              <a:t> </a:t>
            </a:r>
            <a:r>
              <a:rPr lang="en-GB" dirty="0" err="1" smtClean="0"/>
              <a:t>vertikális</a:t>
            </a:r>
            <a:r>
              <a:rPr lang="en-GB" dirty="0" smtClean="0"/>
              <a:t> </a:t>
            </a:r>
            <a:r>
              <a:rPr lang="en-GB" dirty="0" err="1" smtClean="0"/>
              <a:t>fájlok</a:t>
            </a:r>
            <a:r>
              <a:rPr lang="en-GB" dirty="0" smtClean="0"/>
              <a:t> </a:t>
            </a:r>
            <a:r>
              <a:rPr lang="en-GB" dirty="0" err="1" smtClean="0"/>
              <a:t>formájában</a:t>
            </a:r>
            <a:r>
              <a:rPr lang="en-GB" dirty="0" smtClean="0"/>
              <a:t> </a:t>
            </a:r>
            <a:r>
              <a:rPr lang="hu-HU" dirty="0" smtClean="0"/>
              <a:t>visszük be </a:t>
            </a:r>
            <a:r>
              <a:rPr lang="en-GB" dirty="0" smtClean="0"/>
              <a:t>a </a:t>
            </a:r>
            <a:r>
              <a:rPr lang="en-GB" dirty="0" err="1" smtClean="0"/>
              <a:t>NoSkE</a:t>
            </a:r>
            <a:r>
              <a:rPr lang="en-GB" dirty="0" smtClean="0"/>
              <a:t>-be.</a:t>
            </a:r>
          </a:p>
          <a:p>
            <a:pPr lvl="2"/>
            <a:r>
              <a:rPr lang="hu-HU" dirty="0" smtClean="0"/>
              <a:t>A </a:t>
            </a:r>
            <a:r>
              <a:rPr lang="hu-HU" dirty="0" err="1" smtClean="0"/>
              <a:t>NoSkE</a:t>
            </a:r>
            <a:r>
              <a:rPr lang="hu-HU" dirty="0" smtClean="0"/>
              <a:t> nem végzi el a korpusz </a:t>
            </a:r>
            <a:r>
              <a:rPr lang="hu-HU" dirty="0" err="1" smtClean="0"/>
              <a:t>előfeldolgozását</a:t>
            </a:r>
            <a:r>
              <a:rPr lang="hu-HU" dirty="0" smtClean="0"/>
              <a:t>!</a:t>
            </a:r>
          </a:p>
          <a:p>
            <a:pPr lvl="2"/>
            <a:r>
              <a:rPr lang="en-GB" dirty="0" smtClean="0"/>
              <a:t>A </a:t>
            </a:r>
            <a:r>
              <a:rPr lang="en-GB" dirty="0" err="1" smtClean="0"/>
              <a:t>tokenizálást</a:t>
            </a:r>
            <a:r>
              <a:rPr lang="en-GB" dirty="0" smtClean="0"/>
              <a:t>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 smtClean="0"/>
              <a:t>összes</a:t>
            </a:r>
            <a:r>
              <a:rPr lang="en-GB" dirty="0" smtClean="0"/>
              <a:t> </a:t>
            </a:r>
            <a:r>
              <a:rPr lang="en-GB" dirty="0" err="1" smtClean="0"/>
              <a:t>annotációt</a:t>
            </a:r>
            <a:r>
              <a:rPr lang="en-GB" dirty="0" smtClean="0"/>
              <a:t> </a:t>
            </a:r>
            <a:r>
              <a:rPr lang="hu-HU" dirty="0" smtClean="0"/>
              <a:t>eleve </a:t>
            </a:r>
            <a:r>
              <a:rPr lang="en-GB" dirty="0" err="1" smtClean="0"/>
              <a:t>tartalmaznia</a:t>
            </a:r>
            <a:r>
              <a:rPr lang="en-GB" dirty="0" smtClean="0"/>
              <a:t> </a:t>
            </a:r>
            <a:r>
              <a:rPr lang="en-GB" dirty="0" err="1" smtClean="0"/>
              <a:t>kell</a:t>
            </a:r>
            <a:r>
              <a:rPr lang="en-GB" dirty="0" smtClean="0"/>
              <a:t> a </a:t>
            </a:r>
            <a:r>
              <a:rPr lang="en-GB" dirty="0" err="1" smtClean="0"/>
              <a:t>vertikális</a:t>
            </a:r>
            <a:r>
              <a:rPr lang="en-GB" dirty="0" smtClean="0"/>
              <a:t> </a:t>
            </a:r>
            <a:r>
              <a:rPr lang="en-GB" dirty="0" err="1" smtClean="0"/>
              <a:t>fájlnak</a:t>
            </a:r>
            <a:r>
              <a:rPr lang="hu-HU" dirty="0" smtClean="0"/>
              <a:t>.</a:t>
            </a:r>
          </a:p>
          <a:p>
            <a:pPr lvl="1"/>
            <a:r>
              <a:rPr lang="en-GB" dirty="0" smtClean="0"/>
              <a:t>A </a:t>
            </a:r>
            <a:r>
              <a:rPr lang="en-GB" dirty="0" err="1" smtClean="0"/>
              <a:t>vertikális</a:t>
            </a:r>
            <a:r>
              <a:rPr lang="en-GB" dirty="0" smtClean="0"/>
              <a:t> </a:t>
            </a:r>
            <a:r>
              <a:rPr lang="en-GB" dirty="0" err="1" smtClean="0"/>
              <a:t>fájlokon</a:t>
            </a:r>
            <a:r>
              <a:rPr lang="en-GB" dirty="0" smtClean="0"/>
              <a:t> </a:t>
            </a:r>
            <a:r>
              <a:rPr lang="en-GB" dirty="0" err="1" smtClean="0"/>
              <a:t>túl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>
                <a:hlinkClick r:id="rId2"/>
              </a:rPr>
              <a:t>korpuszkonfigurációs</a:t>
            </a:r>
            <a:r>
              <a:rPr lang="en-GB" dirty="0" smtClean="0">
                <a:hlinkClick r:id="rId2"/>
              </a:rPr>
              <a:t> </a:t>
            </a:r>
            <a:r>
              <a:rPr lang="en-GB" dirty="0" err="1" smtClean="0">
                <a:hlinkClick r:id="rId2"/>
              </a:rPr>
              <a:t>fájlt</a:t>
            </a:r>
            <a:r>
              <a:rPr lang="en-GB" dirty="0" smtClean="0"/>
              <a:t> is meg </a:t>
            </a:r>
            <a:r>
              <a:rPr lang="en-GB" dirty="0" err="1" smtClean="0"/>
              <a:t>kell</a:t>
            </a:r>
            <a:r>
              <a:rPr lang="en-GB" dirty="0" smtClean="0"/>
              <a:t> </a:t>
            </a:r>
            <a:r>
              <a:rPr lang="en-GB" dirty="0" err="1" smtClean="0"/>
              <a:t>adni</a:t>
            </a:r>
            <a:r>
              <a:rPr lang="en-GB" dirty="0" smtClean="0"/>
              <a:t>.</a:t>
            </a:r>
          </a:p>
          <a:p>
            <a:pPr lvl="1"/>
            <a:r>
              <a:rPr lang="en-GB" dirty="0" smtClean="0"/>
              <a:t>A </a:t>
            </a:r>
            <a:r>
              <a:rPr lang="en-GB" dirty="0" err="1" smtClean="0"/>
              <a:t>megadott</a:t>
            </a:r>
            <a:r>
              <a:rPr lang="en-GB" dirty="0" smtClean="0"/>
              <a:t> </a:t>
            </a:r>
            <a:r>
              <a:rPr lang="en-GB" dirty="0" err="1" smtClean="0"/>
              <a:t>vertikális</a:t>
            </a:r>
            <a:r>
              <a:rPr lang="en-GB" dirty="0" smtClean="0"/>
              <a:t> </a:t>
            </a:r>
            <a:r>
              <a:rPr lang="en-GB" dirty="0" err="1" smtClean="0"/>
              <a:t>fájlok</a:t>
            </a:r>
            <a:r>
              <a:rPr lang="en-GB" dirty="0" smtClean="0"/>
              <a:t>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en-GB" dirty="0" err="1" smtClean="0"/>
              <a:t>konfigurációs</a:t>
            </a:r>
            <a:r>
              <a:rPr lang="en-GB" dirty="0" smtClean="0"/>
              <a:t> </a:t>
            </a:r>
            <a:r>
              <a:rPr lang="en-GB" dirty="0" err="1" smtClean="0"/>
              <a:t>fájlok</a:t>
            </a:r>
            <a:r>
              <a:rPr lang="en-GB" dirty="0" smtClean="0"/>
              <a:t> </a:t>
            </a:r>
            <a:r>
              <a:rPr lang="en-GB" dirty="0" err="1" smtClean="0"/>
              <a:t>alapján</a:t>
            </a:r>
            <a:r>
              <a:rPr lang="en-GB" dirty="0" smtClean="0"/>
              <a:t> a </a:t>
            </a:r>
            <a:r>
              <a:rPr lang="en-GB" dirty="0" err="1" smtClean="0"/>
              <a:t>NoSkE</a:t>
            </a:r>
            <a:r>
              <a:rPr lang="en-GB" dirty="0" smtClean="0"/>
              <a:t> </a:t>
            </a:r>
            <a:r>
              <a:rPr lang="en-GB" dirty="0" err="1" smtClean="0"/>
              <a:t>automatikusan</a:t>
            </a:r>
            <a:r>
              <a:rPr lang="en-GB" dirty="0" smtClean="0"/>
              <a:t> </a:t>
            </a:r>
            <a:r>
              <a:rPr lang="en-GB" dirty="0" err="1" smtClean="0"/>
              <a:t>generál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indexet</a:t>
            </a:r>
            <a:r>
              <a:rPr lang="en-GB" dirty="0" smtClean="0"/>
              <a:t> a </a:t>
            </a:r>
            <a:r>
              <a:rPr lang="en-GB" dirty="0" err="1" smtClean="0"/>
              <a:t>korpusz</a:t>
            </a:r>
            <a:r>
              <a:rPr lang="hu-HU" dirty="0" smtClean="0"/>
              <a:t>hoz</a:t>
            </a:r>
            <a:r>
              <a:rPr lang="en-GB" dirty="0" smtClean="0"/>
              <a:t>, </a:t>
            </a:r>
            <a:r>
              <a:rPr lang="en-GB" dirty="0" err="1" smtClean="0"/>
              <a:t>és</a:t>
            </a:r>
            <a:r>
              <a:rPr lang="en-GB" dirty="0" smtClean="0"/>
              <a:t> </a:t>
            </a:r>
            <a:r>
              <a:rPr lang="en-GB" dirty="0" err="1" smtClean="0"/>
              <a:t>felhasználói</a:t>
            </a:r>
            <a:r>
              <a:rPr lang="en-GB" dirty="0" smtClean="0"/>
              <a:t> </a:t>
            </a:r>
            <a:r>
              <a:rPr lang="en-GB" dirty="0" err="1" smtClean="0"/>
              <a:t>felületet</a:t>
            </a:r>
            <a:r>
              <a:rPr lang="hu-HU" dirty="0" smtClean="0"/>
              <a:t> kínál, </a:t>
            </a:r>
            <a:r>
              <a:rPr lang="hu-HU" dirty="0" smtClean="0"/>
              <a:t>amelyen keresztül</a:t>
            </a:r>
            <a:r>
              <a:rPr lang="en-GB" dirty="0" smtClean="0"/>
              <a:t> </a:t>
            </a:r>
            <a:r>
              <a:rPr lang="hu-HU" dirty="0" smtClean="0"/>
              <a:t>kereshetünk </a:t>
            </a:r>
            <a:r>
              <a:rPr lang="en-GB" dirty="0" smtClean="0"/>
              <a:t>a </a:t>
            </a:r>
            <a:r>
              <a:rPr lang="en-GB" dirty="0" err="1" smtClean="0"/>
              <a:t>korpusz</a:t>
            </a:r>
            <a:r>
              <a:rPr lang="hu-HU" dirty="0" err="1" smtClean="0"/>
              <a:t>ban</a:t>
            </a:r>
            <a:r>
              <a:rPr lang="en-GB" dirty="0" smtClean="0"/>
              <a:t> </a:t>
            </a:r>
            <a:r>
              <a:rPr lang="hu-HU" dirty="0" smtClean="0"/>
              <a:t>az </a:t>
            </a:r>
            <a:r>
              <a:rPr lang="en-GB" dirty="0" smtClean="0"/>
              <a:t>index </a:t>
            </a:r>
            <a:r>
              <a:rPr lang="en-GB" dirty="0" err="1" smtClean="0"/>
              <a:t>alapján</a:t>
            </a:r>
            <a:r>
              <a:rPr lang="en-GB" dirty="0" smtClean="0"/>
              <a:t>.</a:t>
            </a:r>
            <a:endParaRPr lang="hu-HU" dirty="0" smtClean="0"/>
          </a:p>
          <a:p>
            <a:r>
              <a:rPr lang="hu-HU" dirty="0" smtClean="0"/>
              <a:t>Fontos példa: a Magyar Nemzeti Szövegtár 2 (a magyar nemzeti korpusz aktuális változata) </a:t>
            </a:r>
            <a:r>
              <a:rPr lang="hu-HU" dirty="0" err="1" smtClean="0"/>
              <a:t>NoSketchEngine-en</a:t>
            </a:r>
            <a:r>
              <a:rPr lang="hu-HU" dirty="0" smtClean="0"/>
              <a:t> fut: http://</a:t>
            </a:r>
            <a:r>
              <a:rPr lang="hu-HU" dirty="0" err="1" smtClean="0"/>
              <a:t>clara.nytud.hu</a:t>
            </a:r>
            <a:r>
              <a:rPr lang="hu-HU" dirty="0" smtClean="0"/>
              <a:t>/mnsz2-dev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07566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NoSketchEngine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Funkciók:</a:t>
            </a:r>
          </a:p>
          <a:p>
            <a:pPr lvl="1"/>
            <a:r>
              <a:rPr lang="hu-HU" dirty="0" smtClean="0"/>
              <a:t>Egynyelvű és többnyelvű </a:t>
            </a:r>
            <a:r>
              <a:rPr lang="hu-HU" dirty="0" smtClean="0"/>
              <a:t>korpuszokat támogat, </a:t>
            </a:r>
            <a:r>
              <a:rPr lang="hu-HU" dirty="0" smtClean="0"/>
              <a:t>kifejezetten párhuzamos </a:t>
            </a:r>
            <a:r>
              <a:rPr lang="hu-HU" dirty="0" smtClean="0"/>
              <a:t>korpuszokat is.</a:t>
            </a:r>
          </a:p>
          <a:p>
            <a:pPr lvl="1"/>
            <a:r>
              <a:rPr lang="hu-HU" dirty="0" smtClean="0"/>
              <a:t>A szövegek </a:t>
            </a:r>
            <a:r>
              <a:rPr lang="hu-HU" dirty="0" err="1" smtClean="0"/>
              <a:t>metaadatai</a:t>
            </a:r>
            <a:r>
              <a:rPr lang="hu-HU" dirty="0" smtClean="0"/>
              <a:t> megadhatók, a keresőfelületben ezekre szűrni lehet (pl. nyelv, műfaj).</a:t>
            </a:r>
          </a:p>
          <a:p>
            <a:pPr lvl="1"/>
            <a:r>
              <a:rPr lang="hu-HU" dirty="0" smtClean="0"/>
              <a:t>Rész</a:t>
            </a:r>
            <a:r>
              <a:rPr lang="en-GB" dirty="0" err="1" smtClean="0"/>
              <a:t>korpuszok</a:t>
            </a:r>
            <a:r>
              <a:rPr lang="en-GB" dirty="0" smtClean="0"/>
              <a:t> </a:t>
            </a:r>
            <a:r>
              <a:rPr lang="en-GB" dirty="0" err="1" smtClean="0"/>
              <a:t>hozhatók</a:t>
            </a:r>
            <a:r>
              <a:rPr lang="en-GB" dirty="0" smtClean="0"/>
              <a:t> </a:t>
            </a:r>
            <a:r>
              <a:rPr lang="en-GB" dirty="0" err="1" smtClean="0"/>
              <a:t>létre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nagyobb</a:t>
            </a:r>
            <a:r>
              <a:rPr lang="en-GB" dirty="0" smtClean="0"/>
              <a:t> </a:t>
            </a:r>
            <a:r>
              <a:rPr lang="en-GB" dirty="0" err="1" smtClean="0"/>
              <a:t>korpuszon</a:t>
            </a:r>
            <a:r>
              <a:rPr lang="en-GB" dirty="0" smtClean="0"/>
              <a:t> </a:t>
            </a:r>
            <a:r>
              <a:rPr lang="en-GB" dirty="0" err="1" smtClean="0"/>
              <a:t>belül</a:t>
            </a:r>
            <a:r>
              <a:rPr lang="en-GB" dirty="0" smtClean="0"/>
              <a:t>.</a:t>
            </a:r>
          </a:p>
          <a:p>
            <a:pPr lvl="1"/>
            <a:r>
              <a:rPr lang="en-GB" dirty="0" err="1" smtClean="0"/>
              <a:t>Kulcsszavak</a:t>
            </a:r>
            <a:r>
              <a:rPr lang="en-GB" dirty="0" smtClean="0"/>
              <a:t> </a:t>
            </a:r>
            <a:r>
              <a:rPr lang="en-GB" dirty="0" err="1" smtClean="0"/>
              <a:t>azonosítása</a:t>
            </a:r>
            <a:r>
              <a:rPr lang="en-GB" dirty="0" smtClean="0"/>
              <a:t> </a:t>
            </a:r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 smtClean="0"/>
              <a:t>aktuális</a:t>
            </a:r>
            <a:r>
              <a:rPr lang="en-GB" dirty="0" smtClean="0"/>
              <a:t> (</a:t>
            </a:r>
            <a:r>
              <a:rPr lang="en-GB" dirty="0" err="1" smtClean="0"/>
              <a:t>fókusz</a:t>
            </a:r>
            <a:r>
              <a:rPr lang="hu-HU" dirty="0" smtClean="0"/>
              <a:t>-</a:t>
            </a:r>
            <a:r>
              <a:rPr lang="en-GB" dirty="0" smtClean="0"/>
              <a:t>) </a:t>
            </a:r>
            <a:r>
              <a:rPr lang="hu-HU" dirty="0" smtClean="0"/>
              <a:t>(rész)</a:t>
            </a:r>
            <a:r>
              <a:rPr lang="en-GB" dirty="0" err="1" smtClean="0"/>
              <a:t>korpuszban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referencia</a:t>
            </a:r>
            <a:r>
              <a:rPr lang="hu-HU" dirty="0" smtClean="0"/>
              <a:t>(</a:t>
            </a:r>
            <a:r>
              <a:rPr lang="hu-HU" dirty="0" err="1" smtClean="0"/>
              <a:t>-rész</a:t>
            </a:r>
            <a:r>
              <a:rPr lang="hu-HU" dirty="0" smtClean="0"/>
              <a:t>)</a:t>
            </a:r>
            <a:r>
              <a:rPr lang="en-GB" dirty="0" err="1" smtClean="0"/>
              <a:t>korpus</a:t>
            </a:r>
            <a:r>
              <a:rPr lang="hu-HU" dirty="0" err="1" smtClean="0"/>
              <a:t>szal</a:t>
            </a:r>
            <a:r>
              <a:rPr lang="hu-HU" dirty="0" smtClean="0"/>
              <a:t> összevetve</a:t>
            </a:r>
            <a:endParaRPr lang="hu-HU" dirty="0" smtClean="0"/>
          </a:p>
          <a:p>
            <a:pPr lvl="1"/>
            <a:r>
              <a:rPr lang="en-GB" dirty="0" err="1" smtClean="0"/>
              <a:t>Gyakorisági</a:t>
            </a:r>
            <a:r>
              <a:rPr lang="en-GB" dirty="0" smtClean="0"/>
              <a:t> </a:t>
            </a:r>
            <a:r>
              <a:rPr lang="en-GB" dirty="0" err="1" smtClean="0"/>
              <a:t>listák</a:t>
            </a:r>
            <a:r>
              <a:rPr lang="en-GB" dirty="0" smtClean="0"/>
              <a:t> (</a:t>
            </a:r>
            <a:r>
              <a:rPr lang="en-GB" dirty="0" err="1" smtClean="0"/>
              <a:t>tokengyakoriság</a:t>
            </a:r>
            <a:r>
              <a:rPr lang="en-GB" dirty="0" smtClean="0"/>
              <a:t>, </a:t>
            </a:r>
            <a:r>
              <a:rPr lang="en-GB" dirty="0" err="1" smtClean="0"/>
              <a:t>dokumentumgyakoriság</a:t>
            </a:r>
            <a:r>
              <a:rPr lang="en-GB" dirty="0" smtClean="0"/>
              <a:t>).</a:t>
            </a:r>
          </a:p>
          <a:p>
            <a:pPr lvl="1"/>
            <a:r>
              <a:rPr lang="hu-HU" dirty="0" smtClean="0"/>
              <a:t>Trendek (</a:t>
            </a:r>
            <a:r>
              <a:rPr lang="hu-HU" dirty="0" err="1" smtClean="0"/>
              <a:t>tokengyakoriságok</a:t>
            </a:r>
            <a:r>
              <a:rPr lang="hu-HU" dirty="0" smtClean="0"/>
              <a:t> változása az idő </a:t>
            </a:r>
            <a:r>
              <a:rPr lang="hu-HU" dirty="0" err="1" smtClean="0"/>
              <a:t>előrehaladtával</a:t>
            </a:r>
            <a:r>
              <a:rPr lang="hu-HU" dirty="0" smtClean="0"/>
              <a:t>, </a:t>
            </a:r>
            <a:r>
              <a:rPr lang="hu-HU" dirty="0" err="1" smtClean="0"/>
              <a:t>diakrón</a:t>
            </a:r>
            <a:r>
              <a:rPr lang="hu-HU" dirty="0" smtClean="0"/>
              <a:t>/történelmi korpuszokban használható).</a:t>
            </a:r>
          </a:p>
          <a:p>
            <a:pPr lvl="1"/>
            <a:r>
              <a:rPr lang="en-GB" dirty="0" err="1" smtClean="0"/>
              <a:t>Konkordanciák</a:t>
            </a:r>
            <a:r>
              <a:rPr lang="en-GB" dirty="0" smtClean="0"/>
              <a:t>: a </a:t>
            </a:r>
            <a:r>
              <a:rPr lang="hu-HU" dirty="0" smtClean="0"/>
              <a:t>keresési eredmények </a:t>
            </a:r>
            <a:r>
              <a:rPr lang="en-GB" dirty="0" err="1" smtClean="0"/>
              <a:t>KWIC</a:t>
            </a:r>
            <a:r>
              <a:rPr lang="en-GB" dirty="0" smtClean="0"/>
              <a:t> </a:t>
            </a:r>
            <a:r>
              <a:rPr lang="en-GB" dirty="0" err="1" smtClean="0"/>
              <a:t>formátumban</a:t>
            </a:r>
            <a:r>
              <a:rPr lang="hu-HU" dirty="0"/>
              <a:t> </a:t>
            </a:r>
            <a:r>
              <a:rPr lang="hu-HU" dirty="0" smtClean="0"/>
              <a:t>jelennek </a:t>
            </a:r>
            <a:r>
              <a:rPr lang="hu-HU" dirty="0" smtClean="0"/>
              <a:t>meg</a:t>
            </a:r>
            <a:endParaRPr lang="en-GB" dirty="0" smtClean="0"/>
          </a:p>
          <a:p>
            <a:pPr lvl="1"/>
            <a:r>
              <a:rPr lang="hu-HU" dirty="0" smtClean="0"/>
              <a:t>Kereső kifejezések</a:t>
            </a:r>
            <a:r>
              <a:rPr lang="hu-HU" dirty="0" smtClean="0"/>
              <a:t>: a </a:t>
            </a:r>
            <a:r>
              <a:rPr lang="en-GB" dirty="0" smtClean="0"/>
              <a:t>token</a:t>
            </a:r>
            <a:r>
              <a:rPr lang="hu-HU" dirty="0" err="1" smtClean="0"/>
              <a:t>ek</a:t>
            </a:r>
            <a:r>
              <a:rPr lang="hu-HU" dirty="0" smtClean="0"/>
              <a:t> </a:t>
            </a:r>
            <a:r>
              <a:rPr lang="hu-HU" dirty="0" smtClean="0"/>
              <a:t>jellemzőire </a:t>
            </a:r>
            <a:r>
              <a:rPr lang="hu-HU" dirty="0" smtClean="0"/>
              <a:t>vonatkoznak</a:t>
            </a:r>
            <a:r>
              <a:rPr lang="en-GB" dirty="0" smtClean="0"/>
              <a:t>, </a:t>
            </a:r>
            <a:r>
              <a:rPr lang="hu-HU" dirty="0" smtClean="0"/>
              <a:t>pl. </a:t>
            </a:r>
            <a:r>
              <a:rPr lang="en-GB" dirty="0" smtClean="0"/>
              <a:t>token </a:t>
            </a:r>
            <a:r>
              <a:rPr lang="hu-HU" dirty="0" smtClean="0"/>
              <a:t>alakja</a:t>
            </a:r>
            <a:r>
              <a:rPr lang="en-GB" dirty="0" smtClean="0"/>
              <a:t>, lemma </a:t>
            </a:r>
            <a:r>
              <a:rPr lang="hu-HU" dirty="0" smtClean="0"/>
              <a:t>alakja</a:t>
            </a:r>
            <a:r>
              <a:rPr lang="en-GB" dirty="0" smtClean="0"/>
              <a:t>; </a:t>
            </a:r>
            <a:r>
              <a:rPr lang="en-GB" dirty="0" err="1" smtClean="0"/>
              <a:t>támogat</a:t>
            </a:r>
            <a:r>
              <a:rPr lang="en-GB" dirty="0" smtClean="0"/>
              <a:t> </a:t>
            </a:r>
            <a:r>
              <a:rPr lang="en-GB" dirty="0" err="1" smtClean="0"/>
              <a:t>CQL</a:t>
            </a:r>
            <a:r>
              <a:rPr lang="en-GB" dirty="0" smtClean="0"/>
              <a:t> </a:t>
            </a:r>
            <a:r>
              <a:rPr lang="en-GB" dirty="0" err="1" smtClean="0"/>
              <a:t>nyelven</a:t>
            </a:r>
            <a:r>
              <a:rPr lang="en-GB" dirty="0" smtClean="0"/>
              <a:t> </a:t>
            </a:r>
            <a:r>
              <a:rPr lang="en-GB" dirty="0" err="1" smtClean="0"/>
              <a:t>írt</a:t>
            </a:r>
            <a:r>
              <a:rPr lang="en-GB" dirty="0" smtClean="0"/>
              <a:t> </a:t>
            </a:r>
            <a:r>
              <a:rPr lang="en-GB" dirty="0" err="1" smtClean="0"/>
              <a:t>lekérdezéseket</a:t>
            </a:r>
            <a:r>
              <a:rPr lang="hu-HU" dirty="0" smtClean="0"/>
              <a:t> 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539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CQL</a:t>
            </a:r>
            <a:r>
              <a:rPr lang="hu-HU" dirty="0" smtClean="0"/>
              <a:t>: Corpus </a:t>
            </a:r>
            <a:r>
              <a:rPr lang="hu-HU" dirty="0" err="1" smtClean="0"/>
              <a:t>Query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smtClean="0"/>
              <a:t>Kis, </a:t>
            </a:r>
            <a:r>
              <a:rPr lang="hu-HU" dirty="0" err="1" smtClean="0"/>
              <a:t>doménspecifikus</a:t>
            </a:r>
            <a:r>
              <a:rPr lang="hu-HU" dirty="0" smtClean="0"/>
              <a:t> </a:t>
            </a:r>
            <a:r>
              <a:rPr lang="en-GB" dirty="0" err="1" smtClean="0"/>
              <a:t>deklaratív</a:t>
            </a:r>
            <a:r>
              <a:rPr lang="en-GB" dirty="0" smtClean="0"/>
              <a:t> </a:t>
            </a:r>
            <a:r>
              <a:rPr lang="en-GB" dirty="0" err="1" smtClean="0"/>
              <a:t>nyelv</a:t>
            </a:r>
            <a:r>
              <a:rPr lang="en-GB" dirty="0" smtClean="0"/>
              <a:t> </a:t>
            </a:r>
            <a:r>
              <a:rPr lang="en-GB" dirty="0" err="1" smtClean="0"/>
              <a:t>korpusz</a:t>
            </a:r>
            <a:r>
              <a:rPr lang="hu-HU" dirty="0" err="1" smtClean="0"/>
              <a:t>beli</a:t>
            </a:r>
            <a:r>
              <a:rPr lang="hu-HU" dirty="0" smtClean="0"/>
              <a:t> keresések </a:t>
            </a:r>
            <a:r>
              <a:rPr lang="en-GB" dirty="0" err="1" smtClean="0"/>
              <a:t>kifejezésére</a:t>
            </a:r>
            <a:r>
              <a:rPr lang="hu-HU" dirty="0" smtClean="0"/>
              <a:t>.</a:t>
            </a:r>
          </a:p>
          <a:p>
            <a:pPr lvl="1"/>
            <a:r>
              <a:rPr lang="en-GB" dirty="0" err="1" smtClean="0"/>
              <a:t>Hasonló</a:t>
            </a:r>
            <a:r>
              <a:rPr lang="en-GB" dirty="0" smtClean="0"/>
              <a:t> a </a:t>
            </a:r>
            <a:r>
              <a:rPr lang="en-GB" dirty="0" err="1" smtClean="0"/>
              <a:t>spaCy</a:t>
            </a:r>
            <a:r>
              <a:rPr lang="en-GB" dirty="0" smtClean="0"/>
              <a:t> </a:t>
            </a:r>
            <a:r>
              <a:rPr lang="en-GB" i="1" dirty="0" smtClean="0"/>
              <a:t>Matcher</a:t>
            </a:r>
            <a:r>
              <a:rPr lang="en-GB" dirty="0" smtClean="0"/>
              <a:t>-</a:t>
            </a:r>
            <a:r>
              <a:rPr lang="hu-HU" dirty="0" smtClean="0"/>
              <a:t>jé</a:t>
            </a:r>
            <a:r>
              <a:rPr lang="en-GB" dirty="0" err="1" smtClean="0"/>
              <a:t>hez</a:t>
            </a:r>
            <a:r>
              <a:rPr lang="hu-HU" dirty="0" smtClean="0"/>
              <a:t>.</a:t>
            </a:r>
          </a:p>
          <a:p>
            <a:r>
              <a:rPr lang="hu-HU" dirty="0" smtClean="0"/>
              <a:t>Feltételek </a:t>
            </a:r>
            <a:r>
              <a:rPr lang="hu-HU" dirty="0" smtClean="0"/>
              <a:t>adhatók meg </a:t>
            </a:r>
            <a:r>
              <a:rPr lang="hu-HU" dirty="0" smtClean="0"/>
              <a:t>egy vagy több </a:t>
            </a:r>
            <a:r>
              <a:rPr lang="hu-HU" dirty="0" err="1" smtClean="0"/>
              <a:t>tokenre</a:t>
            </a:r>
            <a:r>
              <a:rPr lang="hu-HU" dirty="0" smtClean="0"/>
              <a:t> vonatkozóan.</a:t>
            </a:r>
            <a:endParaRPr lang="hu-HU" dirty="0" smtClean="0"/>
          </a:p>
          <a:p>
            <a:pPr lvl="1"/>
            <a:r>
              <a:rPr lang="hu-HU" dirty="0" smtClean="0"/>
              <a:t>Az egyes </a:t>
            </a:r>
            <a:r>
              <a:rPr lang="hu-HU" dirty="0" err="1" smtClean="0"/>
              <a:t>tokenek</a:t>
            </a:r>
            <a:r>
              <a:rPr lang="hu-HU" dirty="0" smtClean="0"/>
              <a:t> jellemzőit szögletes </a:t>
            </a:r>
            <a:r>
              <a:rPr lang="hu-HU" dirty="0" smtClean="0"/>
              <a:t>zárójelpárba írjuk </a:t>
            </a:r>
            <a:r>
              <a:rPr lang="hu-HU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hu-HU" sz="25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hu-HU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hu-HU" sz="25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hu-HU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  <a:r>
              <a:rPr lang="hu-HU" i="1" dirty="0" smtClean="0"/>
              <a:t> </a:t>
            </a:r>
            <a:r>
              <a:rPr lang="hu-HU" dirty="0" smtClean="0"/>
              <a:t>formátumban.</a:t>
            </a:r>
          </a:p>
          <a:p>
            <a:pPr lvl="1"/>
            <a:r>
              <a:rPr lang="hu-HU" dirty="0" smtClean="0"/>
              <a:t>Az attribútum </a:t>
            </a:r>
            <a:r>
              <a:rPr lang="hu-HU" dirty="0" smtClean="0"/>
              <a:t>egy </a:t>
            </a:r>
            <a:r>
              <a:rPr lang="hu-HU" dirty="0" smtClean="0"/>
              <a:t>oszlop a vertikális fájlban, az érték pedig a tényleges érték a </a:t>
            </a:r>
            <a:r>
              <a:rPr lang="hu-HU" dirty="0" err="1" smtClean="0"/>
              <a:t>tokenhez</a:t>
            </a:r>
            <a:r>
              <a:rPr lang="hu-HU" dirty="0" smtClean="0"/>
              <a:t> tartozó sorban, abban az oszlopban.</a:t>
            </a:r>
          </a:p>
          <a:p>
            <a:pPr lvl="1"/>
            <a:r>
              <a:rPr lang="en-GB" dirty="0" err="1" smtClean="0"/>
              <a:t>Az</a:t>
            </a:r>
            <a:r>
              <a:rPr lang="en-GB" dirty="0" smtClean="0"/>
              <a:t> </a:t>
            </a:r>
            <a:r>
              <a:rPr lang="en-GB" dirty="0" err="1" smtClean="0"/>
              <a:t>attribútum</a:t>
            </a:r>
            <a:r>
              <a:rPr lang="en-GB" dirty="0" smtClean="0"/>
              <a:t> neve a </a:t>
            </a:r>
            <a:r>
              <a:rPr lang="en-GB" dirty="0" err="1" smtClean="0"/>
              <a:t>korpuszkonfigurációs</a:t>
            </a:r>
            <a:r>
              <a:rPr lang="en-GB" dirty="0" smtClean="0"/>
              <a:t> </a:t>
            </a:r>
            <a:r>
              <a:rPr lang="en-GB" dirty="0" err="1" smtClean="0"/>
              <a:t>fájlban</a:t>
            </a:r>
            <a:r>
              <a:rPr lang="en-GB" dirty="0" smtClean="0"/>
              <a:t> van </a:t>
            </a:r>
            <a:r>
              <a:rPr lang="en-GB" dirty="0" err="1" smtClean="0"/>
              <a:t>megadva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Reguláris</a:t>
            </a:r>
            <a:r>
              <a:rPr lang="en-GB" dirty="0" smtClean="0"/>
              <a:t> </a:t>
            </a:r>
            <a:r>
              <a:rPr lang="en-GB" dirty="0" err="1" smtClean="0"/>
              <a:t>kifejezések</a:t>
            </a:r>
            <a:r>
              <a:rPr lang="hu-HU" dirty="0" smtClean="0"/>
              <a:t>kel is megadhatók az </a:t>
            </a:r>
            <a:r>
              <a:rPr lang="en-GB" dirty="0" err="1" smtClean="0"/>
              <a:t>értékek</a:t>
            </a:r>
            <a:endParaRPr lang="hu-HU" dirty="0" smtClean="0"/>
          </a:p>
          <a:p>
            <a:pPr lvl="1"/>
            <a:r>
              <a:rPr lang="en-GB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GB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lemma</a:t>
            </a:r>
            <a:r>
              <a:rPr lang="en-GB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=".</a:t>
            </a:r>
            <a:r>
              <a:rPr lang="hu-HU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GB" sz="25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ous</a:t>
            </a:r>
            <a:r>
              <a:rPr lang="en-GB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"], [word="</a:t>
            </a:r>
            <a:r>
              <a:rPr lang="en-GB" sz="25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b.g</a:t>
            </a:r>
            <a:r>
              <a:rPr lang="en-GB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  <a:endParaRPr lang="hu-HU" sz="25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hu-HU" dirty="0" smtClean="0"/>
              <a:t>Ü</a:t>
            </a:r>
            <a:r>
              <a:rPr lang="en-GB" dirty="0" smtClean="0"/>
              <a:t>res </a:t>
            </a:r>
            <a:r>
              <a:rPr lang="en-GB" dirty="0" err="1" smtClean="0"/>
              <a:t>zárójelpár</a:t>
            </a:r>
            <a:r>
              <a:rPr lang="en-GB" dirty="0" smtClean="0"/>
              <a:t> </a:t>
            </a:r>
            <a:r>
              <a:rPr lang="en-GB" dirty="0" err="1" smtClean="0"/>
              <a:t>bármely</a:t>
            </a:r>
            <a:r>
              <a:rPr lang="en-GB" dirty="0" smtClean="0"/>
              <a:t> </a:t>
            </a:r>
            <a:r>
              <a:rPr lang="en-GB" dirty="0" err="1" smtClean="0"/>
              <a:t>tokenre</a:t>
            </a:r>
            <a:r>
              <a:rPr lang="en-GB" dirty="0" smtClean="0"/>
              <a:t> </a:t>
            </a:r>
            <a:r>
              <a:rPr lang="en-GB" dirty="0" err="1" smtClean="0"/>
              <a:t>illeszkedik</a:t>
            </a:r>
            <a:r>
              <a:rPr lang="en-GB" dirty="0" smtClean="0"/>
              <a:t>.</a:t>
            </a:r>
            <a:endParaRPr lang="hu-HU" dirty="0" smtClean="0"/>
          </a:p>
          <a:p>
            <a:pPr lvl="1"/>
            <a:r>
              <a:rPr lang="hu-HU" dirty="0" smtClean="0"/>
              <a:t>Többféle összehasonlító operátor tehető az attribútum és az érték közé: 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hu-HU" dirty="0" smtClean="0"/>
              <a:t>, 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hu-HU" dirty="0" smtClean="0"/>
              <a:t> (pontos szövegegyezés </a:t>
            </a:r>
            <a:r>
              <a:rPr lang="hu-HU" dirty="0" err="1" smtClean="0"/>
              <a:t>regex</a:t>
            </a:r>
            <a:r>
              <a:rPr lang="hu-HU" dirty="0" smtClean="0"/>
              <a:t> nélkül), 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hu-HU" dirty="0" smtClean="0"/>
              <a:t> (nem egyenlő).</a:t>
            </a:r>
          </a:p>
          <a:p>
            <a:pPr lvl="1"/>
            <a:r>
              <a:rPr lang="en-GB" dirty="0" err="1" smtClean="0"/>
              <a:t>Több</a:t>
            </a:r>
            <a:r>
              <a:rPr lang="en-GB" dirty="0" smtClean="0"/>
              <a:t> </a:t>
            </a:r>
            <a:r>
              <a:rPr lang="en-GB" dirty="0" err="1" smtClean="0"/>
              <a:t>feltétel</a:t>
            </a:r>
            <a:r>
              <a:rPr lang="en-GB" dirty="0" smtClean="0"/>
              <a:t> is </a:t>
            </a:r>
            <a:r>
              <a:rPr lang="en-GB" dirty="0" err="1" smtClean="0"/>
              <a:t>megadható</a:t>
            </a:r>
            <a:r>
              <a:rPr lang="en-GB" dirty="0" smtClean="0"/>
              <a:t> </a:t>
            </a:r>
            <a:r>
              <a:rPr lang="en-GB" dirty="0" err="1" smtClean="0"/>
              <a:t>egy</a:t>
            </a:r>
            <a:r>
              <a:rPr lang="en-GB" dirty="0" smtClean="0"/>
              <a:t> </a:t>
            </a:r>
            <a:r>
              <a:rPr lang="en-GB" dirty="0" err="1" smtClean="0"/>
              <a:t>tokenhez</a:t>
            </a:r>
            <a:r>
              <a:rPr lang="en-GB" dirty="0" smtClean="0"/>
              <a:t> a </a:t>
            </a:r>
            <a:r>
              <a:rPr lang="en-GB" dirty="0" err="1" smtClean="0"/>
              <a:t>logikai</a:t>
            </a:r>
            <a:r>
              <a:rPr lang="en-GB" dirty="0" smtClean="0"/>
              <a:t> </a:t>
            </a: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GB" dirty="0" smtClean="0"/>
              <a:t> (</a:t>
            </a:r>
            <a:r>
              <a:rPr lang="en-GB" dirty="0" err="1" smtClean="0"/>
              <a:t>és</a:t>
            </a:r>
            <a:r>
              <a:rPr lang="en-GB" dirty="0" smtClean="0"/>
              <a:t>)</a:t>
            </a:r>
            <a:r>
              <a:rPr lang="hu-HU" dirty="0" smtClean="0"/>
              <a:t>, illetve </a:t>
            </a:r>
            <a:r>
              <a:rPr lang="en-GB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GB" dirty="0" smtClean="0"/>
              <a:t> (</a:t>
            </a:r>
            <a:r>
              <a:rPr lang="en-GB" dirty="0" err="1" smtClean="0"/>
              <a:t>vagy</a:t>
            </a:r>
            <a:r>
              <a:rPr lang="en-GB" dirty="0" smtClean="0"/>
              <a:t>) </a:t>
            </a:r>
            <a:r>
              <a:rPr lang="en-GB" dirty="0" err="1" smtClean="0"/>
              <a:t>operátorok</a:t>
            </a:r>
            <a:r>
              <a:rPr lang="en-GB" dirty="0" smtClean="0"/>
              <a:t> </a:t>
            </a:r>
            <a:r>
              <a:rPr lang="en-GB" dirty="0" err="1" smtClean="0"/>
              <a:t>segítségével</a:t>
            </a:r>
            <a:r>
              <a:rPr lang="en-GB" dirty="0" smtClean="0"/>
              <a:t>, </a:t>
            </a:r>
            <a:r>
              <a:rPr lang="en-GB" dirty="0" err="1" smtClean="0"/>
              <a:t>zárójelekkel</a:t>
            </a:r>
            <a:r>
              <a:rPr lang="en-GB" dirty="0" smtClean="0"/>
              <a:t> </a:t>
            </a:r>
            <a:r>
              <a:rPr lang="en-GB" dirty="0" err="1" smtClean="0"/>
              <a:t>csoportosítva</a:t>
            </a:r>
            <a:r>
              <a:rPr lang="en-GB" dirty="0" smtClean="0"/>
              <a:t>.</a:t>
            </a:r>
          </a:p>
          <a:p>
            <a:pPr lvl="1"/>
            <a:r>
              <a:rPr lang="en-GB" dirty="0" smtClean="0"/>
              <a:t>A </a:t>
            </a:r>
            <a:r>
              <a:rPr lang="en-GB" dirty="0" err="1" smtClean="0"/>
              <a:t>tokenek</a:t>
            </a:r>
            <a:r>
              <a:rPr lang="en-GB" dirty="0" smtClean="0"/>
              <a:t> </a:t>
            </a:r>
            <a:r>
              <a:rPr lang="hu-HU" dirty="0" smtClean="0"/>
              <a:t>kvantorral módosíthatók</a:t>
            </a:r>
            <a:r>
              <a:rPr lang="en-GB" dirty="0" smtClean="0"/>
              <a:t>, </a:t>
            </a:r>
            <a:r>
              <a:rPr lang="en-GB" dirty="0" smtClean="0"/>
              <a:t>mint </a:t>
            </a:r>
            <a:r>
              <a:rPr lang="en-GB" dirty="0" err="1" smtClean="0"/>
              <a:t>regexekben</a:t>
            </a:r>
            <a:r>
              <a:rPr lang="en-GB" dirty="0" smtClean="0"/>
              <a:t>, </a:t>
            </a:r>
            <a:r>
              <a:rPr lang="hu-HU" dirty="0" smtClean="0"/>
              <a:t>úgy, hogy </a:t>
            </a:r>
            <a:r>
              <a:rPr lang="en-GB" dirty="0" err="1" smtClean="0"/>
              <a:t>értéktartományt</a:t>
            </a:r>
            <a:r>
              <a:rPr lang="en-GB" dirty="0" smtClean="0"/>
              <a:t> </a:t>
            </a:r>
            <a:r>
              <a:rPr lang="hu-HU" dirty="0" smtClean="0"/>
              <a:t>írunk </a:t>
            </a:r>
            <a:r>
              <a:rPr lang="en-GB" dirty="0" err="1" smtClean="0"/>
              <a:t>kapcsos</a:t>
            </a:r>
            <a:r>
              <a:rPr lang="en-GB" dirty="0" smtClean="0"/>
              <a:t> </a:t>
            </a:r>
            <a:r>
              <a:rPr lang="en-GB" dirty="0" err="1" smtClean="0"/>
              <a:t>zárójel</a:t>
            </a:r>
            <a:r>
              <a:rPr lang="hu-HU" dirty="0" err="1" smtClean="0"/>
              <a:t>ek</a:t>
            </a:r>
            <a:r>
              <a:rPr lang="hu-HU" dirty="0" smtClean="0"/>
              <a:t> közé</a:t>
            </a:r>
            <a:r>
              <a:rPr lang="en-GB" dirty="0" smtClean="0"/>
              <a:t> </a:t>
            </a:r>
            <a:r>
              <a:rPr lang="en-GB" dirty="0" smtClean="0"/>
              <a:t>a </a:t>
            </a:r>
            <a:r>
              <a:rPr lang="en-GB" dirty="0" err="1" smtClean="0"/>
              <a:t>záró</a:t>
            </a:r>
            <a:r>
              <a:rPr lang="en-GB" dirty="0" smtClean="0"/>
              <a:t> </a:t>
            </a:r>
            <a:r>
              <a:rPr lang="en-GB" dirty="0" err="1" smtClean="0"/>
              <a:t>szögletes</a:t>
            </a:r>
            <a:r>
              <a:rPr lang="en-GB" dirty="0" smtClean="0"/>
              <a:t> </a:t>
            </a:r>
            <a:r>
              <a:rPr lang="en-GB" dirty="0" err="1" smtClean="0"/>
              <a:t>zárójel</a:t>
            </a:r>
            <a:r>
              <a:rPr lang="en-GB" dirty="0" smtClean="0"/>
              <a:t> </a:t>
            </a:r>
            <a:r>
              <a:rPr lang="en-GB" dirty="0" err="1" smtClean="0"/>
              <a:t>után</a:t>
            </a:r>
            <a:r>
              <a:rPr lang="en-GB" dirty="0" smtClean="0"/>
              <a:t>, pl. </a:t>
            </a:r>
            <a:r>
              <a:rPr lang="en-GB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[tag= "</a:t>
            </a:r>
            <a:r>
              <a:rPr lang="en-GB" sz="25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JJ</a:t>
            </a:r>
            <a:r>
              <a:rPr lang="en-GB" sz="25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"]{2,3}.</a:t>
            </a:r>
          </a:p>
          <a:p>
            <a:pPr lvl="1"/>
            <a:endParaRPr lang="hu-HU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497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CQL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hu-HU" dirty="0" smtClean="0"/>
              <a:t>Példák keresésekre:</a:t>
            </a:r>
            <a:endParaRPr lang="hu-HU" dirty="0" smtClean="0"/>
          </a:p>
          <a:p>
            <a:pPr lvl="1"/>
            <a:r>
              <a:rPr lang="hu-HU" dirty="0" smtClean="0"/>
              <a:t>főnév-főnév összetételek, kötőjellel vagy nélküle</a:t>
            </a:r>
            <a:endParaRPr lang="hu-HU" dirty="0" smtClean="0"/>
          </a:p>
          <a:p>
            <a:pPr lvl="1"/>
            <a:r>
              <a:rPr lang="hu-HU" dirty="0" smtClean="0"/>
              <a:t>két vagy több melléknév egymás után</a:t>
            </a:r>
            <a:endParaRPr lang="en-GB" dirty="0"/>
          </a:p>
          <a:p>
            <a:pPr lvl="1"/>
            <a:r>
              <a:rPr lang="hu-HU" dirty="0" err="1" smtClean="0"/>
              <a:t>phrasal</a:t>
            </a:r>
            <a:r>
              <a:rPr lang="hu-HU" dirty="0" smtClean="0"/>
              <a:t> </a:t>
            </a:r>
            <a:r>
              <a:rPr lang="hu-HU" dirty="0" err="1" smtClean="0"/>
              <a:t>verbs</a:t>
            </a:r>
            <a:r>
              <a:rPr lang="hu-HU" dirty="0" smtClean="0"/>
              <a:t>, </a:t>
            </a:r>
            <a:r>
              <a:rPr lang="hu-HU" dirty="0" smtClean="0"/>
              <a:t>pl. </a:t>
            </a:r>
            <a:r>
              <a:rPr lang="hu-HU" i="1" dirty="0" err="1" smtClean="0"/>
              <a:t>carry</a:t>
            </a:r>
            <a:r>
              <a:rPr lang="hu-HU" i="1" dirty="0" smtClean="0"/>
              <a:t> </a:t>
            </a:r>
            <a:r>
              <a:rPr lang="hu-HU" i="1" dirty="0" smtClean="0"/>
              <a:t>out, </a:t>
            </a:r>
            <a:r>
              <a:rPr lang="hu-HU" i="1" dirty="0" err="1" smtClean="0"/>
              <a:t>wake</a:t>
            </a:r>
            <a:r>
              <a:rPr lang="hu-HU" i="1" dirty="0" smtClean="0"/>
              <a:t> </a:t>
            </a:r>
            <a:r>
              <a:rPr lang="hu-HU" i="1" dirty="0" err="1" smtClean="0"/>
              <a:t>up</a:t>
            </a:r>
            <a:r>
              <a:rPr lang="hu-HU" i="1" dirty="0" smtClean="0"/>
              <a:t>,</a:t>
            </a:r>
            <a:r>
              <a:rPr lang="hu-HU" dirty="0" smtClean="0"/>
              <a:t> </a:t>
            </a:r>
            <a:r>
              <a:rPr lang="hu-HU" dirty="0" smtClean="0"/>
              <a:t>stb.</a:t>
            </a:r>
            <a:endParaRPr lang="hu-HU" dirty="0" smtClean="0"/>
          </a:p>
          <a:p>
            <a:pPr lvl="1"/>
            <a:r>
              <a:rPr lang="hu-HU" i="1" dirty="0" err="1" smtClean="0"/>
              <a:t>that</a:t>
            </a:r>
            <a:r>
              <a:rPr lang="hu-HU" dirty="0" smtClean="0"/>
              <a:t> olyan előfordulásai, amelyek nem (mutató névmások)</a:t>
            </a:r>
            <a:endParaRPr lang="hu-HU" dirty="0" smtClean="0"/>
          </a:p>
          <a:p>
            <a:pPr lvl="1"/>
            <a:r>
              <a:rPr lang="hu-HU" dirty="0" smtClean="0"/>
              <a:t>melyik főnevek következnek leggyakrabban a </a:t>
            </a:r>
            <a:r>
              <a:rPr lang="hu-HU" i="1" dirty="0" err="1" smtClean="0"/>
              <a:t>great</a:t>
            </a:r>
            <a:r>
              <a:rPr lang="hu-HU" i="1" dirty="0" smtClean="0"/>
              <a:t> </a:t>
            </a:r>
            <a:r>
              <a:rPr lang="hu-HU" dirty="0" smtClean="0"/>
              <a:t>melléknév után?</a:t>
            </a:r>
          </a:p>
          <a:p>
            <a:r>
              <a:rPr lang="hu-HU" dirty="0" smtClean="0"/>
              <a:t>A főnévi lemmák gyakorisági listája egy korpuszban</a:t>
            </a:r>
            <a:endParaRPr lang="hu-HU" dirty="0" smtClean="0"/>
          </a:p>
          <a:p>
            <a:r>
              <a:rPr lang="hu-HU" dirty="0" smtClean="0"/>
              <a:t>Olyan lemmák, amelyek a </a:t>
            </a:r>
            <a:r>
              <a:rPr lang="hu-HU" i="1" dirty="0" err="1" smtClean="0"/>
              <a:t>hand</a:t>
            </a:r>
            <a:r>
              <a:rPr lang="hu-HU" i="1" dirty="0" smtClean="0"/>
              <a:t> </a:t>
            </a:r>
            <a:r>
              <a:rPr lang="hu-HU" dirty="0" smtClean="0"/>
              <a:t>főnév </a:t>
            </a:r>
            <a:r>
              <a:rPr lang="hu-HU" dirty="0" err="1" smtClean="0"/>
              <a:t>kollokátumai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643161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4522</TotalTime>
  <Words>1993</Words>
  <Application>Microsoft Office PowerPoint</Application>
  <PresentationFormat>Diavetítés a képernyőre (4:3 oldalarány)</PresentationFormat>
  <Paragraphs>173</Paragraphs>
  <Slides>15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6" baseType="lpstr">
      <vt:lpstr>Office-téma</vt:lpstr>
      <vt:lpstr>Természetes nyelvek feldolgozása Korpuszok és NoSketchEngine</vt:lpstr>
      <vt:lpstr>Korpuszok</vt:lpstr>
      <vt:lpstr>Korpuszok főbb típusai</vt:lpstr>
      <vt:lpstr>Korpuszok főbb típusai</vt:lpstr>
      <vt:lpstr>Korpuszok használata</vt:lpstr>
      <vt:lpstr>Korpuszok az NLP-ben</vt:lpstr>
      <vt:lpstr>Korpuszformátumok</vt:lpstr>
      <vt:lpstr>Korpuszmotorok</vt:lpstr>
      <vt:lpstr>Sketch Engine</vt:lpstr>
      <vt:lpstr>Sketch Engine</vt:lpstr>
      <vt:lpstr>Kollokációk</vt:lpstr>
      <vt:lpstr>NoSketchEngine</vt:lpstr>
      <vt:lpstr>NoSketchEngine</vt:lpstr>
      <vt:lpstr>CQL: Corpus Query Language</vt:lpstr>
      <vt:lpstr>CQL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Természetes nyelvek feldolgozása SpaCy, Stanza és E-magyar</dc:title>
  <dc:creator>Anonim</dc:creator>
  <cp:lastModifiedBy>Anonim</cp:lastModifiedBy>
  <cp:revision>29</cp:revision>
  <dcterms:created xsi:type="dcterms:W3CDTF">2025-10-30T23:47:30Z</dcterms:created>
  <dcterms:modified xsi:type="dcterms:W3CDTF">2025-11-27T19:31:14Z</dcterms:modified>
</cp:coreProperties>
</file>
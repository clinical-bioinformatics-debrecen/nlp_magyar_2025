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2" r:id="rId16"/>
    <p:sldId id="273" r:id="rId17"/>
    <p:sldId id="274" r:id="rId18"/>
    <p:sldId id="275" r:id="rId19"/>
    <p:sldId id="276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1018" y="-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714B6-2E35-4B00-93C4-CAE997EEFAA5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8B14B-4E22-4334-9068-D20F2E8505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2290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58B14B-4E22-4334-9068-D20F2E850560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8160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Alcím mintájának szerkesztése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7E60A-8000-4753-8A84-69A773B18435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5C65-7456-4347-BF9E-22A03F70F7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701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7E60A-8000-4753-8A84-69A773B18435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5C65-7456-4347-BF9E-22A03F70F7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8359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7E60A-8000-4753-8A84-69A773B18435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5C65-7456-4347-BF9E-22A03F70F7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1604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7E60A-8000-4753-8A84-69A773B18435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5C65-7456-4347-BF9E-22A03F70F7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3324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7E60A-8000-4753-8A84-69A773B18435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5C65-7456-4347-BF9E-22A03F70F7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8368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7E60A-8000-4753-8A84-69A773B18435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5C65-7456-4347-BF9E-22A03F70F7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6120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7E60A-8000-4753-8A84-69A773B18435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5C65-7456-4347-BF9E-22A03F70F7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9915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7E60A-8000-4753-8A84-69A773B18435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5C65-7456-4347-BF9E-22A03F70F7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8319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7E60A-8000-4753-8A84-69A773B18435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5C65-7456-4347-BF9E-22A03F70F7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1309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7E60A-8000-4753-8A84-69A773B18435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5C65-7456-4347-BF9E-22A03F70F7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2225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7E60A-8000-4753-8A84-69A773B18435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5C65-7456-4347-BF9E-22A03F70F7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4547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7E60A-8000-4753-8A84-69A773B18435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15C65-7456-4347-BF9E-22A03F70F7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565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005.14165" TargetMode="External"/><Relationship Id="rId2" Type="http://schemas.openxmlformats.org/officeDocument/2006/relationships/hyperlink" Target="https://cdn.openai.com/better-language-models/language_models_are_unsupervised_multitask_learners.pdf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Generatív mesterséges intelligencia</a:t>
            </a:r>
            <a:br>
              <a:rPr lang="hu-HU" dirty="0"/>
            </a:br>
            <a:r>
              <a:rPr lang="hu-HU" sz="3600" i="1" dirty="0" err="1" smtClean="0"/>
              <a:t>GPT</a:t>
            </a:r>
            <a:r>
              <a:rPr lang="hu-HU" sz="3600" i="1" dirty="0" smtClean="0"/>
              <a:t> és rokon generatív nyelvmodellek</a:t>
            </a:r>
            <a:endParaRPr lang="en-GB" sz="4000" i="1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403648" y="4365104"/>
            <a:ext cx="6400800" cy="1752600"/>
          </a:xfrm>
        </p:spPr>
        <p:txBody>
          <a:bodyPr/>
          <a:lstStyle/>
          <a:p>
            <a:r>
              <a:rPr lang="hu-HU" dirty="0" smtClean="0"/>
              <a:t>2025.12.04.</a:t>
            </a:r>
            <a:endParaRPr lang="hu-HU" dirty="0"/>
          </a:p>
          <a:p>
            <a:r>
              <a:rPr lang="hu-HU" dirty="0"/>
              <a:t>Pethő Gergely</a:t>
            </a:r>
          </a:p>
          <a:p>
            <a:r>
              <a:rPr lang="hu-HU" dirty="0"/>
              <a:t>DE </a:t>
            </a:r>
            <a:r>
              <a:rPr lang="hu-HU" dirty="0" err="1"/>
              <a:t>ETK</a:t>
            </a:r>
            <a:r>
              <a:rPr lang="hu-HU" dirty="0"/>
              <a:t> </a:t>
            </a:r>
            <a:r>
              <a:rPr lang="hu-HU" dirty="0" err="1"/>
              <a:t>Bioinformatikai</a:t>
            </a:r>
            <a:r>
              <a:rPr lang="hu-HU" dirty="0"/>
              <a:t> Tanszék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6296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GPT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 smtClean="0"/>
              <a:t>A </a:t>
            </a:r>
            <a:r>
              <a:rPr lang="en-GB" b="1" dirty="0" err="1" smtClean="0"/>
              <a:t>GPT</a:t>
            </a:r>
            <a:r>
              <a:rPr lang="en-GB" b="1" dirty="0" smtClean="0"/>
              <a:t> </a:t>
            </a:r>
            <a:r>
              <a:rPr lang="en-GB" dirty="0" smtClean="0"/>
              <a:t>(Generative </a:t>
            </a:r>
            <a:r>
              <a:rPr lang="en-GB" dirty="0" err="1" smtClean="0"/>
              <a:t>Pretrained</a:t>
            </a:r>
            <a:r>
              <a:rPr lang="en-GB" dirty="0" smtClean="0"/>
              <a:t> Transformer) </a:t>
            </a:r>
            <a:r>
              <a:rPr lang="en-GB" dirty="0" err="1" smtClean="0"/>
              <a:t>nyílt</a:t>
            </a:r>
            <a:r>
              <a:rPr lang="en-GB" dirty="0" smtClean="0"/>
              <a:t> </a:t>
            </a:r>
            <a:r>
              <a:rPr lang="en-GB" dirty="0" err="1" smtClean="0"/>
              <a:t>forráskódú</a:t>
            </a:r>
            <a:r>
              <a:rPr lang="en-GB" dirty="0" smtClean="0"/>
              <a:t>, </a:t>
            </a:r>
            <a:r>
              <a:rPr lang="en-GB" dirty="0" err="1" smtClean="0"/>
              <a:t>transzform</a:t>
            </a:r>
            <a:r>
              <a:rPr lang="hu-HU" dirty="0" err="1" smtClean="0"/>
              <a:t>er</a:t>
            </a:r>
            <a:r>
              <a:rPr lang="en-GB" dirty="0" err="1" smtClean="0"/>
              <a:t>alapú</a:t>
            </a:r>
            <a:r>
              <a:rPr lang="en-GB" dirty="0" smtClean="0"/>
              <a:t> </a:t>
            </a:r>
            <a:r>
              <a:rPr lang="en-GB" dirty="0" err="1" smtClean="0"/>
              <a:t>generatív</a:t>
            </a:r>
            <a:r>
              <a:rPr lang="en-GB" dirty="0" smtClean="0"/>
              <a:t> </a:t>
            </a:r>
            <a:r>
              <a:rPr lang="en-GB" dirty="0" err="1" smtClean="0"/>
              <a:t>nyelvmodell</a:t>
            </a:r>
            <a:r>
              <a:rPr lang="en-GB" dirty="0" smtClean="0"/>
              <a:t>, </a:t>
            </a:r>
            <a:r>
              <a:rPr lang="en-GB" dirty="0" err="1" smtClean="0"/>
              <a:t>amelyet</a:t>
            </a:r>
            <a:r>
              <a:rPr lang="en-GB" dirty="0" smtClean="0"/>
              <a:t> 2018-ban </a:t>
            </a:r>
            <a:r>
              <a:rPr lang="en-GB" dirty="0" err="1" smtClean="0"/>
              <a:t>adtak</a:t>
            </a:r>
            <a:r>
              <a:rPr lang="en-GB" dirty="0" smtClean="0"/>
              <a:t> </a:t>
            </a:r>
            <a:r>
              <a:rPr lang="en-GB" dirty="0" err="1" smtClean="0"/>
              <a:t>ki</a:t>
            </a:r>
            <a:r>
              <a:rPr lang="en-GB" dirty="0" smtClean="0"/>
              <a:t>, </a:t>
            </a:r>
            <a:r>
              <a:rPr lang="en-GB" dirty="0" err="1" smtClean="0"/>
              <a:t>röviddel</a:t>
            </a:r>
            <a:r>
              <a:rPr lang="en-GB" dirty="0" smtClean="0"/>
              <a:t> a </a:t>
            </a:r>
            <a:r>
              <a:rPr lang="en-GB" dirty="0" err="1" smtClean="0"/>
              <a:t>transzform</a:t>
            </a:r>
            <a:r>
              <a:rPr lang="hu-HU" dirty="0" err="1" smtClean="0"/>
              <a:t>er</a:t>
            </a:r>
            <a:r>
              <a:rPr lang="en-GB" dirty="0" smtClean="0"/>
              <a:t> </a:t>
            </a:r>
            <a:r>
              <a:rPr lang="en-GB" dirty="0" err="1" smtClean="0"/>
              <a:t>feltalálása</a:t>
            </a:r>
            <a:r>
              <a:rPr lang="en-GB" dirty="0" smtClean="0"/>
              <a:t> </a:t>
            </a:r>
            <a:r>
              <a:rPr lang="en-GB" dirty="0" err="1" smtClean="0"/>
              <a:t>után</a:t>
            </a:r>
            <a:r>
              <a:rPr lang="en-GB" dirty="0" smtClean="0"/>
              <a:t>.</a:t>
            </a:r>
            <a:endParaRPr lang="hu-HU" dirty="0" smtClean="0"/>
          </a:p>
          <a:p>
            <a:pPr lvl="1"/>
            <a:r>
              <a:rPr lang="en-GB" dirty="0" smtClean="0"/>
              <a:t>117 </a:t>
            </a:r>
            <a:r>
              <a:rPr lang="en-GB" dirty="0" err="1" smtClean="0"/>
              <a:t>millió</a:t>
            </a:r>
            <a:r>
              <a:rPr lang="hu-HU" dirty="0" smtClean="0"/>
              <a:t> paraméter</a:t>
            </a:r>
            <a:r>
              <a:rPr lang="en-GB" dirty="0" smtClean="0"/>
              <a:t>, mint a BERT-base </a:t>
            </a:r>
            <a:r>
              <a:rPr lang="en-GB" dirty="0" err="1" smtClean="0"/>
              <a:t>modell</a:t>
            </a:r>
            <a:r>
              <a:rPr lang="hu-HU" dirty="0" smtClean="0"/>
              <a:t>.</a:t>
            </a:r>
          </a:p>
          <a:p>
            <a:pPr lvl="1"/>
            <a:r>
              <a:rPr lang="en-GB" dirty="0" smtClean="0"/>
              <a:t>12 </a:t>
            </a:r>
            <a:r>
              <a:rPr lang="en-GB" dirty="0" err="1" smtClean="0"/>
              <a:t>transzform</a:t>
            </a:r>
            <a:r>
              <a:rPr lang="hu-HU" dirty="0" err="1" smtClean="0"/>
              <a:t>er</a:t>
            </a:r>
            <a:r>
              <a:rPr lang="en-GB" dirty="0" err="1" smtClean="0"/>
              <a:t>blokk</a:t>
            </a:r>
            <a:r>
              <a:rPr lang="en-GB" dirty="0" smtClean="0"/>
              <a:t> </a:t>
            </a:r>
            <a:r>
              <a:rPr lang="en-GB" dirty="0" err="1" smtClean="0"/>
              <a:t>és</a:t>
            </a:r>
            <a:r>
              <a:rPr lang="en-GB" dirty="0" smtClean="0"/>
              <a:t> </a:t>
            </a:r>
            <a:r>
              <a:rPr lang="en-GB" dirty="0" err="1" smtClean="0"/>
              <a:t>figyelmi</a:t>
            </a:r>
            <a:r>
              <a:rPr lang="en-GB" dirty="0" smtClean="0"/>
              <a:t> </a:t>
            </a:r>
            <a:r>
              <a:rPr lang="en-GB" dirty="0" err="1" smtClean="0"/>
              <a:t>fej</a:t>
            </a:r>
            <a:r>
              <a:rPr lang="en-GB" dirty="0" smtClean="0"/>
              <a:t>, 768 </a:t>
            </a:r>
            <a:r>
              <a:rPr lang="en-GB" dirty="0" err="1" smtClean="0"/>
              <a:t>dimenziós</a:t>
            </a:r>
            <a:r>
              <a:rPr lang="en-GB" dirty="0" smtClean="0"/>
              <a:t> </a:t>
            </a:r>
            <a:r>
              <a:rPr lang="en-GB" dirty="0" err="1" smtClean="0"/>
              <a:t>vektorok</a:t>
            </a:r>
            <a:endParaRPr lang="hu-HU" dirty="0"/>
          </a:p>
          <a:p>
            <a:pPr lvl="1"/>
            <a:r>
              <a:rPr lang="hu-HU" dirty="0" smtClean="0"/>
              <a:t>Az </a:t>
            </a:r>
            <a:r>
              <a:rPr lang="hu-HU" dirty="0" err="1" smtClean="0"/>
              <a:t>OpenAI</a:t>
            </a:r>
            <a:r>
              <a:rPr lang="hu-HU" dirty="0" smtClean="0"/>
              <a:t> fejlesztette, egy </a:t>
            </a:r>
            <a:r>
              <a:rPr lang="hu-HU" dirty="0" err="1" smtClean="0"/>
              <a:t>startup</a:t>
            </a:r>
            <a:r>
              <a:rPr lang="hu-HU" dirty="0" smtClean="0"/>
              <a:t>, amely eredetileg </a:t>
            </a:r>
            <a:r>
              <a:rPr lang="hu-HU" dirty="0" err="1" smtClean="0"/>
              <a:t>AGI-t</a:t>
            </a:r>
            <a:r>
              <a:rPr lang="hu-HU" dirty="0" smtClean="0"/>
              <a:t> (általános mesterséges intelligenciát) akart feltalálni és nyíltan elérhetővé tenni a nagyközönség számára.</a:t>
            </a:r>
          </a:p>
          <a:p>
            <a:r>
              <a:rPr lang="hu-HU" dirty="0" smtClean="0"/>
              <a:t>Utódja a GPT-2, ezt is 2018-ban adták ki, négy azonos szerkezetű </a:t>
            </a:r>
            <a:r>
              <a:rPr lang="en-GB" dirty="0" err="1" smtClean="0"/>
              <a:t>modell</a:t>
            </a:r>
            <a:r>
              <a:rPr lang="en-GB" dirty="0" smtClean="0"/>
              <a:t> 117M </a:t>
            </a:r>
            <a:r>
              <a:rPr lang="hu-HU" dirty="0" smtClean="0"/>
              <a:t>(millió) </a:t>
            </a:r>
            <a:r>
              <a:rPr lang="en-GB" dirty="0" err="1" smtClean="0"/>
              <a:t>és</a:t>
            </a:r>
            <a:r>
              <a:rPr lang="en-GB" dirty="0" smtClean="0"/>
              <a:t> 1</a:t>
            </a:r>
            <a:r>
              <a:rPr lang="hu-HU" dirty="0" smtClean="0"/>
              <a:t>,</a:t>
            </a:r>
            <a:r>
              <a:rPr lang="en-GB" dirty="0" smtClean="0"/>
              <a:t>5G </a:t>
            </a:r>
            <a:r>
              <a:rPr lang="hu-HU" dirty="0" smtClean="0"/>
              <a:t>(milliárd) </a:t>
            </a:r>
            <a:r>
              <a:rPr lang="en-GB" dirty="0" err="1" smtClean="0"/>
              <a:t>paraméter</a:t>
            </a:r>
            <a:r>
              <a:rPr lang="en-GB" dirty="0" smtClean="0"/>
              <a:t> </a:t>
            </a:r>
            <a:r>
              <a:rPr lang="en-GB" dirty="0" err="1" smtClean="0"/>
              <a:t>között</a:t>
            </a:r>
            <a:endParaRPr lang="hu-HU" dirty="0" smtClean="0"/>
          </a:p>
          <a:p>
            <a:pPr lvl="1"/>
            <a:r>
              <a:rPr lang="hu-HU" dirty="0" smtClean="0"/>
              <a:t>legnagyobb: 48 </a:t>
            </a:r>
            <a:r>
              <a:rPr lang="hu-HU" dirty="0" err="1" smtClean="0"/>
              <a:t>transzformerblokk</a:t>
            </a:r>
            <a:r>
              <a:rPr lang="hu-HU" dirty="0" smtClean="0"/>
              <a:t>, 1600 dimenziós</a:t>
            </a:r>
          </a:p>
          <a:p>
            <a:r>
              <a:rPr lang="hu-HU" dirty="0" smtClean="0"/>
              <a:t>Az á</a:t>
            </a:r>
            <a:r>
              <a:rPr lang="en-GB" dirty="0" err="1" smtClean="0"/>
              <a:t>ttörés</a:t>
            </a:r>
            <a:r>
              <a:rPr lang="hu-HU" dirty="0"/>
              <a:t>t</a:t>
            </a:r>
            <a:r>
              <a:rPr lang="en-GB" dirty="0" smtClean="0"/>
              <a:t> </a:t>
            </a:r>
            <a:r>
              <a:rPr lang="hu-HU" dirty="0"/>
              <a:t>a</a:t>
            </a:r>
            <a:r>
              <a:rPr lang="en-GB" dirty="0" smtClean="0"/>
              <a:t> GPT-3 </a:t>
            </a:r>
            <a:r>
              <a:rPr lang="hu-HU" dirty="0" smtClean="0"/>
              <a:t>jelentette</a:t>
            </a:r>
            <a:r>
              <a:rPr lang="en-GB" dirty="0" smtClean="0"/>
              <a:t> 2020-ban, 8 </a:t>
            </a:r>
            <a:r>
              <a:rPr lang="en-GB" dirty="0" err="1" smtClean="0"/>
              <a:t>méret</a:t>
            </a:r>
            <a:r>
              <a:rPr lang="hu-HU" dirty="0" err="1" smtClean="0"/>
              <a:t>ben</a:t>
            </a:r>
            <a:r>
              <a:rPr lang="hu-HU" dirty="0" smtClean="0"/>
              <a:t> készült el </a:t>
            </a:r>
            <a:r>
              <a:rPr lang="en-GB" dirty="0" smtClean="0"/>
              <a:t>125M </a:t>
            </a:r>
            <a:r>
              <a:rPr lang="en-GB" dirty="0" err="1" smtClean="0"/>
              <a:t>és</a:t>
            </a:r>
            <a:r>
              <a:rPr lang="en-GB" dirty="0" smtClean="0"/>
              <a:t> 175B </a:t>
            </a:r>
            <a:r>
              <a:rPr lang="en-GB" dirty="0" err="1" smtClean="0"/>
              <a:t>paraméter</a:t>
            </a:r>
            <a:r>
              <a:rPr lang="en-GB" dirty="0" smtClean="0"/>
              <a:t> </a:t>
            </a:r>
            <a:r>
              <a:rPr lang="en-GB" dirty="0" err="1" smtClean="0"/>
              <a:t>között</a:t>
            </a:r>
            <a:endParaRPr lang="hu-HU" dirty="0" smtClean="0"/>
          </a:p>
          <a:p>
            <a:pPr lvl="1"/>
            <a:r>
              <a:rPr lang="en-GB" dirty="0" smtClean="0"/>
              <a:t>175B: 96 </a:t>
            </a:r>
            <a:r>
              <a:rPr lang="hu-HU" dirty="0" err="1" smtClean="0"/>
              <a:t>transzformerblokk</a:t>
            </a:r>
            <a:r>
              <a:rPr lang="hu-HU" dirty="0" smtClean="0"/>
              <a:t> </a:t>
            </a:r>
            <a:r>
              <a:rPr lang="en-GB" dirty="0" err="1" smtClean="0"/>
              <a:t>és</a:t>
            </a:r>
            <a:r>
              <a:rPr lang="en-GB" dirty="0" smtClean="0"/>
              <a:t> </a:t>
            </a:r>
            <a:r>
              <a:rPr lang="en-GB" dirty="0" err="1" smtClean="0"/>
              <a:t>figyelmi</a:t>
            </a:r>
            <a:r>
              <a:rPr lang="en-GB" dirty="0" smtClean="0"/>
              <a:t> </a:t>
            </a:r>
            <a:r>
              <a:rPr lang="en-GB" dirty="0" err="1" smtClean="0"/>
              <a:t>fej</a:t>
            </a:r>
            <a:r>
              <a:rPr lang="en-GB" dirty="0" smtClean="0"/>
              <a:t>, 12288 </a:t>
            </a:r>
            <a:r>
              <a:rPr lang="en-GB" dirty="0" err="1" smtClean="0"/>
              <a:t>dimenziós</a:t>
            </a:r>
            <a:endParaRPr lang="hu-HU" dirty="0" smtClean="0"/>
          </a:p>
          <a:p>
            <a:pPr lvl="1"/>
            <a:r>
              <a:rPr lang="hu-HU" dirty="0" smtClean="0"/>
              <a:t>nem nyílt forráskódú, csak az </a:t>
            </a:r>
            <a:r>
              <a:rPr lang="hu-HU" dirty="0" err="1" smtClean="0"/>
              <a:t>OpenAI</a:t>
            </a:r>
            <a:r>
              <a:rPr lang="hu-HU" dirty="0" smtClean="0"/>
              <a:t> </a:t>
            </a:r>
            <a:r>
              <a:rPr lang="hu-HU" dirty="0" err="1" smtClean="0"/>
              <a:t>API-ján</a:t>
            </a:r>
            <a:r>
              <a:rPr lang="hu-HU" dirty="0" smtClean="0"/>
              <a:t> keresztül </a:t>
            </a:r>
            <a:r>
              <a:rPr lang="hu-HU" dirty="0" err="1" smtClean="0"/>
              <a:t>vole</a:t>
            </a:r>
            <a:r>
              <a:rPr lang="hu-HU" dirty="0" smtClean="0"/>
              <a:t> elérhető</a:t>
            </a:r>
          </a:p>
        </p:txBody>
      </p:sp>
    </p:spTree>
    <p:extLst>
      <p:ext uri="{BB962C8B-B14F-4D97-AF65-F5344CB8AC3E}">
        <p14:creationId xmlns:p14="http://schemas.microsoft.com/office/powerpoint/2010/main" val="186498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Előtanítás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>
            <a:normAutofit fontScale="55000" lnSpcReduction="20000"/>
          </a:bodyPr>
          <a:lstStyle/>
          <a:p>
            <a:r>
              <a:rPr lang="hu-HU" b="1" dirty="0" smtClean="0"/>
              <a:t>Nem felügyelt, </a:t>
            </a:r>
            <a:r>
              <a:rPr lang="hu-HU" b="1" dirty="0" err="1" smtClean="0"/>
              <a:t>autoregresszív</a:t>
            </a:r>
            <a:r>
              <a:rPr lang="hu-HU" b="1" dirty="0" smtClean="0"/>
              <a:t> előtanítás </a:t>
            </a:r>
            <a:r>
              <a:rPr lang="hu-HU" dirty="0" smtClean="0"/>
              <a:t>(</a:t>
            </a:r>
            <a:r>
              <a:rPr lang="hu-HU" dirty="0" err="1" smtClean="0"/>
              <a:t>pre-training</a:t>
            </a:r>
            <a:r>
              <a:rPr lang="hu-HU" dirty="0" smtClean="0"/>
              <a:t>)</a:t>
            </a:r>
          </a:p>
          <a:p>
            <a:r>
              <a:rPr lang="hu-HU" dirty="0" smtClean="0"/>
              <a:t>Tanításához </a:t>
            </a:r>
            <a:r>
              <a:rPr lang="hu-HU" b="1" dirty="0" smtClean="0"/>
              <a:t>nyers szövegekből álló tanítókorpuszt </a:t>
            </a:r>
            <a:r>
              <a:rPr lang="hu-HU" dirty="0" smtClean="0"/>
              <a:t>használnak, amelyet az internetről gyűjtöttek.</a:t>
            </a:r>
          </a:p>
          <a:p>
            <a:r>
              <a:rPr lang="en-GB" dirty="0" smtClean="0"/>
              <a:t>A </a:t>
            </a:r>
            <a:r>
              <a:rPr lang="en-GB" b="1" dirty="0" err="1" smtClean="0"/>
              <a:t>szöveg</a:t>
            </a:r>
            <a:r>
              <a:rPr lang="en-GB" b="1" dirty="0" smtClean="0"/>
              <a:t> </a:t>
            </a:r>
            <a:r>
              <a:rPr lang="en-GB" b="1" dirty="0" err="1" smtClean="0"/>
              <a:t>egy</a:t>
            </a:r>
            <a:r>
              <a:rPr lang="en-GB" b="1" dirty="0" smtClean="0"/>
              <a:t> </a:t>
            </a:r>
            <a:r>
              <a:rPr lang="en-GB" b="1" dirty="0" err="1" smtClean="0"/>
              <a:t>kezdeti</a:t>
            </a:r>
            <a:r>
              <a:rPr lang="en-GB" b="1" dirty="0" smtClean="0"/>
              <a:t> </a:t>
            </a:r>
            <a:r>
              <a:rPr lang="en-GB" b="1" dirty="0" err="1" smtClean="0"/>
              <a:t>részét</a:t>
            </a:r>
            <a:r>
              <a:rPr lang="en-GB" b="1" dirty="0" smtClean="0"/>
              <a:t> </a:t>
            </a:r>
            <a:r>
              <a:rPr lang="en-GB" dirty="0" err="1" smtClean="0"/>
              <a:t>adják</a:t>
            </a:r>
            <a:r>
              <a:rPr lang="en-GB" dirty="0" smtClean="0"/>
              <a:t> </a:t>
            </a:r>
            <a:r>
              <a:rPr lang="hu-HU" dirty="0" smtClean="0"/>
              <a:t>át </a:t>
            </a:r>
            <a:r>
              <a:rPr lang="en-GB" dirty="0" err="1" smtClean="0"/>
              <a:t>bemenetként</a:t>
            </a:r>
            <a:r>
              <a:rPr lang="en-GB" dirty="0" smtClean="0"/>
              <a:t>.</a:t>
            </a:r>
          </a:p>
          <a:p>
            <a:r>
              <a:rPr lang="en-GB" dirty="0" err="1" smtClean="0"/>
              <a:t>Ezt</a:t>
            </a:r>
            <a:r>
              <a:rPr lang="en-GB" dirty="0" smtClean="0"/>
              <a:t> </a:t>
            </a:r>
            <a:r>
              <a:rPr lang="en-GB" dirty="0" err="1" smtClean="0"/>
              <a:t>tokenizálják</a:t>
            </a:r>
            <a:r>
              <a:rPr lang="en-GB" dirty="0" smtClean="0"/>
              <a:t>,</a:t>
            </a:r>
            <a:r>
              <a:rPr lang="hu-HU" dirty="0"/>
              <a:t> </a:t>
            </a:r>
            <a:r>
              <a:rPr lang="hu-HU" dirty="0" smtClean="0"/>
              <a:t>a </a:t>
            </a:r>
            <a:r>
              <a:rPr lang="hu-HU" dirty="0" err="1" smtClean="0"/>
              <a:t>tokeneket</a:t>
            </a:r>
            <a:r>
              <a:rPr lang="hu-HU" dirty="0" smtClean="0"/>
              <a:t> beágyazásvektorrá alakítják</a:t>
            </a:r>
            <a:r>
              <a:rPr lang="en-GB" dirty="0" smtClean="0"/>
              <a:t>, </a:t>
            </a:r>
            <a:r>
              <a:rPr lang="hu-HU" dirty="0" smtClean="0"/>
              <a:t>az utóbbiakat </a:t>
            </a:r>
            <a:r>
              <a:rPr lang="en-GB" dirty="0" smtClean="0"/>
              <a:t>a </a:t>
            </a:r>
            <a:r>
              <a:rPr lang="en-GB" dirty="0" err="1" smtClean="0"/>
              <a:t>transzform</a:t>
            </a:r>
            <a:r>
              <a:rPr lang="hu-HU" dirty="0" err="1" smtClean="0"/>
              <a:t>er</a:t>
            </a:r>
            <a:r>
              <a:rPr lang="en-GB" dirty="0" smtClean="0"/>
              <a:t> </a:t>
            </a:r>
            <a:r>
              <a:rPr lang="en-GB" dirty="0" err="1" smtClean="0"/>
              <a:t>feldolgozza</a:t>
            </a:r>
            <a:r>
              <a:rPr lang="en-GB" dirty="0" smtClean="0"/>
              <a:t>.</a:t>
            </a:r>
          </a:p>
          <a:p>
            <a:r>
              <a:rPr lang="hu-HU" dirty="0" smtClean="0"/>
              <a:t>A </a:t>
            </a:r>
            <a:r>
              <a:rPr lang="hu-HU" b="1" dirty="0" smtClean="0"/>
              <a:t>kimenet </a:t>
            </a:r>
            <a:r>
              <a:rPr lang="hu-HU" dirty="0" smtClean="0"/>
              <a:t>a következő </a:t>
            </a:r>
            <a:r>
              <a:rPr lang="hu-HU" dirty="0" err="1" smtClean="0"/>
              <a:t>tokenre</a:t>
            </a:r>
            <a:r>
              <a:rPr lang="hu-HU" dirty="0" smtClean="0"/>
              <a:t> vonatkozóan a modell által </a:t>
            </a:r>
            <a:r>
              <a:rPr lang="hu-HU" b="1" dirty="0" err="1" smtClean="0"/>
              <a:t>prediktált</a:t>
            </a:r>
            <a:r>
              <a:rPr lang="hu-HU" b="1" dirty="0" smtClean="0"/>
              <a:t> valószínűségi eloszlás</a:t>
            </a:r>
            <a:r>
              <a:rPr lang="hu-HU" dirty="0" smtClean="0"/>
              <a:t>.</a:t>
            </a:r>
          </a:p>
          <a:p>
            <a:r>
              <a:rPr lang="hu-HU" dirty="0" smtClean="0"/>
              <a:t>A </a:t>
            </a:r>
            <a:r>
              <a:rPr lang="hu-HU" b="1" dirty="0" smtClean="0"/>
              <a:t>ténylegesen </a:t>
            </a:r>
            <a:r>
              <a:rPr lang="hu-HU" dirty="0" smtClean="0"/>
              <a:t>következő </a:t>
            </a:r>
            <a:r>
              <a:rPr lang="hu-HU" i="1" dirty="0" smtClean="0"/>
              <a:t>t </a:t>
            </a:r>
            <a:r>
              <a:rPr lang="hu-HU" dirty="0" err="1" smtClean="0"/>
              <a:t>token</a:t>
            </a:r>
            <a:r>
              <a:rPr lang="hu-HU" dirty="0" smtClean="0"/>
              <a:t> ismert a korpuszból.</a:t>
            </a:r>
          </a:p>
          <a:p>
            <a:r>
              <a:rPr lang="hu-HU" dirty="0" smtClean="0"/>
              <a:t>A modell </a:t>
            </a:r>
            <a:r>
              <a:rPr lang="hu-HU" b="1" dirty="0" smtClean="0"/>
              <a:t>hibája</a:t>
            </a:r>
            <a:r>
              <a:rPr lang="hu-HU" dirty="0" smtClean="0"/>
              <a:t> (ún. vesztesége) ezt a tanítási adatpontot tekintve a </a:t>
            </a:r>
            <a:r>
              <a:rPr lang="hu-HU" i="1" dirty="0" smtClean="0"/>
              <a:t>t</a:t>
            </a:r>
            <a:r>
              <a:rPr lang="hu-HU" dirty="0" smtClean="0"/>
              <a:t>-re </a:t>
            </a:r>
            <a:r>
              <a:rPr lang="hu-HU" dirty="0" err="1" smtClean="0"/>
              <a:t>előrejelzett</a:t>
            </a:r>
            <a:r>
              <a:rPr lang="hu-HU" dirty="0" smtClean="0"/>
              <a:t> valószínűség és 1 közötti különbség.</a:t>
            </a:r>
          </a:p>
          <a:p>
            <a:pPr lvl="1"/>
            <a:r>
              <a:rPr lang="en-GB" dirty="0" smtClean="0"/>
              <a:t>Mint </a:t>
            </a:r>
            <a:r>
              <a:rPr lang="en-GB" dirty="0" err="1" smtClean="0"/>
              <a:t>mindig</a:t>
            </a:r>
            <a:r>
              <a:rPr lang="en-GB" dirty="0" smtClean="0"/>
              <a:t>, </a:t>
            </a:r>
            <a:r>
              <a:rPr lang="hu-HU" dirty="0" smtClean="0"/>
              <a:t>a tanítóalgoritmus </a:t>
            </a:r>
            <a:r>
              <a:rPr lang="en-GB" dirty="0" smtClean="0"/>
              <a:t>a </a:t>
            </a:r>
            <a:r>
              <a:rPr lang="en-GB" b="1" dirty="0" err="1" smtClean="0"/>
              <a:t>hib</a:t>
            </a:r>
            <a:r>
              <a:rPr lang="hu-HU" b="1" dirty="0" smtClean="0"/>
              <a:t>át</a:t>
            </a:r>
            <a:r>
              <a:rPr lang="en-GB" b="1" dirty="0" smtClean="0"/>
              <a:t> </a:t>
            </a:r>
            <a:r>
              <a:rPr lang="hu-HU" b="1" dirty="0" smtClean="0"/>
              <a:t>visszaáramoltatja </a:t>
            </a:r>
            <a:r>
              <a:rPr lang="en-GB" dirty="0" smtClean="0"/>
              <a:t>a </a:t>
            </a:r>
            <a:r>
              <a:rPr lang="hu-HU" dirty="0" smtClean="0"/>
              <a:t>neurális hálón </a:t>
            </a:r>
            <a:r>
              <a:rPr lang="en-GB" dirty="0" err="1" smtClean="0"/>
              <a:t>keresztül</a:t>
            </a:r>
            <a:r>
              <a:rPr lang="hu-HU" dirty="0" smtClean="0"/>
              <a:t> (</a:t>
            </a:r>
            <a:r>
              <a:rPr lang="hu-HU" dirty="0" err="1" smtClean="0"/>
              <a:t>backpropagation</a:t>
            </a:r>
            <a:r>
              <a:rPr lang="hu-HU" dirty="0" smtClean="0"/>
              <a:t>)</a:t>
            </a:r>
            <a:r>
              <a:rPr lang="en-GB" dirty="0" smtClean="0"/>
              <a:t>, </a:t>
            </a:r>
            <a:r>
              <a:rPr lang="en-GB" dirty="0" err="1" smtClean="0"/>
              <a:t>azaz</a:t>
            </a:r>
            <a:r>
              <a:rPr lang="en-GB" dirty="0" smtClean="0"/>
              <a:t> a </a:t>
            </a:r>
            <a:r>
              <a:rPr lang="en-GB" dirty="0" err="1" smtClean="0"/>
              <a:t>háló</a:t>
            </a:r>
            <a:r>
              <a:rPr lang="en-GB" dirty="0" smtClean="0"/>
              <a:t> </a:t>
            </a:r>
            <a:r>
              <a:rPr lang="en-GB" dirty="0" err="1" smtClean="0"/>
              <a:t>minden</a:t>
            </a:r>
            <a:r>
              <a:rPr lang="en-GB" dirty="0" smtClean="0"/>
              <a:t> </a:t>
            </a:r>
            <a:r>
              <a:rPr lang="en-GB" dirty="0" err="1" smtClean="0"/>
              <a:t>egyes</a:t>
            </a:r>
            <a:r>
              <a:rPr lang="en-GB" dirty="0" smtClean="0"/>
              <a:t> </a:t>
            </a:r>
            <a:r>
              <a:rPr lang="en-GB" dirty="0" err="1" smtClean="0"/>
              <a:t>paramétere</a:t>
            </a:r>
            <a:r>
              <a:rPr lang="en-GB" dirty="0" smtClean="0"/>
              <a:t> </a:t>
            </a:r>
            <a:r>
              <a:rPr lang="en-GB" dirty="0" err="1" smtClean="0"/>
              <a:t>frissül</a:t>
            </a:r>
            <a:r>
              <a:rPr lang="en-GB" dirty="0" smtClean="0"/>
              <a:t> </a:t>
            </a:r>
            <a:r>
              <a:rPr lang="en-GB" dirty="0" err="1" smtClean="0"/>
              <a:t>az</a:t>
            </a:r>
            <a:r>
              <a:rPr lang="en-GB" dirty="0" smtClean="0"/>
              <a:t> </a:t>
            </a:r>
            <a:r>
              <a:rPr lang="en-GB" dirty="0" err="1" smtClean="0"/>
              <a:t>elvégzett</a:t>
            </a:r>
            <a:r>
              <a:rPr lang="en-GB" dirty="0" smtClean="0"/>
              <a:t> </a:t>
            </a:r>
            <a:r>
              <a:rPr lang="en-GB" dirty="0" err="1" smtClean="0"/>
              <a:t>hiba</a:t>
            </a:r>
            <a:r>
              <a:rPr lang="en-GB" dirty="0" smtClean="0"/>
              <a:t> </a:t>
            </a:r>
            <a:r>
              <a:rPr lang="en-GB" dirty="0" err="1" smtClean="0"/>
              <a:t>parciális</a:t>
            </a:r>
            <a:r>
              <a:rPr lang="en-GB" dirty="0" smtClean="0"/>
              <a:t> </a:t>
            </a:r>
            <a:r>
              <a:rPr lang="en-GB" dirty="0" err="1" smtClean="0"/>
              <a:t>deriváltja</a:t>
            </a:r>
            <a:r>
              <a:rPr lang="en-GB" dirty="0" smtClean="0"/>
              <a:t> </a:t>
            </a:r>
            <a:r>
              <a:rPr lang="en-GB" dirty="0" err="1" smtClean="0"/>
              <a:t>alapján</a:t>
            </a:r>
            <a:r>
              <a:rPr lang="en-GB" dirty="0" smtClean="0"/>
              <a:t> </a:t>
            </a:r>
            <a:r>
              <a:rPr lang="en-GB" dirty="0" err="1" smtClean="0"/>
              <a:t>minden</a:t>
            </a:r>
            <a:r>
              <a:rPr lang="en-GB" dirty="0" smtClean="0"/>
              <a:t> </a:t>
            </a:r>
            <a:r>
              <a:rPr lang="en-GB" dirty="0" err="1" smtClean="0"/>
              <a:t>tanítási</a:t>
            </a:r>
            <a:r>
              <a:rPr lang="en-GB" dirty="0" smtClean="0"/>
              <a:t> </a:t>
            </a:r>
            <a:r>
              <a:rPr lang="en-GB" dirty="0" err="1" smtClean="0"/>
              <a:t>adatpont</a:t>
            </a:r>
            <a:r>
              <a:rPr lang="en-GB" dirty="0" smtClean="0"/>
              <a:t> </a:t>
            </a:r>
            <a:r>
              <a:rPr lang="hu-HU" dirty="0" smtClean="0"/>
              <a:t>kiértékelése </a:t>
            </a:r>
            <a:r>
              <a:rPr lang="en-GB" dirty="0" err="1" smtClean="0"/>
              <a:t>után</a:t>
            </a:r>
            <a:r>
              <a:rPr lang="en-GB" dirty="0" smtClean="0"/>
              <a:t>.</a:t>
            </a:r>
          </a:p>
          <a:p>
            <a:r>
              <a:rPr lang="hu-HU" dirty="0" smtClean="0"/>
              <a:t>A tanítás a következő </a:t>
            </a:r>
            <a:r>
              <a:rPr lang="hu-HU" dirty="0" err="1" smtClean="0"/>
              <a:t>tokennel</a:t>
            </a:r>
            <a:r>
              <a:rPr lang="hu-HU" dirty="0" smtClean="0"/>
              <a:t> folytatódik</a:t>
            </a:r>
          </a:p>
          <a:p>
            <a:r>
              <a:rPr lang="hu-HU" dirty="0" smtClean="0"/>
              <a:t>A modell csak korlátozott hosszúságú </a:t>
            </a:r>
            <a:r>
              <a:rPr lang="hu-HU" dirty="0" err="1" smtClean="0"/>
              <a:t>kontextusablakot</a:t>
            </a:r>
            <a:r>
              <a:rPr lang="hu-HU" dirty="0" smtClean="0"/>
              <a:t> láthat egyszerre, mivel a </a:t>
            </a:r>
            <a:r>
              <a:rPr lang="hu-HU" dirty="0" err="1" smtClean="0"/>
              <a:t>transzformer</a:t>
            </a:r>
            <a:r>
              <a:rPr lang="hu-HU" dirty="0" smtClean="0"/>
              <a:t> számítása négyzetes bonyolultságú a bemenet hosszának függvényében</a:t>
            </a:r>
          </a:p>
          <a:p>
            <a:pPr lvl="1"/>
            <a:r>
              <a:rPr lang="hu-HU" dirty="0" smtClean="0"/>
              <a:t>A GPT-3 esetében ezt a kontextust 2048 </a:t>
            </a:r>
            <a:r>
              <a:rPr lang="hu-HU" dirty="0" err="1" smtClean="0"/>
              <a:t>tokenre</a:t>
            </a:r>
            <a:r>
              <a:rPr lang="hu-HU" dirty="0" smtClean="0"/>
              <a:t> korlátozták.</a:t>
            </a:r>
          </a:p>
        </p:txBody>
      </p:sp>
    </p:spTree>
    <p:extLst>
      <p:ext uri="{BB962C8B-B14F-4D97-AF65-F5344CB8AC3E}">
        <p14:creationId xmlns:p14="http://schemas.microsoft.com/office/powerpoint/2010/main" val="2977423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Előtanítás eredménye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hu-HU" dirty="0" smtClean="0"/>
              <a:t>Az előtanítás során a </a:t>
            </a:r>
            <a:r>
              <a:rPr lang="hu-HU" dirty="0" err="1" smtClean="0"/>
              <a:t>GPT</a:t>
            </a:r>
            <a:r>
              <a:rPr lang="hu-HU" dirty="0"/>
              <a:t> </a:t>
            </a:r>
            <a:r>
              <a:rPr lang="hu-HU" dirty="0" smtClean="0"/>
              <a:t>modell megtanulja megjósolni, hogy a </a:t>
            </a:r>
            <a:r>
              <a:rPr lang="hu-HU" b="1" dirty="0" smtClean="0"/>
              <a:t>bemeneti szöveg hogyan folytatódna, ha azt ember írta volna</a:t>
            </a:r>
            <a:r>
              <a:rPr lang="hu-HU" dirty="0" smtClean="0"/>
              <a:t>.</a:t>
            </a:r>
          </a:p>
          <a:p>
            <a:r>
              <a:rPr lang="hu-HU" dirty="0" smtClean="0"/>
              <a:t>Megtanulja, melyek a valószínű és valószínűtlen következő szavak a modell számára elérhető kontextus alapján, amely magában foglal olyan tényezőket, mint:</a:t>
            </a:r>
          </a:p>
          <a:p>
            <a:pPr lvl="1"/>
            <a:r>
              <a:rPr lang="hu-HU" dirty="0" smtClean="0"/>
              <a:t>nyelv</a:t>
            </a:r>
          </a:p>
          <a:p>
            <a:pPr lvl="1"/>
            <a:r>
              <a:rPr lang="hu-HU" dirty="0" smtClean="0"/>
              <a:t>stílus</a:t>
            </a:r>
          </a:p>
          <a:p>
            <a:pPr lvl="1"/>
            <a:r>
              <a:rPr lang="hu-HU" dirty="0" smtClean="0"/>
              <a:t>téma</a:t>
            </a:r>
          </a:p>
          <a:p>
            <a:pPr lvl="1"/>
            <a:r>
              <a:rPr lang="hu-HU" dirty="0" smtClean="0"/>
              <a:t>a megelőző kontextusban szóba került entitások </a:t>
            </a:r>
          </a:p>
          <a:p>
            <a:pPr lvl="1"/>
            <a:r>
              <a:rPr lang="en-GB" dirty="0" smtClean="0"/>
              <a:t>a </a:t>
            </a:r>
            <a:r>
              <a:rPr lang="en-GB" dirty="0" err="1" smtClean="0"/>
              <a:t>mondat</a:t>
            </a:r>
            <a:r>
              <a:rPr lang="en-GB" dirty="0" smtClean="0"/>
              <a:t> </a:t>
            </a:r>
            <a:r>
              <a:rPr lang="en-GB" dirty="0" err="1" smtClean="0"/>
              <a:t>eddigi</a:t>
            </a:r>
            <a:r>
              <a:rPr lang="en-GB" dirty="0" smtClean="0"/>
              <a:t> </a:t>
            </a:r>
            <a:r>
              <a:rPr lang="en-GB" dirty="0" err="1" smtClean="0"/>
              <a:t>szerkezet</a:t>
            </a:r>
            <a:r>
              <a:rPr lang="hu-HU" dirty="0" smtClean="0"/>
              <a:t>e stb.</a:t>
            </a:r>
          </a:p>
          <a:p>
            <a:r>
              <a:rPr lang="hu-HU" b="1" dirty="0" smtClean="0"/>
              <a:t>Nem</a:t>
            </a:r>
            <a:r>
              <a:rPr lang="hu-HU" dirty="0" smtClean="0"/>
              <a:t> tanul meg beszélgetni, chatbotként viselkedni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4082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Predikció</a:t>
            </a:r>
            <a:r>
              <a:rPr lang="hu-HU" dirty="0" smtClean="0"/>
              <a:t> előtanított modellel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hu-HU" dirty="0" smtClean="0"/>
              <a:t>Amikor egy előtanított modellt </a:t>
            </a:r>
            <a:r>
              <a:rPr lang="hu-HU" dirty="0" err="1" smtClean="0"/>
              <a:t>predikcióra</a:t>
            </a:r>
            <a:r>
              <a:rPr lang="hu-HU" dirty="0" smtClean="0"/>
              <a:t> használnak, ehhez először a felhasználó át kell adjon egy szöveget, a </a:t>
            </a:r>
            <a:r>
              <a:rPr lang="hu-HU" b="1" dirty="0" smtClean="0"/>
              <a:t>promptot </a:t>
            </a:r>
            <a:r>
              <a:rPr lang="hu-HU" dirty="0" smtClean="0"/>
              <a:t>a modellnek.</a:t>
            </a:r>
          </a:p>
          <a:p>
            <a:r>
              <a:rPr lang="hu-HU" dirty="0" smtClean="0"/>
              <a:t>A </a:t>
            </a:r>
            <a:r>
              <a:rPr lang="hu-HU" dirty="0" err="1" smtClean="0"/>
              <a:t>GPT</a:t>
            </a:r>
            <a:r>
              <a:rPr lang="hu-HU" dirty="0" smtClean="0"/>
              <a:t> modell kiszámítja a prompt után következő </a:t>
            </a:r>
            <a:r>
              <a:rPr lang="hu-HU" dirty="0" err="1" smtClean="0"/>
              <a:t>tokenpozíció</a:t>
            </a:r>
            <a:r>
              <a:rPr lang="hu-HU" dirty="0" smtClean="0"/>
              <a:t> valószínűségi eloszlását.</a:t>
            </a:r>
          </a:p>
          <a:p>
            <a:r>
              <a:rPr lang="hu-HU" dirty="0" smtClean="0"/>
              <a:t>Egy külső szoftver (amely nem része a nyelvmodellnek mint olyannak) egy két lépésből álló ciklust hajt végre:</a:t>
            </a:r>
          </a:p>
          <a:p>
            <a:pPr lvl="1"/>
            <a:r>
              <a:rPr lang="hu-HU" dirty="0" smtClean="0"/>
              <a:t>Véletlen mintavétellel kiválaszt egy konkrét </a:t>
            </a:r>
            <a:r>
              <a:rPr lang="hu-HU" dirty="0" err="1" smtClean="0"/>
              <a:t>tokent</a:t>
            </a:r>
            <a:r>
              <a:rPr lang="hu-HU" dirty="0" smtClean="0"/>
              <a:t> a kimeneti valószínűségi eloszlásból, ezt tekintjük </a:t>
            </a:r>
            <a:r>
              <a:rPr lang="hu-HU" b="1" dirty="0" smtClean="0"/>
              <a:t>a </a:t>
            </a:r>
            <a:r>
              <a:rPr lang="hu-HU" b="1" dirty="0" err="1" smtClean="0"/>
              <a:t>GPT</a:t>
            </a:r>
            <a:r>
              <a:rPr lang="hu-HU" b="1" dirty="0" smtClean="0"/>
              <a:t> modell által a szöveg következő elemeként generált </a:t>
            </a:r>
            <a:r>
              <a:rPr lang="hu-HU" b="1" dirty="0" err="1" smtClean="0"/>
              <a:t>tokennek</a:t>
            </a:r>
            <a:r>
              <a:rPr lang="hu-HU" dirty="0" smtClean="0"/>
              <a:t>.</a:t>
            </a:r>
          </a:p>
          <a:p>
            <a:pPr lvl="1"/>
            <a:r>
              <a:rPr lang="hu-HU" dirty="0" smtClean="0"/>
              <a:t>Hozzáadja ezt a mintavételezett </a:t>
            </a:r>
            <a:r>
              <a:rPr lang="hu-HU" dirty="0" err="1" smtClean="0"/>
              <a:t>tokent</a:t>
            </a:r>
            <a:r>
              <a:rPr lang="hu-HU" dirty="0" smtClean="0"/>
              <a:t> az előző bemenet jobb oldalához, majd ezt az egy </a:t>
            </a:r>
            <a:r>
              <a:rPr lang="hu-HU" dirty="0" err="1" smtClean="0"/>
              <a:t>tokennel</a:t>
            </a:r>
            <a:r>
              <a:rPr lang="hu-HU" dirty="0" smtClean="0"/>
              <a:t> meghosszabbított bemenetet ismét betáplálja a </a:t>
            </a:r>
            <a:r>
              <a:rPr lang="hu-HU" dirty="0" err="1" smtClean="0"/>
              <a:t>GPT</a:t>
            </a:r>
            <a:r>
              <a:rPr lang="hu-HU" dirty="0" smtClean="0"/>
              <a:t> modellbe.</a:t>
            </a:r>
          </a:p>
          <a:p>
            <a:r>
              <a:rPr lang="hu-HU" dirty="0" smtClean="0"/>
              <a:t>A ciklus véget ér, ha</a:t>
            </a:r>
          </a:p>
          <a:p>
            <a:pPr lvl="1"/>
            <a:r>
              <a:rPr lang="hu-HU" dirty="0"/>
              <a:t>a</a:t>
            </a:r>
            <a:r>
              <a:rPr lang="hu-HU" dirty="0" smtClean="0"/>
              <a:t> </a:t>
            </a:r>
            <a:r>
              <a:rPr lang="hu-HU" dirty="0" err="1" smtClean="0"/>
              <a:t>GPT</a:t>
            </a:r>
            <a:r>
              <a:rPr lang="hu-HU" dirty="0" smtClean="0"/>
              <a:t> modell egy olyan speciális </a:t>
            </a:r>
            <a:r>
              <a:rPr lang="hu-HU" dirty="0" err="1" smtClean="0"/>
              <a:t>tokent</a:t>
            </a:r>
            <a:r>
              <a:rPr lang="hu-HU" dirty="0" smtClean="0"/>
              <a:t> generál következő elemként, amely a szekvencia végét jelzi ([</a:t>
            </a:r>
            <a:r>
              <a:rPr lang="hu-HU" dirty="0" err="1" smtClean="0"/>
              <a:t>EOS</a:t>
            </a:r>
            <a:r>
              <a:rPr lang="hu-HU" dirty="0" smtClean="0"/>
              <a:t>] vagy hasonló), amely azt jelzi a külső szoftvernek, hogy le kell állítania a ciklust, és ki kell írnia a generált szekvenciát.</a:t>
            </a:r>
          </a:p>
          <a:p>
            <a:pPr lvl="1"/>
            <a:r>
              <a:rPr lang="hu-HU" dirty="0" smtClean="0"/>
              <a:t>elértünk egy előre beállított maximális generálási hosszt, pl. 200 </a:t>
            </a:r>
            <a:r>
              <a:rPr lang="hu-HU" dirty="0" err="1" smtClean="0"/>
              <a:t>tokent</a:t>
            </a:r>
            <a:endParaRPr lang="hu-HU" dirty="0"/>
          </a:p>
          <a:p>
            <a:pPr lvl="2"/>
            <a:r>
              <a:rPr lang="hu-HU" dirty="0" smtClean="0"/>
              <a:t>ez lehet, sőt valószínű, hogy történetesen egy mondat közepére esik</a:t>
            </a:r>
          </a:p>
          <a:p>
            <a:pPr lvl="2"/>
            <a:r>
              <a:rPr lang="hu-HU" dirty="0" smtClean="0"/>
              <a:t>ez a maximális hossz lehet akár hosszabb is, mint a modell által látott kontextus maximális hossza, azaz 2048 </a:t>
            </a:r>
            <a:r>
              <a:rPr lang="hu-HU" dirty="0" err="1" smtClean="0"/>
              <a:t>token</a:t>
            </a:r>
            <a:r>
              <a:rPr lang="hu-HU" dirty="0" smtClean="0"/>
              <a:t>; ha így van, akkor a bemenet bal szélét csonkolja a külső alkalmazás (egy </a:t>
            </a:r>
            <a:r>
              <a:rPr lang="hu-HU" dirty="0" err="1" smtClean="0"/>
              <a:t>tokent</a:t>
            </a:r>
            <a:r>
              <a:rPr lang="hu-HU" dirty="0" smtClean="0"/>
              <a:t> eltávolít a kontextus elejéről) minden alkalommal, amikor egy </a:t>
            </a:r>
            <a:r>
              <a:rPr lang="hu-HU" dirty="0" err="1" smtClean="0"/>
              <a:t>tokent</a:t>
            </a:r>
            <a:r>
              <a:rPr lang="hu-HU" dirty="0" smtClean="0"/>
              <a:t> hozzáad a jobb oldalához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0576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A </a:t>
            </a:r>
            <a:r>
              <a:rPr lang="hu-HU" dirty="0" err="1" smtClean="0"/>
              <a:t>transzformerek</a:t>
            </a:r>
            <a:r>
              <a:rPr lang="hu-HU" dirty="0" smtClean="0"/>
              <a:t> állapotmentesek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GB" dirty="0" err="1" smtClean="0"/>
              <a:t>Egy</a:t>
            </a:r>
            <a:r>
              <a:rPr lang="en-GB" dirty="0" smtClean="0"/>
              <a:t> </a:t>
            </a:r>
            <a:r>
              <a:rPr lang="en-GB" dirty="0" err="1" smtClean="0"/>
              <a:t>GPT</a:t>
            </a:r>
            <a:r>
              <a:rPr lang="en-GB" dirty="0" smtClean="0"/>
              <a:t> </a:t>
            </a:r>
            <a:r>
              <a:rPr lang="en-GB" dirty="0" err="1" smtClean="0"/>
              <a:t>modellnek</a:t>
            </a:r>
            <a:r>
              <a:rPr lang="en-GB" dirty="0" smtClean="0"/>
              <a:t> </a:t>
            </a:r>
            <a:r>
              <a:rPr lang="en-GB" b="1" dirty="0" err="1" smtClean="0"/>
              <a:t>nincs</a:t>
            </a:r>
            <a:r>
              <a:rPr lang="en-GB" b="1" dirty="0" smtClean="0"/>
              <a:t> </a:t>
            </a:r>
            <a:r>
              <a:rPr lang="en-GB" b="1" dirty="0" err="1" smtClean="0"/>
              <a:t>állapota</a:t>
            </a:r>
            <a:r>
              <a:rPr lang="en-GB" b="1" dirty="0" smtClean="0"/>
              <a:t> </a:t>
            </a:r>
            <a:r>
              <a:rPr lang="en-GB" dirty="0" smtClean="0"/>
              <a:t>a </a:t>
            </a:r>
            <a:r>
              <a:rPr lang="en-GB" dirty="0" err="1" smtClean="0"/>
              <a:t>háló</a:t>
            </a:r>
            <a:r>
              <a:rPr lang="hu-HU" dirty="0" smtClean="0"/>
              <a:t> </a:t>
            </a:r>
            <a:r>
              <a:rPr lang="en-GB" dirty="0" err="1" smtClean="0"/>
              <a:t>semmilyen</a:t>
            </a:r>
            <a:r>
              <a:rPr lang="en-GB" dirty="0" smtClean="0"/>
              <a:t> </a:t>
            </a:r>
            <a:r>
              <a:rPr lang="en-GB" dirty="0" err="1" smtClean="0"/>
              <a:t>szintjén</a:t>
            </a:r>
            <a:r>
              <a:rPr lang="en-GB" dirty="0" smtClean="0"/>
              <a:t>, </a:t>
            </a:r>
            <a:r>
              <a:rPr lang="en-GB" dirty="0" err="1" smtClean="0"/>
              <a:t>azaz</a:t>
            </a:r>
            <a:r>
              <a:rPr lang="en-GB" dirty="0" smtClean="0"/>
              <a:t> </a:t>
            </a:r>
            <a:r>
              <a:rPr lang="en-GB" b="1" dirty="0" err="1" smtClean="0"/>
              <a:t>nincs</a:t>
            </a:r>
            <a:r>
              <a:rPr lang="en-GB" b="1" dirty="0" smtClean="0"/>
              <a:t> </a:t>
            </a:r>
            <a:r>
              <a:rPr lang="en-GB" b="1" dirty="0" err="1" smtClean="0"/>
              <a:t>memóriája</a:t>
            </a:r>
            <a:r>
              <a:rPr lang="en-GB" dirty="0" smtClean="0"/>
              <a:t>, </a:t>
            </a:r>
            <a:r>
              <a:rPr lang="en-GB" b="1" dirty="0" err="1" smtClean="0"/>
              <a:t>nem</a:t>
            </a:r>
            <a:r>
              <a:rPr lang="en-GB" b="1" dirty="0" smtClean="0"/>
              <a:t> </a:t>
            </a:r>
            <a:r>
              <a:rPr lang="en-GB" b="1" dirty="0" err="1" smtClean="0"/>
              <a:t>emlékszik</a:t>
            </a:r>
            <a:r>
              <a:rPr lang="en-GB" b="1" dirty="0" smtClean="0"/>
              <a:t> </a:t>
            </a:r>
            <a:r>
              <a:rPr lang="en-GB" b="1" dirty="0" err="1" smtClean="0"/>
              <a:t>semmilyen</a:t>
            </a:r>
            <a:r>
              <a:rPr lang="en-GB" b="1" dirty="0" smtClean="0"/>
              <a:t> </a:t>
            </a:r>
            <a:r>
              <a:rPr lang="en-GB" b="1" dirty="0" err="1" smtClean="0"/>
              <a:t>eseményre</a:t>
            </a:r>
            <a:r>
              <a:rPr lang="en-GB" dirty="0" smtClean="0"/>
              <a:t>:</a:t>
            </a:r>
          </a:p>
          <a:p>
            <a:pPr lvl="1"/>
            <a:r>
              <a:rPr lang="en-GB" dirty="0" err="1" smtClean="0"/>
              <a:t>sem</a:t>
            </a:r>
            <a:r>
              <a:rPr lang="en-GB" dirty="0" smtClean="0"/>
              <a:t> </a:t>
            </a:r>
            <a:r>
              <a:rPr lang="en-GB" dirty="0" err="1" smtClean="0"/>
              <a:t>azokra</a:t>
            </a:r>
            <a:r>
              <a:rPr lang="en-GB" dirty="0" smtClean="0"/>
              <a:t>, </a:t>
            </a:r>
            <a:r>
              <a:rPr lang="en-GB" dirty="0" err="1" smtClean="0"/>
              <a:t>amelyek</a:t>
            </a:r>
            <a:r>
              <a:rPr lang="en-GB" dirty="0" smtClean="0"/>
              <a:t> </a:t>
            </a:r>
            <a:r>
              <a:rPr lang="en-GB" b="1" dirty="0" smtClean="0"/>
              <a:t>a </a:t>
            </a:r>
            <a:r>
              <a:rPr lang="en-GB" b="1" dirty="0" err="1" smtClean="0"/>
              <a:t>tanítása</a:t>
            </a:r>
            <a:r>
              <a:rPr lang="en-GB" b="1" dirty="0" smtClean="0"/>
              <a:t> </a:t>
            </a:r>
            <a:r>
              <a:rPr lang="en-GB" b="1" dirty="0" err="1" smtClean="0"/>
              <a:t>során</a:t>
            </a:r>
            <a:r>
              <a:rPr lang="en-GB" b="1" dirty="0" smtClean="0"/>
              <a:t> </a:t>
            </a:r>
            <a:r>
              <a:rPr lang="en-GB" dirty="0" err="1" smtClean="0"/>
              <a:t>történtek</a:t>
            </a:r>
            <a:r>
              <a:rPr lang="hu-HU" dirty="0" smtClean="0"/>
              <a:t>,</a:t>
            </a:r>
          </a:p>
          <a:p>
            <a:pPr lvl="1"/>
            <a:r>
              <a:rPr lang="en-GB" dirty="0" err="1" smtClean="0"/>
              <a:t>sem</a:t>
            </a:r>
            <a:r>
              <a:rPr lang="en-GB" dirty="0" smtClean="0"/>
              <a:t> </a:t>
            </a:r>
            <a:r>
              <a:rPr lang="en-GB" dirty="0" err="1" smtClean="0"/>
              <a:t>azokra</a:t>
            </a:r>
            <a:r>
              <a:rPr lang="en-GB" dirty="0" smtClean="0"/>
              <a:t> a </a:t>
            </a:r>
            <a:r>
              <a:rPr lang="en-GB" dirty="0" err="1" smtClean="0"/>
              <a:t>bemenetekre</a:t>
            </a:r>
            <a:r>
              <a:rPr lang="en-GB" dirty="0" smtClean="0"/>
              <a:t>, </a:t>
            </a:r>
            <a:r>
              <a:rPr lang="en-GB" dirty="0" err="1" smtClean="0"/>
              <a:t>amelyeket</a:t>
            </a:r>
            <a:r>
              <a:rPr lang="en-GB" dirty="0" smtClean="0"/>
              <a:t> a </a:t>
            </a:r>
            <a:r>
              <a:rPr lang="en-GB" b="1" dirty="0" err="1" smtClean="0"/>
              <a:t>tanítása</a:t>
            </a:r>
            <a:r>
              <a:rPr lang="en-GB" b="1" dirty="0" smtClean="0"/>
              <a:t> </a:t>
            </a:r>
            <a:r>
              <a:rPr lang="en-GB" b="1" dirty="0" err="1" smtClean="0"/>
              <a:t>óta</a:t>
            </a:r>
            <a:r>
              <a:rPr lang="en-GB" b="1" dirty="0" smtClean="0"/>
              <a:t> </a:t>
            </a:r>
            <a:r>
              <a:rPr lang="en-GB" dirty="0" err="1" smtClean="0"/>
              <a:t>kapott</a:t>
            </a:r>
            <a:r>
              <a:rPr lang="hu-HU" dirty="0" smtClean="0"/>
              <a:t>,</a:t>
            </a:r>
          </a:p>
          <a:p>
            <a:pPr lvl="1"/>
            <a:r>
              <a:rPr lang="pt-BR" dirty="0" smtClean="0"/>
              <a:t>sem arra, amit </a:t>
            </a:r>
            <a:r>
              <a:rPr lang="pt-BR" b="1" dirty="0" smtClean="0"/>
              <a:t>eddig generált</a:t>
            </a:r>
            <a:r>
              <a:rPr lang="hu-HU" dirty="0" smtClean="0"/>
              <a:t>.</a:t>
            </a:r>
          </a:p>
          <a:p>
            <a:r>
              <a:rPr lang="hu-HU" dirty="0" smtClean="0"/>
              <a:t>A modell súlyai (paraméterei) egyfajta közelítését tárolják azoknak a szövegeknek, amelyeken a modellt betanították.</a:t>
            </a:r>
          </a:p>
          <a:p>
            <a:r>
              <a:rPr lang="hu-HU" dirty="0" smtClean="0"/>
              <a:t>Azonban ezek a súlyok csak a </a:t>
            </a:r>
            <a:r>
              <a:rPr lang="hu-HU" dirty="0" err="1" smtClean="0"/>
              <a:t>tokenek</a:t>
            </a:r>
            <a:r>
              <a:rPr lang="hu-HU" dirty="0" smtClean="0"/>
              <a:t> egymás utáni </a:t>
            </a:r>
            <a:r>
              <a:rPr lang="hu-HU" b="1" dirty="0" smtClean="0"/>
              <a:t>feltételes valószínűségeinek </a:t>
            </a:r>
            <a:r>
              <a:rPr lang="hu-HU" dirty="0" smtClean="0"/>
              <a:t>felelnek meg.</a:t>
            </a:r>
          </a:p>
          <a:p>
            <a:r>
              <a:rPr lang="hu-HU" dirty="0" smtClean="0"/>
              <a:t>A </a:t>
            </a:r>
            <a:r>
              <a:rPr lang="hu-HU" dirty="0" err="1" smtClean="0"/>
              <a:t>transzformer</a:t>
            </a:r>
            <a:r>
              <a:rPr lang="hu-HU" dirty="0" smtClean="0"/>
              <a:t> </a:t>
            </a:r>
            <a:r>
              <a:rPr lang="hu-HU" b="1" dirty="0" smtClean="0"/>
              <a:t>soha nem tárolja azt a konkrét szekvenciát </a:t>
            </a:r>
            <a:r>
              <a:rPr lang="hu-HU" dirty="0" smtClean="0"/>
              <a:t>(szöveget), amelyen tanították.</a:t>
            </a:r>
          </a:p>
          <a:p>
            <a:r>
              <a:rPr lang="hu-HU" dirty="0" smtClean="0"/>
              <a:t>A tanítókorpusz minden egyes </a:t>
            </a:r>
            <a:r>
              <a:rPr lang="hu-HU" dirty="0" err="1" smtClean="0"/>
              <a:t>tokenjének</a:t>
            </a:r>
            <a:r>
              <a:rPr lang="hu-HU" dirty="0" smtClean="0"/>
              <a:t> feldolgozása a modell súlyainak </a:t>
            </a:r>
            <a:r>
              <a:rPr lang="hu-HU" b="1" dirty="0" smtClean="0"/>
              <a:t>apró mértékű </a:t>
            </a:r>
            <a:r>
              <a:rPr lang="hu-HU" dirty="0" smtClean="0"/>
              <a:t>eltolódását váltja ki oly módon, hogy a modell ennek a következő </a:t>
            </a:r>
            <a:r>
              <a:rPr lang="hu-HU" dirty="0" err="1" smtClean="0"/>
              <a:t>tokennek</a:t>
            </a:r>
            <a:r>
              <a:rPr lang="hu-HU" dirty="0" smtClean="0"/>
              <a:t> egy kicsivel nagyobb valószínűséget tulajdonítana legközelebb, ha ugyanazt a bemeneti kontextust adnánk át neki.</a:t>
            </a:r>
          </a:p>
          <a:p>
            <a:r>
              <a:rPr lang="hu-HU" dirty="0" smtClean="0"/>
              <a:t>Ezért gyakorlatilag lehetetlen, hogy egy </a:t>
            </a:r>
            <a:r>
              <a:rPr lang="hu-HU" dirty="0" err="1" smtClean="0"/>
              <a:t>GPT</a:t>
            </a:r>
            <a:r>
              <a:rPr lang="hu-HU" dirty="0" smtClean="0"/>
              <a:t> jellegű modell szóról szóra ugyanazt a szöveget állítsa elő, amelyen tanították.</a:t>
            </a:r>
          </a:p>
          <a:p>
            <a:pPr lvl="1"/>
            <a:r>
              <a:rPr lang="hu-HU" dirty="0" smtClean="0"/>
              <a:t>Kivéve, ha ez a szöveg sokszor előfordult a tanítókorpuszban, pl. közmondások, híres idézetek.</a:t>
            </a:r>
          </a:p>
          <a:p>
            <a:r>
              <a:rPr lang="en-GB" dirty="0" smtClean="0"/>
              <a:t>A </a:t>
            </a:r>
            <a:r>
              <a:rPr lang="en-GB" dirty="0" err="1" smtClean="0"/>
              <a:t>betanítás</a:t>
            </a:r>
            <a:r>
              <a:rPr lang="en-GB" dirty="0" smtClean="0"/>
              <a:t> </a:t>
            </a:r>
            <a:r>
              <a:rPr lang="en-GB" dirty="0" err="1" smtClean="0"/>
              <a:t>befejezése</a:t>
            </a:r>
            <a:r>
              <a:rPr lang="en-GB" dirty="0" smtClean="0"/>
              <a:t> </a:t>
            </a:r>
            <a:r>
              <a:rPr lang="en-GB" dirty="0" err="1" smtClean="0"/>
              <a:t>után</a:t>
            </a:r>
            <a:r>
              <a:rPr lang="en-GB" dirty="0" smtClean="0"/>
              <a:t> a </a:t>
            </a:r>
            <a:r>
              <a:rPr lang="en-GB" dirty="0" err="1" smtClean="0"/>
              <a:t>transzformátor</a:t>
            </a:r>
            <a:r>
              <a:rPr lang="en-GB" dirty="0" smtClean="0"/>
              <a:t> </a:t>
            </a:r>
            <a:r>
              <a:rPr lang="en-GB" dirty="0" err="1" smtClean="0"/>
              <a:t>súlyai</a:t>
            </a:r>
            <a:r>
              <a:rPr lang="en-GB" dirty="0" smtClean="0"/>
              <a:t> </a:t>
            </a:r>
            <a:r>
              <a:rPr lang="en-GB" b="1" dirty="0" err="1" smtClean="0"/>
              <a:t>soha</a:t>
            </a:r>
            <a:r>
              <a:rPr lang="en-GB" b="1" dirty="0" smtClean="0"/>
              <a:t> </a:t>
            </a:r>
            <a:r>
              <a:rPr lang="en-GB" b="1" dirty="0" err="1" smtClean="0"/>
              <a:t>nem</a:t>
            </a:r>
            <a:r>
              <a:rPr lang="en-GB" b="1" dirty="0" smtClean="0"/>
              <a:t> </a:t>
            </a:r>
            <a:r>
              <a:rPr lang="en-GB" b="1" dirty="0" err="1" smtClean="0"/>
              <a:t>változnak</a:t>
            </a:r>
            <a:r>
              <a:rPr lang="en-GB" dirty="0" smtClean="0"/>
              <a:t>.</a:t>
            </a:r>
          </a:p>
          <a:p>
            <a:r>
              <a:rPr lang="hu-HU" dirty="0" smtClean="0"/>
              <a:t>Kizárólag úgy tudjuk azt az </a:t>
            </a:r>
            <a:r>
              <a:rPr lang="hu-HU" b="1" dirty="0" smtClean="0"/>
              <a:t>illúziót </a:t>
            </a:r>
            <a:r>
              <a:rPr lang="hu-HU" dirty="0" smtClean="0"/>
              <a:t>kelteni, hogy a </a:t>
            </a:r>
            <a:r>
              <a:rPr lang="hu-HU" dirty="0" err="1" smtClean="0"/>
              <a:t>GPT</a:t>
            </a:r>
            <a:r>
              <a:rPr lang="hu-HU" dirty="0" smtClean="0"/>
              <a:t> modell emlékszik valamire, az, ha a (jelenlegi) </a:t>
            </a:r>
            <a:r>
              <a:rPr lang="hu-HU" b="1" dirty="0" smtClean="0"/>
              <a:t>csevegés teljes előzményét bemenetként átadjuk </a:t>
            </a:r>
            <a:r>
              <a:rPr lang="hu-HU" dirty="0" smtClean="0"/>
              <a:t>a </a:t>
            </a:r>
            <a:r>
              <a:rPr lang="hu-HU" dirty="0" err="1" smtClean="0"/>
              <a:t>GPT</a:t>
            </a:r>
            <a:r>
              <a:rPr lang="hu-HU" dirty="0" smtClean="0"/>
              <a:t> modellnek.</a:t>
            </a:r>
          </a:p>
          <a:p>
            <a:pPr lvl="1"/>
            <a:r>
              <a:rPr lang="hu-HU" dirty="0" smtClean="0"/>
              <a:t>Tehát egy többfordulós beszélgetés során a </a:t>
            </a:r>
            <a:r>
              <a:rPr lang="hu-HU" dirty="0" err="1" smtClean="0"/>
              <a:t>GPT</a:t>
            </a:r>
            <a:r>
              <a:rPr lang="hu-HU" dirty="0" smtClean="0"/>
              <a:t> modell nem a legutóbbi hozzászólásunkra reagál, hanem minden újabb </a:t>
            </a:r>
            <a:r>
              <a:rPr lang="hu-HU" dirty="0" err="1" smtClean="0"/>
              <a:t>token</a:t>
            </a:r>
            <a:r>
              <a:rPr lang="hu-HU" dirty="0" smtClean="0"/>
              <a:t> generálásakor „újraolvassa” az elejétől kezdve a teljes beszélgetést, és az egészet folytatja.</a:t>
            </a:r>
          </a:p>
        </p:txBody>
      </p:sp>
    </p:spTree>
    <p:extLst>
      <p:ext uri="{BB962C8B-B14F-4D97-AF65-F5344CB8AC3E}">
        <p14:creationId xmlns:p14="http://schemas.microsoft.com/office/powerpoint/2010/main" val="3344356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A </a:t>
            </a:r>
            <a:r>
              <a:rPr lang="hu-HU" dirty="0" err="1" smtClean="0"/>
              <a:t>transzformerek</a:t>
            </a:r>
            <a:r>
              <a:rPr lang="hu-HU" dirty="0" smtClean="0"/>
              <a:t> állapotmentesek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47500" lnSpcReduction="20000"/>
          </a:bodyPr>
          <a:lstStyle/>
          <a:p>
            <a:r>
              <a:rPr lang="hu-HU" dirty="0" smtClean="0"/>
              <a:t>Ebből következik, hogy </a:t>
            </a:r>
            <a:r>
              <a:rPr lang="hu-HU" b="1" dirty="0" smtClean="0"/>
              <a:t>semmi értelme </a:t>
            </a:r>
            <a:r>
              <a:rPr lang="hu-HU" dirty="0" smtClean="0"/>
              <a:t>az alábbiak bármelyikének:</a:t>
            </a:r>
          </a:p>
          <a:p>
            <a:pPr lvl="1"/>
            <a:r>
              <a:rPr lang="hu-HU" dirty="0" smtClean="0"/>
              <a:t>megkérdezni egy </a:t>
            </a:r>
            <a:r>
              <a:rPr lang="hu-HU" dirty="0" err="1" smtClean="0"/>
              <a:t>GPT</a:t>
            </a:r>
            <a:r>
              <a:rPr lang="hu-HU" dirty="0" smtClean="0"/>
              <a:t> modellt, hogy valamit (pl. egy iskolai dolgozatot) ő írt-e</a:t>
            </a:r>
          </a:p>
          <a:p>
            <a:pPr lvl="1"/>
            <a:r>
              <a:rPr lang="hu-HU" dirty="0" smtClean="0"/>
              <a:t>hogy miről beszélgetett egy barátunkkal, ő mit mondott rólunk stb.</a:t>
            </a:r>
          </a:p>
          <a:p>
            <a:r>
              <a:rPr lang="hu-HU" dirty="0" smtClean="0"/>
              <a:t>Mivel egy </a:t>
            </a:r>
            <a:r>
              <a:rPr lang="hu-HU" dirty="0" err="1" smtClean="0"/>
              <a:t>GPT</a:t>
            </a:r>
            <a:r>
              <a:rPr lang="hu-HU" dirty="0" smtClean="0"/>
              <a:t> modell csak a bemeneti kontextushoz fér hozzá, ami rendkívül korlátozott, ezeket a feladatokat csak akkor tudná végrehajtani, ha a fejlesztők külső alkalmazásokat adnának hozzá, amelyek segítségével a modell más csevegési előzményekben kereshetne információt.</a:t>
            </a:r>
          </a:p>
          <a:p>
            <a:pPr lvl="1"/>
            <a:r>
              <a:rPr lang="hu-HU" dirty="0"/>
              <a:t>E</a:t>
            </a:r>
            <a:r>
              <a:rPr lang="en-GB" dirty="0" err="1" smtClean="0"/>
              <a:t>lméletileg</a:t>
            </a:r>
            <a:r>
              <a:rPr lang="en-GB" dirty="0" smtClean="0"/>
              <a:t> </a:t>
            </a:r>
            <a:r>
              <a:rPr lang="en-GB" dirty="0" err="1" smtClean="0"/>
              <a:t>lehetséges</a:t>
            </a:r>
            <a:r>
              <a:rPr lang="en-GB" dirty="0" smtClean="0"/>
              <a:t> </a:t>
            </a:r>
            <a:r>
              <a:rPr lang="en-GB" dirty="0" err="1" smtClean="0"/>
              <a:t>lenne</a:t>
            </a:r>
            <a:r>
              <a:rPr lang="en-GB" dirty="0" smtClean="0"/>
              <a:t>, de a </a:t>
            </a:r>
            <a:r>
              <a:rPr lang="en-GB" dirty="0" err="1" smtClean="0"/>
              <a:t>gyakorlatban</a:t>
            </a:r>
            <a:r>
              <a:rPr lang="en-GB" dirty="0" smtClean="0"/>
              <a:t> </a:t>
            </a:r>
            <a:r>
              <a:rPr lang="en-GB" dirty="0" err="1" smtClean="0"/>
              <a:t>nyilvánvaló</a:t>
            </a:r>
            <a:r>
              <a:rPr lang="en-GB" dirty="0" smtClean="0"/>
              <a:t> </a:t>
            </a:r>
            <a:r>
              <a:rPr lang="en-GB" dirty="0" err="1" smtClean="0"/>
              <a:t>okokból</a:t>
            </a:r>
            <a:r>
              <a:rPr lang="en-GB" dirty="0" smtClean="0"/>
              <a:t> (</a:t>
            </a:r>
            <a:r>
              <a:rPr lang="en-GB" dirty="0" err="1" smtClean="0"/>
              <a:t>adatvédelem</a:t>
            </a:r>
            <a:r>
              <a:rPr lang="en-GB" dirty="0" smtClean="0"/>
              <a:t> </a:t>
            </a:r>
            <a:r>
              <a:rPr lang="en-GB" dirty="0" err="1" smtClean="0"/>
              <a:t>stb</a:t>
            </a:r>
            <a:r>
              <a:rPr lang="en-GB" dirty="0" smtClean="0"/>
              <a:t>.) </a:t>
            </a:r>
            <a:r>
              <a:rPr lang="hu-HU" dirty="0" smtClean="0"/>
              <a:t>soha nincs így implementálva</a:t>
            </a:r>
            <a:r>
              <a:rPr lang="en-GB" dirty="0" smtClean="0"/>
              <a:t>.</a:t>
            </a:r>
          </a:p>
          <a:p>
            <a:r>
              <a:rPr lang="hu-HU" dirty="0" smtClean="0"/>
              <a:t>Mindazonáltal a </a:t>
            </a:r>
            <a:r>
              <a:rPr lang="hu-HU" dirty="0" err="1" smtClean="0"/>
              <a:t>GPT</a:t>
            </a:r>
            <a:r>
              <a:rPr lang="hu-HU" dirty="0" smtClean="0"/>
              <a:t> modell készséggel </a:t>
            </a:r>
            <a:r>
              <a:rPr lang="hu-HU" b="1" dirty="0" smtClean="0"/>
              <a:t>generál egy ésszerű folytatást egy ilyen bemenetre is</a:t>
            </a:r>
            <a:r>
              <a:rPr lang="hu-HU" dirty="0" smtClean="0"/>
              <a:t>, ami viszont lehet akár </a:t>
            </a:r>
            <a:r>
              <a:rPr lang="hu-HU" i="1" dirty="0" smtClean="0"/>
              <a:t>Nem tudom., </a:t>
            </a:r>
            <a:r>
              <a:rPr lang="hu-HU" dirty="0" smtClean="0"/>
              <a:t>akár </a:t>
            </a:r>
            <a:r>
              <a:rPr lang="hu-HU" i="1" dirty="0" smtClean="0"/>
              <a:t>Igen. / Nem.</a:t>
            </a:r>
          </a:p>
          <a:p>
            <a:pPr lvl="1"/>
            <a:r>
              <a:rPr lang="hu-HU" dirty="0" smtClean="0"/>
              <a:t>Könnyen lehet, hogy a modell „hazudik”, tehát a kérdésre generált folytatásban („válaszban”) azt sugallja, hogy magabiztosan válaszolni képes a kérdésre.</a:t>
            </a:r>
          </a:p>
          <a:p>
            <a:pPr lvl="1"/>
            <a:r>
              <a:rPr lang="hu-HU" dirty="0" smtClean="0"/>
              <a:t>A modell egyszerűen mindig azt próbálja meg kitalálni, mi lenne a bemenet legvalószínűbb folytatása, ha a bemenet a betanítási korpuszának része lenne, tehát hogy mit mondana vagy írna hasonló szövegkörnyezetben egy ember.</a:t>
            </a:r>
          </a:p>
          <a:p>
            <a:r>
              <a:rPr lang="hu-HU" dirty="0" smtClean="0"/>
              <a:t>Bár egy </a:t>
            </a:r>
            <a:r>
              <a:rPr lang="hu-HU" dirty="0" err="1" smtClean="0"/>
              <a:t>GPT</a:t>
            </a:r>
            <a:r>
              <a:rPr lang="hu-HU" dirty="0" smtClean="0"/>
              <a:t> modell soha nem fog emlékezni a csevegésekre, a fejlesztők továbbtaníthatják a csevegési előzmények alapján.</a:t>
            </a:r>
          </a:p>
          <a:p>
            <a:pPr lvl="1"/>
            <a:r>
              <a:rPr lang="hu-HU" dirty="0" smtClean="0"/>
              <a:t>Ettől a modell továbbra sem emlékezne arra, hogy miről beszélt velünk, csak finoman eltolná a </a:t>
            </a:r>
            <a:r>
              <a:rPr lang="hu-HU" dirty="0" err="1" smtClean="0"/>
              <a:t>token</a:t>
            </a:r>
            <a:r>
              <a:rPr lang="hu-HU" dirty="0" err="1"/>
              <a:t>-</a:t>
            </a:r>
            <a:r>
              <a:rPr lang="hu-HU" dirty="0" err="1" smtClean="0"/>
              <a:t>valószínűségeket</a:t>
            </a:r>
            <a:r>
              <a:rPr lang="hu-HU" dirty="0" smtClean="0"/>
              <a:t> abba az irányba, ahogy mi beszéltünk a modellel.</a:t>
            </a:r>
          </a:p>
          <a:p>
            <a:r>
              <a:rPr lang="hu-HU" dirty="0" smtClean="0"/>
              <a:t>Ugyanakkor a </a:t>
            </a:r>
            <a:r>
              <a:rPr lang="hu-HU" dirty="0" err="1" smtClean="0"/>
              <a:t>ChatGPT</a:t>
            </a:r>
            <a:r>
              <a:rPr lang="hu-HU" dirty="0" smtClean="0"/>
              <a:t> és más modellek fejlesztői, fenntartói pontosan naplózzák a beszélgetéseket.</a:t>
            </a:r>
          </a:p>
          <a:p>
            <a:pPr lvl="1"/>
            <a:r>
              <a:rPr lang="hu-HU" dirty="0" smtClean="0"/>
              <a:t>Ez a napló egy teljes szövegű másolata mindennek, amit írtunk, és amit a modell generált, semmilyen értelemben nem része a nyelvmodellnek.</a:t>
            </a:r>
          </a:p>
          <a:p>
            <a:pPr lvl="1"/>
            <a:r>
              <a:rPr lang="hu-HU" dirty="0" smtClean="0"/>
              <a:t>Ezért nagyon nem jó ötlet bizalmas, érzékeny, magánjellegű információkat beírni </a:t>
            </a:r>
            <a:r>
              <a:rPr lang="hu-HU" dirty="0" err="1" smtClean="0"/>
              <a:t>MI-chatbottal</a:t>
            </a:r>
            <a:r>
              <a:rPr lang="hu-HU" dirty="0" smtClean="0"/>
              <a:t> folytatott beszélgetésekbe, pl. jelszavakat, titkos céges adatokat. A modell nem látja ezeket, de a fejlesztők és karbantartók bármikor elolvashatják.</a:t>
            </a:r>
          </a:p>
        </p:txBody>
      </p:sp>
    </p:spTree>
    <p:extLst>
      <p:ext uri="{BB962C8B-B14F-4D97-AF65-F5344CB8AC3E}">
        <p14:creationId xmlns:p14="http://schemas.microsoft.com/office/powerpoint/2010/main" val="3925046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000" dirty="0" smtClean="0"/>
              <a:t>Mintavétel a valószínűségi eloszlásból</a:t>
            </a:r>
            <a:endParaRPr lang="en-GB" sz="40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hu-HU" dirty="0" smtClean="0"/>
              <a:t>Amikor a következő </a:t>
            </a:r>
            <a:r>
              <a:rPr lang="hu-HU" dirty="0" err="1" smtClean="0"/>
              <a:t>tokent</a:t>
            </a:r>
            <a:r>
              <a:rPr lang="hu-HU" dirty="0" smtClean="0"/>
              <a:t> generáljuk egy generatív nyelvmodell segítségével, egy külső alkalmazás (nem maga a nyelvmodell) generál egy véletlen valós (lebegőpontos) </a:t>
            </a:r>
            <a:r>
              <a:rPr lang="hu-HU" i="1" dirty="0" smtClean="0"/>
              <a:t>r </a:t>
            </a:r>
            <a:r>
              <a:rPr lang="hu-HU" dirty="0" smtClean="0"/>
              <a:t>számot a 0 ≤ </a:t>
            </a:r>
            <a:r>
              <a:rPr lang="hu-HU" i="1" dirty="0" smtClean="0">
                <a:effectLst/>
              </a:rPr>
              <a:t>r </a:t>
            </a:r>
            <a:r>
              <a:rPr lang="hu-HU" dirty="0" smtClean="0"/>
              <a:t>≤ 1 tartományban, és ezt használja egy konkrét érték mintavételezésére a modell által </a:t>
            </a:r>
            <a:r>
              <a:rPr lang="hu-HU" dirty="0" err="1" smtClean="0"/>
              <a:t>prediktált</a:t>
            </a:r>
            <a:r>
              <a:rPr lang="hu-HU" dirty="0" smtClean="0"/>
              <a:t> valószínűségi eloszlásból.</a:t>
            </a:r>
          </a:p>
          <a:p>
            <a:r>
              <a:rPr lang="hu-HU" dirty="0" smtClean="0"/>
              <a:t>Naiv implementáció:</a:t>
            </a:r>
          </a:p>
          <a:p>
            <a:pPr lvl="1"/>
            <a:r>
              <a:rPr lang="en-GB" dirty="0" err="1" smtClean="0"/>
              <a:t>Kiszámolj</a:t>
            </a:r>
            <a:r>
              <a:rPr lang="hu-HU" dirty="0"/>
              <a:t>a</a:t>
            </a:r>
            <a:r>
              <a:rPr lang="en-GB" dirty="0" smtClean="0"/>
              <a:t> </a:t>
            </a:r>
            <a:r>
              <a:rPr lang="hu-HU" dirty="0" err="1" smtClean="0"/>
              <a:t>valószínűségieloszlás-</a:t>
            </a:r>
            <a:r>
              <a:rPr lang="en-GB" dirty="0" err="1" smtClean="0"/>
              <a:t>vektor</a:t>
            </a:r>
            <a:r>
              <a:rPr lang="en-GB" dirty="0" smtClean="0"/>
              <a:t> </a:t>
            </a:r>
            <a:r>
              <a:rPr lang="en-GB" dirty="0" smtClean="0">
                <a:effectLst/>
              </a:rPr>
              <a:t>C </a:t>
            </a:r>
            <a:r>
              <a:rPr lang="en-GB" dirty="0" err="1" smtClean="0"/>
              <a:t>kumulatív</a:t>
            </a:r>
            <a:r>
              <a:rPr lang="en-GB" dirty="0" smtClean="0"/>
              <a:t> </a:t>
            </a:r>
            <a:r>
              <a:rPr lang="en-GB" dirty="0" err="1" smtClean="0"/>
              <a:t>összegvektorát</a:t>
            </a:r>
            <a:r>
              <a:rPr lang="en-GB" dirty="0" smtClean="0"/>
              <a:t> (</a:t>
            </a:r>
            <a:r>
              <a:rPr lang="hu-HU" dirty="0" smtClean="0"/>
              <a:t>ez </a:t>
            </a:r>
            <a:r>
              <a:rPr lang="en-GB" i="1" dirty="0" smtClean="0"/>
              <a:t>V </a:t>
            </a:r>
            <a:r>
              <a:rPr lang="en-GB" dirty="0" err="1" smtClean="0"/>
              <a:t>dimenziós</a:t>
            </a:r>
            <a:r>
              <a:rPr lang="en-GB" dirty="0" smtClean="0"/>
              <a:t> </a:t>
            </a:r>
            <a:r>
              <a:rPr lang="en-GB" dirty="0" err="1" smtClean="0"/>
              <a:t>lesz</a:t>
            </a:r>
            <a:r>
              <a:rPr lang="hu-HU" dirty="0" smtClean="0"/>
              <a:t> ugyanúgy</a:t>
            </a:r>
            <a:r>
              <a:rPr lang="en-GB" dirty="0" smtClean="0"/>
              <a:t>, mint </a:t>
            </a:r>
            <a:r>
              <a:rPr lang="hu-HU" dirty="0" smtClean="0"/>
              <a:t>maga az eloszlás</a:t>
            </a:r>
            <a:r>
              <a:rPr lang="en-GB" dirty="0" err="1" smtClean="0"/>
              <a:t>vektor</a:t>
            </a:r>
            <a:r>
              <a:rPr lang="en-GB" dirty="0" smtClean="0"/>
              <a:t>).</a:t>
            </a:r>
            <a:endParaRPr lang="hu-HU" dirty="0" smtClean="0"/>
          </a:p>
          <a:p>
            <a:pPr lvl="1"/>
            <a:r>
              <a:rPr lang="hu-HU" dirty="0" smtClean="0"/>
              <a:t>Megkeresi azt az i indexű elemet, amelyre teljesül </a:t>
            </a:r>
            <a:br>
              <a:rPr lang="hu-HU" dirty="0" smtClean="0"/>
            </a:br>
            <a:r>
              <a:rPr lang="hu-HU" i="1" dirty="0" err="1" smtClean="0"/>
              <a:t>C</a:t>
            </a:r>
            <a:r>
              <a:rPr lang="hu-HU" i="1" baseline="-25000" dirty="0" err="1" smtClean="0"/>
              <a:t>i</a:t>
            </a:r>
            <a:r>
              <a:rPr lang="hu-HU" i="1" dirty="0" smtClean="0"/>
              <a:t> </a:t>
            </a:r>
            <a:r>
              <a:rPr lang="hu-HU" dirty="0" smtClean="0"/>
              <a:t>≤ </a:t>
            </a:r>
            <a:r>
              <a:rPr lang="hu-HU" i="1" dirty="0" smtClean="0"/>
              <a:t>r</a:t>
            </a:r>
            <a:r>
              <a:rPr lang="hu-HU" dirty="0" smtClean="0"/>
              <a:t> ≤ </a:t>
            </a:r>
            <a:r>
              <a:rPr lang="hu-HU" i="1" dirty="0" err="1" smtClean="0"/>
              <a:t>C</a:t>
            </a:r>
            <a:r>
              <a:rPr lang="hu-HU" i="1" baseline="-25000" dirty="0" err="1" smtClean="0"/>
              <a:t>i</a:t>
            </a:r>
            <a:r>
              <a:rPr lang="hu-HU" i="1" baseline="-25000" dirty="0" smtClean="0"/>
              <a:t>+1</a:t>
            </a:r>
          </a:p>
          <a:p>
            <a:pPr lvl="1"/>
            <a:r>
              <a:rPr lang="hu-HU" dirty="0" smtClean="0"/>
              <a:t>Kimenetként adja a </a:t>
            </a:r>
            <a:r>
              <a:rPr lang="hu-HU" dirty="0" smtClean="0">
                <a:effectLst/>
              </a:rPr>
              <a:t>T</a:t>
            </a:r>
            <a:r>
              <a:rPr lang="hu-HU" dirty="0" smtClean="0"/>
              <a:t> </a:t>
            </a:r>
            <a:r>
              <a:rPr lang="hu-HU" dirty="0" err="1" smtClean="0"/>
              <a:t>tokenszótár</a:t>
            </a:r>
            <a:r>
              <a:rPr lang="hu-HU" dirty="0" smtClean="0"/>
              <a:t> megfelelő </a:t>
            </a:r>
            <a:r>
              <a:rPr lang="hu-HU" dirty="0" smtClean="0">
                <a:effectLst/>
              </a:rPr>
              <a:t>Ti</a:t>
            </a:r>
            <a:r>
              <a:rPr lang="hu-HU" dirty="0" smtClean="0"/>
              <a:t>​ elemét adja</a:t>
            </a:r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2053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Mintavételezési</a:t>
            </a:r>
            <a:r>
              <a:rPr lang="en-GB" dirty="0" smtClean="0"/>
              <a:t> </a:t>
            </a:r>
            <a:r>
              <a:rPr lang="en-GB" dirty="0" err="1" smtClean="0"/>
              <a:t>paraméterek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hu-HU" dirty="0" smtClean="0"/>
              <a:t>A valóságban a generátor mintavételező komponense általában több paraméterrel rendelkezik, amelyek lehetővé teszik a generatív nyelvi modell felhasználója számára, hogy „csaljon”, azaz befolyásolja, hogy milyen elemet válasszon ki a mintavétel a </a:t>
            </a:r>
            <a:r>
              <a:rPr lang="hu-HU" dirty="0" err="1" smtClean="0"/>
              <a:t>prediktált</a:t>
            </a:r>
            <a:r>
              <a:rPr lang="hu-HU" dirty="0" smtClean="0"/>
              <a:t> eloszlásból:</a:t>
            </a:r>
          </a:p>
          <a:p>
            <a:pPr lvl="1"/>
            <a:r>
              <a:rPr lang="hu-HU" b="1" dirty="0" err="1" smtClean="0"/>
              <a:t>top-p</a:t>
            </a:r>
            <a:r>
              <a:rPr lang="hu-HU" dirty="0" smtClean="0"/>
              <a:t>: értéke 0 ≤ </a:t>
            </a:r>
            <a:r>
              <a:rPr lang="hu-HU" i="1" dirty="0" smtClean="0"/>
              <a:t>p </a:t>
            </a:r>
            <a:r>
              <a:rPr lang="hu-HU" dirty="0" smtClean="0"/>
              <a:t>≤ 1 lehet</a:t>
            </a:r>
          </a:p>
          <a:p>
            <a:pPr lvl="2"/>
            <a:r>
              <a:rPr lang="hu-HU" dirty="0" smtClean="0"/>
              <a:t>A lehetséges következő </a:t>
            </a:r>
            <a:r>
              <a:rPr lang="hu-HU" dirty="0" err="1" smtClean="0"/>
              <a:t>tokeneket</a:t>
            </a:r>
            <a:r>
              <a:rPr lang="hu-HU" dirty="0" smtClean="0"/>
              <a:t> a jósolt valószínűségük szerint csökkenő sorrendbe rendezzük, kiszámítjuk </a:t>
            </a:r>
            <a:r>
              <a:rPr lang="hu-HU" i="1" dirty="0" smtClean="0">
                <a:effectLst/>
              </a:rPr>
              <a:t>C </a:t>
            </a:r>
            <a:r>
              <a:rPr lang="hu-HU" dirty="0" smtClean="0"/>
              <a:t>kumulatív összegüket.</a:t>
            </a:r>
          </a:p>
          <a:p>
            <a:pPr lvl="2"/>
            <a:r>
              <a:rPr lang="hu-HU" dirty="0" smtClean="0"/>
              <a:t>kiválasztjuk e rendezett lista első </a:t>
            </a:r>
            <a:r>
              <a:rPr lang="hu-HU" i="1" dirty="0" smtClean="0"/>
              <a:t>j </a:t>
            </a:r>
            <a:r>
              <a:rPr lang="hu-HU" dirty="0" smtClean="0"/>
              <a:t>darab </a:t>
            </a:r>
            <a:r>
              <a:rPr lang="hu-HU" dirty="0" err="1" smtClean="0"/>
              <a:t>tokenjét</a:t>
            </a:r>
            <a:r>
              <a:rPr lang="hu-HU" dirty="0" smtClean="0"/>
              <a:t> </a:t>
            </a:r>
            <a:r>
              <a:rPr lang="hu-HU" i="1" dirty="0" smtClean="0"/>
              <a:t>T</a:t>
            </a:r>
            <a:r>
              <a:rPr lang="hu-HU" i="1" baseline="-25000" dirty="0" smtClean="0"/>
              <a:t>1</a:t>
            </a:r>
            <a:r>
              <a:rPr lang="hu-HU" i="1" dirty="0" smtClean="0"/>
              <a:t> </a:t>
            </a:r>
            <a:r>
              <a:rPr lang="hu-HU" dirty="0" smtClean="0"/>
              <a:t>... </a:t>
            </a:r>
            <a:r>
              <a:rPr lang="hu-HU" i="1" dirty="0" err="1" smtClean="0"/>
              <a:t>T</a:t>
            </a:r>
            <a:r>
              <a:rPr lang="hu-HU" i="1" baseline="-25000" dirty="0" err="1" smtClean="0"/>
              <a:t>j</a:t>
            </a:r>
            <a:r>
              <a:rPr lang="hu-HU" i="1" dirty="0" smtClean="0"/>
              <a:t> </a:t>
            </a:r>
            <a:r>
              <a:rPr lang="hu-HU" dirty="0" smtClean="0"/>
              <a:t>úgy, hogy </a:t>
            </a:r>
            <a:r>
              <a:rPr lang="hu-HU" i="1" dirty="0" err="1" smtClean="0"/>
              <a:t>C</a:t>
            </a:r>
            <a:r>
              <a:rPr lang="hu-HU" i="1" baseline="-25000" dirty="0" err="1" smtClean="0"/>
              <a:t>j</a:t>
            </a:r>
            <a:r>
              <a:rPr lang="hu-HU" i="1" dirty="0" smtClean="0"/>
              <a:t> </a:t>
            </a:r>
            <a:r>
              <a:rPr lang="hu-HU" dirty="0" smtClean="0"/>
              <a:t>legyen az első kumulatív összeg, amelyre teljesül </a:t>
            </a:r>
            <a:r>
              <a:rPr lang="hu-HU" i="1" dirty="0" smtClean="0"/>
              <a:t>p </a:t>
            </a:r>
            <a:r>
              <a:rPr lang="hu-HU" dirty="0" smtClean="0"/>
              <a:t>&lt; </a:t>
            </a:r>
            <a:r>
              <a:rPr lang="hu-HU" i="1" dirty="0" err="1" smtClean="0"/>
              <a:t>C</a:t>
            </a:r>
            <a:r>
              <a:rPr lang="hu-HU" i="1" baseline="-25000" dirty="0" err="1" smtClean="0"/>
              <a:t>j</a:t>
            </a:r>
            <a:endParaRPr lang="hu-HU" i="1" baseline="-25000" dirty="0" smtClean="0"/>
          </a:p>
          <a:p>
            <a:pPr lvl="2"/>
            <a:r>
              <a:rPr lang="hu-HU" i="1" dirty="0" smtClean="0"/>
              <a:t>T</a:t>
            </a:r>
            <a:r>
              <a:rPr lang="hu-HU" i="1" baseline="-25000" dirty="0" smtClean="0"/>
              <a:t>1</a:t>
            </a:r>
            <a:r>
              <a:rPr lang="hu-HU" i="1" dirty="0" smtClean="0"/>
              <a:t> </a:t>
            </a:r>
            <a:r>
              <a:rPr lang="hu-HU" dirty="0" smtClean="0"/>
              <a:t>... </a:t>
            </a:r>
            <a:r>
              <a:rPr lang="hu-HU" i="1" dirty="0" err="1" smtClean="0"/>
              <a:t>T</a:t>
            </a:r>
            <a:r>
              <a:rPr lang="hu-HU" i="1" baseline="-25000" dirty="0" err="1" smtClean="0"/>
              <a:t>j</a:t>
            </a:r>
            <a:r>
              <a:rPr lang="hu-HU" dirty="0" smtClean="0"/>
              <a:t> valószínűségét úgy méretezzük át, hogy összegük 1 legyen</a:t>
            </a:r>
          </a:p>
          <a:p>
            <a:pPr lvl="2"/>
            <a:r>
              <a:rPr lang="hu-HU" dirty="0" smtClean="0"/>
              <a:t>Ezáltal garantáljuk, hogy nagyon valószínűtlen következő </a:t>
            </a:r>
            <a:r>
              <a:rPr lang="hu-HU" dirty="0" err="1" smtClean="0"/>
              <a:t>tokeneket</a:t>
            </a:r>
            <a:r>
              <a:rPr lang="hu-HU" dirty="0" smtClean="0"/>
              <a:t> soha ne válasszon ki a modell a mintavétel során.</a:t>
            </a:r>
          </a:p>
          <a:p>
            <a:pPr lvl="1"/>
            <a:r>
              <a:rPr lang="en-GB" b="1" dirty="0" smtClean="0"/>
              <a:t>top-k:</a:t>
            </a:r>
            <a:r>
              <a:rPr lang="en-GB" dirty="0" smtClean="0"/>
              <a:t> </a:t>
            </a:r>
            <a:r>
              <a:rPr lang="en-GB" i="1" dirty="0" smtClean="0">
                <a:effectLst/>
              </a:rPr>
              <a:t>k</a:t>
            </a:r>
            <a:r>
              <a:rPr lang="hu-HU" i="1" dirty="0" smtClean="0">
                <a:effectLst/>
              </a:rPr>
              <a:t> </a:t>
            </a:r>
            <a:r>
              <a:rPr lang="en-GB" dirty="0" smtClean="0"/>
              <a:t>≥</a:t>
            </a:r>
            <a:r>
              <a:rPr lang="hu-HU" dirty="0" smtClean="0"/>
              <a:t> </a:t>
            </a:r>
            <a:r>
              <a:rPr lang="en-GB" dirty="0" smtClean="0"/>
              <a:t>1 </a:t>
            </a:r>
            <a:r>
              <a:rPr lang="en-GB" dirty="0" err="1" smtClean="0"/>
              <a:t>egész</a:t>
            </a:r>
            <a:r>
              <a:rPr lang="en-GB" dirty="0" smtClean="0"/>
              <a:t> </a:t>
            </a:r>
            <a:r>
              <a:rPr lang="en-GB" dirty="0" err="1" smtClean="0"/>
              <a:t>szám</a:t>
            </a:r>
            <a:endParaRPr lang="hu-HU" dirty="0" smtClean="0"/>
          </a:p>
          <a:p>
            <a:pPr lvl="2"/>
            <a:r>
              <a:rPr lang="hu-HU" dirty="0" smtClean="0"/>
              <a:t>Hasonló a top-p-hez, de a mintavételezendő legvalószínűbb </a:t>
            </a:r>
            <a:r>
              <a:rPr lang="hu-HU" dirty="0" err="1" smtClean="0"/>
              <a:t>tokenek</a:t>
            </a:r>
            <a:r>
              <a:rPr lang="hu-HU" dirty="0" smtClean="0"/>
              <a:t> konkrét számát adja meg.</a:t>
            </a:r>
          </a:p>
          <a:p>
            <a:pPr lvl="2"/>
            <a:r>
              <a:rPr lang="hu-HU" dirty="0" smtClean="0"/>
              <a:t>Ha </a:t>
            </a:r>
            <a:r>
              <a:rPr lang="hu-HU" i="1" dirty="0" smtClean="0">
                <a:effectLst/>
              </a:rPr>
              <a:t>k </a:t>
            </a:r>
            <a:r>
              <a:rPr lang="hu-HU" dirty="0" smtClean="0"/>
              <a:t>= 1, nincs mintavételezés, a kimenet mindig a legvalószínűbb </a:t>
            </a:r>
            <a:r>
              <a:rPr lang="hu-HU" dirty="0" err="1" smtClean="0"/>
              <a:t>token</a:t>
            </a:r>
            <a:r>
              <a:rPr lang="hu-HU" dirty="0" smtClean="0"/>
              <a:t>.</a:t>
            </a:r>
          </a:p>
          <a:p>
            <a:pPr lvl="1"/>
            <a:r>
              <a:rPr lang="hu-HU" b="1" dirty="0"/>
              <a:t>h</a:t>
            </a:r>
            <a:r>
              <a:rPr lang="hu-HU" b="1" dirty="0" smtClean="0"/>
              <a:t>őmérséklet (</a:t>
            </a:r>
            <a:r>
              <a:rPr lang="hu-HU" b="1" dirty="0" err="1" smtClean="0"/>
              <a:t>temperature</a:t>
            </a:r>
            <a:r>
              <a:rPr lang="hu-HU" b="1" dirty="0" smtClean="0"/>
              <a:t>):</a:t>
            </a:r>
            <a:r>
              <a:rPr lang="hu-HU" dirty="0" smtClean="0"/>
              <a:t> 0 ≤ t lebegőpontos érték</a:t>
            </a:r>
          </a:p>
          <a:p>
            <a:pPr lvl="2"/>
            <a:r>
              <a:rPr lang="hu-HU" dirty="0" smtClean="0"/>
              <a:t>Ha 0, az előre jelzett eloszlást használja.</a:t>
            </a:r>
          </a:p>
          <a:p>
            <a:pPr lvl="2"/>
            <a:r>
              <a:rPr lang="hu-HU" dirty="0" smtClean="0"/>
              <a:t>Minél magasabbra állítjuk a hőmérsékletet, annál jobban torzul az eloszlás a valószínűtlen </a:t>
            </a:r>
            <a:r>
              <a:rPr lang="hu-HU" dirty="0" err="1" smtClean="0"/>
              <a:t>tokenek</a:t>
            </a:r>
            <a:r>
              <a:rPr lang="hu-HU" dirty="0" smtClean="0"/>
              <a:t> felé, azaz annál valószínűbb, hogy egy viszonylag valószínűtlennek </a:t>
            </a:r>
            <a:r>
              <a:rPr lang="hu-HU" dirty="0" err="1" smtClean="0"/>
              <a:t>prediktált</a:t>
            </a:r>
            <a:r>
              <a:rPr lang="hu-HU" dirty="0" smtClean="0"/>
              <a:t> </a:t>
            </a:r>
            <a:r>
              <a:rPr lang="hu-HU" dirty="0" err="1" smtClean="0"/>
              <a:t>tokent</a:t>
            </a:r>
            <a:r>
              <a:rPr lang="hu-HU" dirty="0" smtClean="0"/>
              <a:t> választunk ki véletlenül a mintavétel során.</a:t>
            </a:r>
          </a:p>
          <a:p>
            <a:pPr lvl="2"/>
            <a:r>
              <a:rPr lang="hu-HU" dirty="0" smtClean="0"/>
              <a:t>A magas hőmérséklet azt jelenti, hogy a valószínű </a:t>
            </a:r>
            <a:r>
              <a:rPr lang="hu-HU" dirty="0" err="1" smtClean="0"/>
              <a:t>tokenek</a:t>
            </a:r>
            <a:r>
              <a:rPr lang="hu-HU" dirty="0" smtClean="0"/>
              <a:t> súlya csökken, a valószínűtleneké nő.</a:t>
            </a:r>
          </a:p>
          <a:p>
            <a:pPr lvl="2"/>
            <a:r>
              <a:rPr lang="hu-HU" dirty="0" smtClean="0"/>
              <a:t>Azt a szubjektív benyomást kelti, hogy a modell kreatívabban generál.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156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000" dirty="0" smtClean="0"/>
              <a:t>A generatív modellek determinizmusa</a:t>
            </a:r>
            <a:endParaRPr lang="en-GB" sz="40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 smtClean="0"/>
              <a:t>A </a:t>
            </a:r>
            <a:r>
              <a:rPr lang="en-GB" dirty="0" err="1" smtClean="0"/>
              <a:t>generatív</a:t>
            </a:r>
            <a:r>
              <a:rPr lang="en-GB" dirty="0" smtClean="0"/>
              <a:t> </a:t>
            </a:r>
            <a:r>
              <a:rPr lang="en-GB" dirty="0" err="1" smtClean="0"/>
              <a:t>nyelvmodellek</a:t>
            </a:r>
            <a:r>
              <a:rPr lang="en-GB" dirty="0" smtClean="0"/>
              <a:t> </a:t>
            </a:r>
            <a:r>
              <a:rPr lang="en-GB" b="1" dirty="0" err="1" smtClean="0"/>
              <a:t>tökéletesen</a:t>
            </a:r>
            <a:r>
              <a:rPr lang="en-GB" b="1" dirty="0" smtClean="0"/>
              <a:t> </a:t>
            </a:r>
            <a:r>
              <a:rPr lang="en-GB" b="1" dirty="0" err="1" smtClean="0"/>
              <a:t>determinisztikusak</a:t>
            </a:r>
            <a:r>
              <a:rPr lang="en-GB" dirty="0" smtClean="0"/>
              <a:t>.</a:t>
            </a:r>
          </a:p>
          <a:p>
            <a:pPr lvl="1"/>
            <a:r>
              <a:rPr lang="hu-HU" dirty="0" smtClean="0"/>
              <a:t>Adott, konkrét súlyokkal rendelkező betanított modell és adott konkrét bemenet esetén, a modell mindig </a:t>
            </a:r>
            <a:r>
              <a:rPr lang="hu-HU" b="1" dirty="0" smtClean="0"/>
              <a:t>ugyanazt a valószínűségi eloszlást </a:t>
            </a:r>
            <a:r>
              <a:rPr lang="hu-HU" dirty="0" smtClean="0"/>
              <a:t>fogja kiszámítani.</a:t>
            </a:r>
          </a:p>
          <a:p>
            <a:pPr lvl="2"/>
            <a:r>
              <a:rPr lang="hu-HU" dirty="0" smtClean="0"/>
              <a:t>A nyelvmodell, mint bármely más neurális háló, egyszerűen csak mátrixszorzásokból álló matematikai függvény, nincs benne helye a véletlennek.</a:t>
            </a:r>
          </a:p>
          <a:p>
            <a:pPr lvl="1"/>
            <a:r>
              <a:rPr lang="hu-HU" dirty="0" smtClean="0"/>
              <a:t>Ha a </a:t>
            </a:r>
            <a:r>
              <a:rPr lang="hu-HU" dirty="0" err="1" smtClean="0"/>
              <a:t>top-k</a:t>
            </a:r>
            <a:r>
              <a:rPr lang="hu-HU" dirty="0" smtClean="0"/>
              <a:t> paramétert 1 értékre állítjuk, vagy rögzítjük a véletlenszám-generátor </a:t>
            </a:r>
            <a:r>
              <a:rPr lang="hu-HU" dirty="0" err="1" smtClean="0"/>
              <a:t>seedjét</a:t>
            </a:r>
            <a:r>
              <a:rPr lang="hu-HU" dirty="0" smtClean="0"/>
              <a:t> egy konkrét értékre a mintavételezőben, akkor ugyanarra a bemenetre mindig pontosan ugyanazt a szekvenciát fogja generálni folytatásként.</a:t>
            </a:r>
          </a:p>
          <a:p>
            <a:pPr lvl="1"/>
            <a:r>
              <a:rPr lang="hu-HU" dirty="0" smtClean="0"/>
              <a:t>Azonban a hardveres és szoftveres futtatási környezetben rejlő következetlenségek miatt a gyakorlatban viselkedhet egy nagy nyelvmodell </a:t>
            </a:r>
            <a:r>
              <a:rPr lang="hu-HU" dirty="0" err="1" smtClean="0"/>
              <a:t>nemdeterminisztikusan</a:t>
            </a:r>
            <a:r>
              <a:rPr lang="hu-HU" dirty="0" smtClean="0"/>
              <a:t>.</a:t>
            </a:r>
          </a:p>
          <a:p>
            <a:pPr lvl="2"/>
            <a:r>
              <a:rPr lang="en-GB" dirty="0" err="1" smtClean="0"/>
              <a:t>Különösen</a:t>
            </a:r>
            <a:r>
              <a:rPr lang="en-GB" dirty="0" smtClean="0"/>
              <a:t> </a:t>
            </a:r>
            <a:r>
              <a:rPr lang="en-GB" dirty="0" err="1" smtClean="0"/>
              <a:t>akkor</a:t>
            </a:r>
            <a:r>
              <a:rPr lang="en-GB" dirty="0" smtClean="0"/>
              <a:t>, ha </a:t>
            </a:r>
            <a:r>
              <a:rPr lang="en-GB" dirty="0" err="1" smtClean="0"/>
              <a:t>egy</a:t>
            </a:r>
            <a:r>
              <a:rPr lang="en-GB" dirty="0" smtClean="0"/>
              <a:t> </a:t>
            </a:r>
            <a:r>
              <a:rPr lang="en-GB" dirty="0" err="1" smtClean="0"/>
              <a:t>modell</a:t>
            </a:r>
            <a:r>
              <a:rPr lang="en-GB" dirty="0" smtClean="0"/>
              <a:t> </a:t>
            </a:r>
            <a:r>
              <a:rPr lang="en-GB" dirty="0" err="1" smtClean="0"/>
              <a:t>több</a:t>
            </a:r>
            <a:r>
              <a:rPr lang="en-GB" dirty="0" smtClean="0"/>
              <a:t> </a:t>
            </a:r>
            <a:r>
              <a:rPr lang="en-GB" dirty="0" err="1" smtClean="0"/>
              <a:t>eszköz</a:t>
            </a:r>
            <a:r>
              <a:rPr lang="en-GB" dirty="0" smtClean="0"/>
              <a:t> </a:t>
            </a:r>
            <a:r>
              <a:rPr lang="en-GB" dirty="0" err="1" smtClean="0"/>
              <a:t>között</a:t>
            </a:r>
            <a:r>
              <a:rPr lang="en-GB" dirty="0" smtClean="0"/>
              <a:t> van </a:t>
            </a:r>
            <a:r>
              <a:rPr lang="en-GB" dirty="0" err="1" smtClean="0"/>
              <a:t>elosztva</a:t>
            </a:r>
            <a:r>
              <a:rPr lang="en-GB" dirty="0" smtClean="0"/>
              <a:t>, </a:t>
            </a:r>
            <a:r>
              <a:rPr lang="en-GB" dirty="0" err="1" smtClean="0"/>
              <a:t>amelyeknek</a:t>
            </a:r>
            <a:r>
              <a:rPr lang="en-GB" dirty="0" smtClean="0"/>
              <a:t> </a:t>
            </a:r>
            <a:r>
              <a:rPr lang="hu-HU" dirty="0" smtClean="0"/>
              <a:t>esetleg </a:t>
            </a:r>
            <a:r>
              <a:rPr lang="en-GB" dirty="0" err="1" smtClean="0"/>
              <a:t>nem</a:t>
            </a:r>
            <a:r>
              <a:rPr lang="en-GB" dirty="0" smtClean="0"/>
              <a:t> </a:t>
            </a:r>
            <a:r>
              <a:rPr lang="hu-HU" dirty="0" smtClean="0"/>
              <a:t>is </a:t>
            </a:r>
            <a:r>
              <a:rPr lang="en-GB" dirty="0" err="1" smtClean="0"/>
              <a:t>azonos</a:t>
            </a:r>
            <a:r>
              <a:rPr lang="en-GB" dirty="0" smtClean="0"/>
              <a:t> a </a:t>
            </a:r>
            <a:r>
              <a:rPr lang="en-GB" dirty="0" err="1" smtClean="0"/>
              <a:t>hardver</a:t>
            </a:r>
            <a:r>
              <a:rPr lang="hu-HU" dirty="0" smtClean="0"/>
              <a:t>e</a:t>
            </a:r>
            <a:r>
              <a:rPr lang="en-GB" dirty="0" smtClean="0"/>
              <a:t> (GPU) </a:t>
            </a:r>
            <a:r>
              <a:rPr lang="en-GB" dirty="0" err="1" smtClean="0"/>
              <a:t>vagy</a:t>
            </a:r>
            <a:r>
              <a:rPr lang="en-GB" dirty="0" smtClean="0"/>
              <a:t> a </a:t>
            </a:r>
            <a:r>
              <a:rPr lang="en-GB" dirty="0" err="1" smtClean="0"/>
              <a:t>szoftververziója</a:t>
            </a:r>
            <a:r>
              <a:rPr lang="hu-HU" dirty="0" smtClean="0"/>
              <a:t> </a:t>
            </a:r>
            <a:r>
              <a:rPr lang="en-GB" dirty="0" smtClean="0"/>
              <a:t>(GPU</a:t>
            </a:r>
            <a:r>
              <a:rPr lang="hu-HU" dirty="0" err="1" smtClean="0"/>
              <a:t>-illesztőprogram</a:t>
            </a:r>
            <a:r>
              <a:rPr lang="hu-HU" dirty="0" smtClean="0"/>
              <a:t>, </a:t>
            </a:r>
            <a:r>
              <a:rPr lang="hu-HU" dirty="0" err="1" smtClean="0"/>
              <a:t>CUDA</a:t>
            </a:r>
            <a:r>
              <a:rPr lang="en-GB" dirty="0" smtClean="0"/>
              <a:t>)</a:t>
            </a:r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2480642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Finomhangolás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hu-HU" dirty="0" smtClean="0"/>
              <a:t>F</a:t>
            </a:r>
            <a:r>
              <a:rPr lang="en-GB" dirty="0" err="1" smtClean="0"/>
              <a:t>inomhangolást</a:t>
            </a:r>
            <a:r>
              <a:rPr lang="en-GB" dirty="0" smtClean="0"/>
              <a:t> </a:t>
            </a:r>
            <a:r>
              <a:rPr lang="hu-HU" dirty="0" smtClean="0"/>
              <a:t>(</a:t>
            </a:r>
            <a:r>
              <a:rPr lang="hu-HU" dirty="0" err="1" smtClean="0"/>
              <a:t>fine-tuning</a:t>
            </a:r>
            <a:r>
              <a:rPr lang="hu-HU" dirty="0" smtClean="0"/>
              <a:t>) </a:t>
            </a:r>
            <a:r>
              <a:rPr lang="en-GB" dirty="0" err="1" smtClean="0"/>
              <a:t>nagyon</a:t>
            </a:r>
            <a:r>
              <a:rPr lang="en-GB" dirty="0" smtClean="0"/>
              <a:t> </a:t>
            </a:r>
            <a:r>
              <a:rPr lang="en-GB" dirty="0" err="1" smtClean="0"/>
              <a:t>gyakran</a:t>
            </a:r>
            <a:r>
              <a:rPr lang="en-GB" dirty="0" smtClean="0"/>
              <a:t> </a:t>
            </a:r>
            <a:r>
              <a:rPr lang="en-GB" dirty="0" err="1" smtClean="0"/>
              <a:t>alkalmaz</a:t>
            </a:r>
            <a:r>
              <a:rPr lang="hu-HU" dirty="0" err="1" smtClean="0"/>
              <a:t>nak</a:t>
            </a:r>
            <a:r>
              <a:rPr lang="en-GB" dirty="0" smtClean="0"/>
              <a:t> a </a:t>
            </a:r>
            <a:r>
              <a:rPr lang="hu-HU" dirty="0" err="1" smtClean="0"/>
              <a:t>transzformer</a:t>
            </a:r>
            <a:r>
              <a:rPr lang="en-GB" dirty="0" err="1" smtClean="0"/>
              <a:t>modellek</a:t>
            </a:r>
            <a:r>
              <a:rPr lang="hu-HU" dirty="0" smtClean="0"/>
              <a:t> tanítására</a:t>
            </a:r>
            <a:r>
              <a:rPr lang="en-GB" dirty="0" smtClean="0"/>
              <a:t>:</a:t>
            </a:r>
          </a:p>
          <a:p>
            <a:pPr lvl="1"/>
            <a:r>
              <a:rPr lang="hu-HU" dirty="0" smtClean="0"/>
              <a:t>Először előtanítanak egy általános nyelvmodellt arra, hogy megjósoljon hiányzó </a:t>
            </a:r>
            <a:r>
              <a:rPr lang="hu-HU" dirty="0" err="1" smtClean="0"/>
              <a:t>tokeneket</a:t>
            </a:r>
            <a:r>
              <a:rPr lang="hu-HU" dirty="0" smtClean="0"/>
              <a:t> egy </a:t>
            </a:r>
            <a:r>
              <a:rPr lang="hu-HU" dirty="0" err="1" smtClean="0"/>
              <a:t>tokensorozatban</a:t>
            </a:r>
            <a:r>
              <a:rPr lang="hu-HU" dirty="0" smtClean="0"/>
              <a:t>: kétirányú </a:t>
            </a:r>
            <a:r>
              <a:rPr lang="hu-HU" dirty="0" err="1" smtClean="0"/>
              <a:t>MLM</a:t>
            </a:r>
            <a:r>
              <a:rPr lang="hu-HU" dirty="0" smtClean="0"/>
              <a:t> (</a:t>
            </a:r>
            <a:r>
              <a:rPr lang="hu-HU" dirty="0" err="1" smtClean="0"/>
              <a:t>BERT</a:t>
            </a:r>
            <a:r>
              <a:rPr lang="hu-HU" dirty="0" smtClean="0"/>
              <a:t>) vagy balról jobbra </a:t>
            </a:r>
            <a:r>
              <a:rPr lang="hu-HU" dirty="0" err="1" smtClean="0"/>
              <a:t>autoregresszív</a:t>
            </a:r>
            <a:r>
              <a:rPr lang="hu-HU" dirty="0" smtClean="0"/>
              <a:t> tanítás (</a:t>
            </a:r>
            <a:r>
              <a:rPr lang="hu-HU" dirty="0" err="1" smtClean="0"/>
              <a:t>GPT</a:t>
            </a:r>
            <a:r>
              <a:rPr lang="hu-HU" dirty="0" smtClean="0"/>
              <a:t>).</a:t>
            </a:r>
          </a:p>
          <a:p>
            <a:pPr lvl="2"/>
            <a:r>
              <a:rPr lang="hu-HU" dirty="0" smtClean="0"/>
              <a:t>Jellemzően több milliárd tanító adatponton (kontextus + megjósolandó </a:t>
            </a:r>
            <a:r>
              <a:rPr lang="hu-HU" dirty="0" err="1" smtClean="0"/>
              <a:t>token</a:t>
            </a:r>
            <a:r>
              <a:rPr lang="hu-HU" dirty="0" smtClean="0"/>
              <a:t>)</a:t>
            </a:r>
          </a:p>
          <a:p>
            <a:pPr lvl="1"/>
            <a:r>
              <a:rPr lang="en-GB" dirty="0" err="1" smtClean="0"/>
              <a:t>Ezután</a:t>
            </a:r>
            <a:r>
              <a:rPr lang="en-GB" dirty="0" smtClean="0"/>
              <a:t> a </a:t>
            </a:r>
            <a:r>
              <a:rPr lang="en-GB" dirty="0" err="1" smtClean="0"/>
              <a:t>modellt</a:t>
            </a:r>
            <a:r>
              <a:rPr lang="en-GB" dirty="0" smtClean="0"/>
              <a:t> </a:t>
            </a:r>
            <a:r>
              <a:rPr lang="en-GB" dirty="0" err="1" smtClean="0"/>
              <a:t>felügyelt</a:t>
            </a:r>
            <a:r>
              <a:rPr lang="en-GB" dirty="0" smtClean="0"/>
              <a:t> </a:t>
            </a:r>
            <a:r>
              <a:rPr lang="en-GB" dirty="0" err="1" smtClean="0"/>
              <a:t>tanulás</a:t>
            </a:r>
            <a:r>
              <a:rPr lang="en-GB" dirty="0" smtClean="0"/>
              <a:t> </a:t>
            </a:r>
            <a:r>
              <a:rPr lang="en-GB" dirty="0" err="1" smtClean="0"/>
              <a:t>segítségével</a:t>
            </a:r>
            <a:r>
              <a:rPr lang="en-GB" dirty="0" smtClean="0"/>
              <a:t> </a:t>
            </a:r>
            <a:r>
              <a:rPr lang="en-GB" dirty="0" err="1" smtClean="0"/>
              <a:t>finomhangolják</a:t>
            </a:r>
            <a:r>
              <a:rPr lang="en-GB" dirty="0" smtClean="0"/>
              <a:t> (pl. </a:t>
            </a:r>
            <a:r>
              <a:rPr lang="en-GB" dirty="0" err="1" smtClean="0"/>
              <a:t>osztálycímkével</a:t>
            </a:r>
            <a:r>
              <a:rPr lang="en-GB" dirty="0" smtClean="0"/>
              <a:t> </a:t>
            </a:r>
            <a:r>
              <a:rPr lang="en-GB" dirty="0" err="1" smtClean="0"/>
              <a:t>ellátott</a:t>
            </a:r>
            <a:r>
              <a:rPr lang="en-GB" dirty="0" smtClean="0"/>
              <a:t> </a:t>
            </a:r>
            <a:r>
              <a:rPr lang="en-GB" dirty="0" err="1" smtClean="0"/>
              <a:t>adatok</a:t>
            </a:r>
            <a:r>
              <a:rPr lang="en-GB" dirty="0" smtClean="0"/>
              <a:t> </a:t>
            </a:r>
            <a:r>
              <a:rPr lang="en-GB" dirty="0" err="1" smtClean="0"/>
              <a:t>felhasználásával</a:t>
            </a:r>
            <a:r>
              <a:rPr lang="en-GB" dirty="0" smtClean="0"/>
              <a:t>) </a:t>
            </a:r>
            <a:r>
              <a:rPr lang="en-GB" dirty="0" err="1" smtClean="0"/>
              <a:t>egy</a:t>
            </a:r>
            <a:r>
              <a:rPr lang="en-GB" dirty="0" smtClean="0"/>
              <a:t> </a:t>
            </a:r>
            <a:r>
              <a:rPr lang="en-GB" dirty="0" err="1" smtClean="0"/>
              <a:t>specifikus</a:t>
            </a:r>
            <a:r>
              <a:rPr lang="en-GB" dirty="0" smtClean="0"/>
              <a:t> </a:t>
            </a:r>
            <a:r>
              <a:rPr lang="en-GB" dirty="0" err="1" smtClean="0"/>
              <a:t>feladatra</a:t>
            </a:r>
            <a:r>
              <a:rPr lang="en-GB" dirty="0" smtClean="0"/>
              <a:t>, pl. </a:t>
            </a:r>
            <a:r>
              <a:rPr lang="en-GB" dirty="0" err="1" smtClean="0"/>
              <a:t>szöveg</a:t>
            </a:r>
            <a:r>
              <a:rPr lang="hu-HU" dirty="0" err="1" smtClean="0"/>
              <a:t>ek</a:t>
            </a:r>
            <a:r>
              <a:rPr lang="hu-HU" dirty="0" smtClean="0"/>
              <a:t> csoportosítására (osztályozására)</a:t>
            </a:r>
            <a:r>
              <a:rPr lang="en-GB" dirty="0" smtClean="0"/>
              <a:t>.</a:t>
            </a:r>
          </a:p>
          <a:p>
            <a:pPr lvl="2"/>
            <a:r>
              <a:rPr lang="hu-HU" dirty="0" smtClean="0"/>
              <a:t>Ehhez á</a:t>
            </a:r>
            <a:r>
              <a:rPr lang="en-GB" dirty="0" err="1" smtClean="0"/>
              <a:t>ltalában</a:t>
            </a:r>
            <a:r>
              <a:rPr lang="en-GB" dirty="0" smtClean="0"/>
              <a:t> </a:t>
            </a:r>
            <a:r>
              <a:rPr lang="en-GB" dirty="0" err="1" smtClean="0"/>
              <a:t>egy</a:t>
            </a:r>
            <a:r>
              <a:rPr lang="en-GB" dirty="0" smtClean="0"/>
              <a:t> </a:t>
            </a:r>
            <a:r>
              <a:rPr lang="en-GB" dirty="0" err="1" smtClean="0"/>
              <a:t>további</a:t>
            </a:r>
            <a:r>
              <a:rPr lang="en-GB" dirty="0" smtClean="0"/>
              <a:t> </a:t>
            </a:r>
            <a:r>
              <a:rPr lang="en-GB" dirty="0" err="1" smtClean="0"/>
              <a:t>osztályozó</a:t>
            </a:r>
            <a:r>
              <a:rPr lang="en-GB" dirty="0" smtClean="0"/>
              <a:t> </a:t>
            </a:r>
            <a:r>
              <a:rPr lang="en-GB" dirty="0" err="1" smtClean="0"/>
              <a:t>réteg</a:t>
            </a:r>
            <a:r>
              <a:rPr lang="hu-HU" dirty="0" smtClean="0"/>
              <a:t>et</a:t>
            </a:r>
            <a:r>
              <a:rPr lang="en-GB" dirty="0" smtClean="0"/>
              <a:t> </a:t>
            </a:r>
            <a:r>
              <a:rPr lang="hu-HU" dirty="0" smtClean="0"/>
              <a:t>kell </a:t>
            </a:r>
            <a:r>
              <a:rPr lang="en-GB" dirty="0" err="1" smtClean="0"/>
              <a:t>hozzáad</a:t>
            </a:r>
            <a:r>
              <a:rPr lang="hu-HU" dirty="0" smtClean="0"/>
              <a:t>ni</a:t>
            </a:r>
            <a:r>
              <a:rPr lang="en-GB" dirty="0" smtClean="0"/>
              <a:t> a </a:t>
            </a:r>
            <a:r>
              <a:rPr lang="en-GB" dirty="0" err="1" smtClean="0"/>
              <a:t>transzform</a:t>
            </a:r>
            <a:r>
              <a:rPr lang="hu-HU" dirty="0" err="1" smtClean="0"/>
              <a:t>er</a:t>
            </a:r>
            <a:r>
              <a:rPr lang="en-GB" dirty="0" err="1" smtClean="0"/>
              <a:t>hálóhoz</a:t>
            </a:r>
            <a:r>
              <a:rPr lang="hu-HU" dirty="0" smtClean="0"/>
              <a:t>.</a:t>
            </a:r>
          </a:p>
          <a:p>
            <a:pPr lvl="2"/>
            <a:r>
              <a:rPr lang="hu-HU" dirty="0" smtClean="0"/>
              <a:t>Ezt a réteget a nulláról (véletlenszerűen inicializálva) tanítják.</a:t>
            </a:r>
          </a:p>
          <a:p>
            <a:pPr lvl="2"/>
            <a:r>
              <a:rPr lang="hu-HU" dirty="0" smtClean="0"/>
              <a:t>A transzformátor súlyait vagy befagyasztják a finomhangolás alatt (nem módosítják ezeket) vagy ezeket is tanítják, azaz alkalmazkodnak a feladathoz.</a:t>
            </a:r>
          </a:p>
          <a:p>
            <a:pPr lvl="2"/>
            <a:r>
              <a:rPr lang="hu-HU" dirty="0" smtClean="0"/>
              <a:t>Viszonylag kis számú tanító adatponton, jellemzően néhány ezren, ritkábban tízezren.</a:t>
            </a:r>
          </a:p>
          <a:p>
            <a:pPr lvl="1"/>
            <a:r>
              <a:rPr lang="hu-HU" dirty="0" smtClean="0"/>
              <a:t>Ennek eredményeként olyan </a:t>
            </a:r>
            <a:r>
              <a:rPr lang="en-GB" dirty="0" err="1" smtClean="0"/>
              <a:t>finomhangolt</a:t>
            </a:r>
            <a:r>
              <a:rPr lang="en-GB" dirty="0" smtClean="0"/>
              <a:t> </a:t>
            </a:r>
            <a:r>
              <a:rPr lang="en-GB" dirty="0" err="1" smtClean="0"/>
              <a:t>modellt</a:t>
            </a:r>
            <a:r>
              <a:rPr lang="en-GB" dirty="0" smtClean="0"/>
              <a:t> </a:t>
            </a:r>
            <a:r>
              <a:rPr lang="hu-HU" dirty="0" smtClean="0"/>
              <a:t>kapunk</a:t>
            </a:r>
            <a:r>
              <a:rPr lang="en-GB" dirty="0" smtClean="0"/>
              <a:t>, </a:t>
            </a:r>
            <a:r>
              <a:rPr lang="en-GB" dirty="0" err="1" smtClean="0"/>
              <a:t>amely</a:t>
            </a:r>
            <a:r>
              <a:rPr lang="en-GB" dirty="0" smtClean="0"/>
              <a:t> </a:t>
            </a:r>
            <a:r>
              <a:rPr lang="en-GB" dirty="0" err="1" smtClean="0"/>
              <a:t>sokkal</a:t>
            </a:r>
            <a:r>
              <a:rPr lang="en-GB" dirty="0" smtClean="0"/>
              <a:t> </a:t>
            </a:r>
            <a:r>
              <a:rPr lang="en-GB" dirty="0" err="1" smtClean="0"/>
              <a:t>pontosabb</a:t>
            </a:r>
            <a:r>
              <a:rPr lang="hu-HU" dirty="0" smtClean="0"/>
              <a:t>an teljesíti</a:t>
            </a:r>
            <a:r>
              <a:rPr lang="en-GB" dirty="0" smtClean="0"/>
              <a:t> </a:t>
            </a:r>
            <a:r>
              <a:rPr lang="en-GB" dirty="0" err="1" smtClean="0"/>
              <a:t>az</a:t>
            </a:r>
            <a:r>
              <a:rPr lang="en-GB" dirty="0" smtClean="0"/>
              <a:t> </a:t>
            </a:r>
            <a:r>
              <a:rPr lang="en-GB" dirty="0" err="1" smtClean="0"/>
              <a:t>adott</a:t>
            </a:r>
            <a:r>
              <a:rPr lang="en-GB" dirty="0" smtClean="0"/>
              <a:t> </a:t>
            </a:r>
            <a:r>
              <a:rPr lang="en-GB" dirty="0" err="1" smtClean="0"/>
              <a:t>feladat</a:t>
            </a:r>
            <a:r>
              <a:rPr lang="hu-HU" dirty="0" err="1" smtClean="0"/>
              <a:t>ot</a:t>
            </a:r>
            <a:r>
              <a:rPr lang="en-GB" dirty="0" smtClean="0"/>
              <a:t>, mint </a:t>
            </a:r>
            <a:r>
              <a:rPr lang="en-GB" dirty="0" err="1" smtClean="0"/>
              <a:t>egy</a:t>
            </a:r>
            <a:r>
              <a:rPr lang="en-GB" dirty="0" smtClean="0"/>
              <a:t> a </a:t>
            </a:r>
            <a:r>
              <a:rPr lang="en-GB" dirty="0" err="1" smtClean="0"/>
              <a:t>specifikus</a:t>
            </a:r>
            <a:r>
              <a:rPr lang="en-GB" dirty="0" smtClean="0"/>
              <a:t> </a:t>
            </a:r>
            <a:r>
              <a:rPr lang="en-GB" dirty="0" err="1" smtClean="0"/>
              <a:t>feladatra</a:t>
            </a:r>
            <a:r>
              <a:rPr lang="en-GB" dirty="0" smtClean="0"/>
              <a:t> a </a:t>
            </a:r>
            <a:r>
              <a:rPr lang="en-GB" dirty="0" err="1" smtClean="0"/>
              <a:t>nulláról</a:t>
            </a:r>
            <a:r>
              <a:rPr lang="en-GB" dirty="0" smtClean="0"/>
              <a:t> </a:t>
            </a:r>
            <a:r>
              <a:rPr lang="en-GB" dirty="0" err="1" smtClean="0"/>
              <a:t>betanított</a:t>
            </a:r>
            <a:r>
              <a:rPr lang="en-GB" dirty="0" smtClean="0"/>
              <a:t> </a:t>
            </a:r>
            <a:r>
              <a:rPr lang="en-GB" dirty="0" err="1" smtClean="0"/>
              <a:t>modell</a:t>
            </a:r>
            <a:r>
              <a:rPr lang="en-GB" dirty="0" smtClean="0"/>
              <a:t> (</a:t>
            </a:r>
            <a:r>
              <a:rPr lang="en-GB" dirty="0" err="1" smtClean="0"/>
              <a:t>még</a:t>
            </a:r>
            <a:r>
              <a:rPr lang="en-GB" dirty="0" smtClean="0"/>
              <a:t> </a:t>
            </a:r>
            <a:r>
              <a:rPr lang="en-GB" dirty="0" err="1" smtClean="0"/>
              <a:t>akkor</a:t>
            </a:r>
            <a:r>
              <a:rPr lang="en-GB" dirty="0" smtClean="0"/>
              <a:t> is, ha </a:t>
            </a:r>
            <a:r>
              <a:rPr lang="hu-HU" dirty="0" smtClean="0"/>
              <a:t>erre </a:t>
            </a:r>
            <a:r>
              <a:rPr lang="en-GB" dirty="0" err="1" smtClean="0"/>
              <a:t>sokkal</a:t>
            </a:r>
            <a:r>
              <a:rPr lang="en-GB" dirty="0" smtClean="0"/>
              <a:t> </a:t>
            </a:r>
            <a:r>
              <a:rPr lang="en-GB" dirty="0" err="1" smtClean="0"/>
              <a:t>több</a:t>
            </a:r>
            <a:r>
              <a:rPr lang="en-GB" dirty="0" smtClean="0"/>
              <a:t> </a:t>
            </a:r>
            <a:r>
              <a:rPr lang="hu-HU" dirty="0" smtClean="0"/>
              <a:t>tanító</a:t>
            </a:r>
            <a:r>
              <a:rPr lang="en-GB" dirty="0" err="1" smtClean="0"/>
              <a:t>adatot</a:t>
            </a:r>
            <a:r>
              <a:rPr lang="en-GB" dirty="0" smtClean="0"/>
              <a:t> </a:t>
            </a:r>
            <a:r>
              <a:rPr lang="en-GB" dirty="0" err="1" smtClean="0"/>
              <a:t>használnánk</a:t>
            </a:r>
            <a:r>
              <a:rPr lang="en-GB" dirty="0" smtClean="0"/>
              <a:t>, mint </a:t>
            </a:r>
            <a:r>
              <a:rPr lang="en-GB" dirty="0" err="1" smtClean="0"/>
              <a:t>amennyit</a:t>
            </a:r>
            <a:r>
              <a:rPr lang="en-GB" dirty="0" smtClean="0"/>
              <a:t> a </a:t>
            </a:r>
            <a:r>
              <a:rPr lang="en-GB" dirty="0" err="1" smtClean="0"/>
              <a:t>finomhangoláshoz</a:t>
            </a:r>
            <a:r>
              <a:rPr lang="en-GB" dirty="0" smtClean="0"/>
              <a:t> </a:t>
            </a:r>
            <a:r>
              <a:rPr lang="en-GB" dirty="0" err="1" smtClean="0"/>
              <a:t>használunk</a:t>
            </a:r>
            <a:r>
              <a:rPr lang="en-GB" dirty="0" smtClean="0"/>
              <a:t>).</a:t>
            </a:r>
          </a:p>
          <a:p>
            <a:pPr lvl="2"/>
            <a:r>
              <a:rPr lang="hu-HU" dirty="0" smtClean="0"/>
              <a:t>Bár ezzel kapcsolatban érdemes megjegyezni, hogy a finomhangolással épp azt a problémát próbáljuk megoldani, hogy csak kevés címkézett adatunk van egy konkrét feladat megoldásához.</a:t>
            </a:r>
          </a:p>
          <a:p>
            <a:pPr lvl="2"/>
            <a:r>
              <a:rPr lang="hu-HU" dirty="0" smtClean="0"/>
              <a:t>Azaz olyan kevés adatunk, amelyre eleve nem is lehetne használható modellt tanítani.</a:t>
            </a:r>
          </a:p>
          <a:p>
            <a:pPr lvl="1"/>
            <a:r>
              <a:rPr lang="en-GB" dirty="0" smtClean="0"/>
              <a:t>A </a:t>
            </a:r>
            <a:r>
              <a:rPr lang="hu-HU" dirty="0" smtClean="0"/>
              <a:t>finomhangolt </a:t>
            </a:r>
            <a:r>
              <a:rPr lang="en-GB" dirty="0" err="1" smtClean="0"/>
              <a:t>modell</a:t>
            </a:r>
            <a:r>
              <a:rPr lang="en-GB" dirty="0" smtClean="0"/>
              <a:t> </a:t>
            </a:r>
            <a:r>
              <a:rPr lang="hu-HU" dirty="0" smtClean="0"/>
              <a:t>képes </a:t>
            </a:r>
            <a:r>
              <a:rPr lang="en-GB" dirty="0" err="1" smtClean="0"/>
              <a:t>az</a:t>
            </a:r>
            <a:r>
              <a:rPr lang="en-GB" dirty="0" smtClean="0"/>
              <a:t> </a:t>
            </a:r>
            <a:r>
              <a:rPr lang="en-GB" dirty="0" err="1" smtClean="0"/>
              <a:t>adott</a:t>
            </a:r>
            <a:r>
              <a:rPr lang="en-GB" dirty="0" smtClean="0"/>
              <a:t> </a:t>
            </a:r>
            <a:r>
              <a:rPr lang="en-GB" dirty="0" err="1" smtClean="0"/>
              <a:t>feladat</a:t>
            </a:r>
            <a:r>
              <a:rPr lang="hu-HU" dirty="0" smtClean="0"/>
              <a:t> megoldásához</a:t>
            </a:r>
            <a:r>
              <a:rPr lang="en-GB" dirty="0" smtClean="0"/>
              <a:t> </a:t>
            </a:r>
            <a:r>
              <a:rPr lang="hu-HU" dirty="0" smtClean="0"/>
              <a:t>hasznosítani</a:t>
            </a:r>
            <a:r>
              <a:rPr lang="en-GB" dirty="0" smtClean="0"/>
              <a:t> a </a:t>
            </a:r>
            <a:r>
              <a:rPr lang="en-GB" dirty="0" err="1" smtClean="0"/>
              <a:t>nyelvvel</a:t>
            </a:r>
            <a:r>
              <a:rPr lang="en-GB" dirty="0" smtClean="0"/>
              <a:t> </a:t>
            </a:r>
            <a:r>
              <a:rPr lang="en-GB" dirty="0" err="1" smtClean="0"/>
              <a:t>kapcsolatos</a:t>
            </a:r>
            <a:r>
              <a:rPr lang="en-GB" dirty="0" smtClean="0"/>
              <a:t> </a:t>
            </a:r>
            <a:r>
              <a:rPr lang="en-GB" dirty="0" err="1" smtClean="0"/>
              <a:t>általános</a:t>
            </a:r>
            <a:r>
              <a:rPr lang="en-GB" dirty="0" smtClean="0"/>
              <a:t> </a:t>
            </a:r>
            <a:r>
              <a:rPr lang="en-GB" dirty="0" err="1" smtClean="0"/>
              <a:t>tudását</a:t>
            </a:r>
            <a:r>
              <a:rPr lang="en-GB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32031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Zero-shot </a:t>
            </a:r>
            <a:r>
              <a:rPr lang="en-GB" dirty="0" err="1" smtClean="0"/>
              <a:t>és</a:t>
            </a:r>
            <a:r>
              <a:rPr lang="en-GB" dirty="0" smtClean="0"/>
              <a:t> </a:t>
            </a:r>
            <a:r>
              <a:rPr lang="hu-HU" dirty="0" smtClean="0"/>
              <a:t>f</a:t>
            </a:r>
            <a:r>
              <a:rPr lang="en-GB" dirty="0" err="1" smtClean="0"/>
              <a:t>ew</a:t>
            </a:r>
            <a:r>
              <a:rPr lang="en-GB" dirty="0" smtClean="0"/>
              <a:t>-shot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hu-HU" dirty="0" err="1" smtClean="0">
                <a:hlinkClick r:id="rId2"/>
              </a:rPr>
              <a:t>Radford</a:t>
            </a:r>
            <a:r>
              <a:rPr lang="hu-HU" dirty="0" smtClean="0">
                <a:hlinkClick r:id="rId2"/>
              </a:rPr>
              <a:t> és </a:t>
            </a:r>
            <a:r>
              <a:rPr lang="hu-HU" dirty="0" err="1" smtClean="0">
                <a:hlinkClick r:id="rId2"/>
              </a:rPr>
              <a:t>mtsai</a:t>
            </a:r>
            <a:r>
              <a:rPr lang="hu-HU" dirty="0" smtClean="0">
                <a:hlinkClick r:id="rId2"/>
              </a:rPr>
              <a:t>., 2019</a:t>
            </a:r>
            <a:r>
              <a:rPr lang="hu-HU" dirty="0" smtClean="0"/>
              <a:t>-ben, illetve </a:t>
            </a:r>
            <a:r>
              <a:rPr lang="hu-HU" dirty="0" smtClean="0">
                <a:hlinkClick r:id="rId3"/>
              </a:rPr>
              <a:t>Brown és </a:t>
            </a:r>
            <a:r>
              <a:rPr lang="hu-HU" dirty="0" err="1" smtClean="0">
                <a:hlinkClick r:id="rId3"/>
              </a:rPr>
              <a:t>mtsai</a:t>
            </a:r>
            <a:r>
              <a:rPr lang="hu-HU" dirty="0" smtClean="0">
                <a:hlinkClick r:id="rId3"/>
              </a:rPr>
              <a:t>., 2020</a:t>
            </a:r>
            <a:r>
              <a:rPr lang="hu-HU" dirty="0" smtClean="0"/>
              <a:t>-ban az </a:t>
            </a:r>
            <a:r>
              <a:rPr lang="hu-HU" dirty="0" err="1" smtClean="0"/>
              <a:t>OpenAI</a:t>
            </a:r>
            <a:r>
              <a:rPr lang="hu-HU" dirty="0" smtClean="0"/>
              <a:t> kutatói olyan eredményeket mutattak be, amelyek szerint a </a:t>
            </a:r>
            <a:r>
              <a:rPr lang="hu-HU" dirty="0" err="1" smtClean="0"/>
              <a:t>GPT</a:t>
            </a:r>
            <a:r>
              <a:rPr lang="hu-HU" dirty="0" smtClean="0"/>
              <a:t> modellek képesek konkrét nyelvfeldolgozási feladatok elvégzésére akár finomhangolás nélkül is, ha megfelelő kontextust kapnak bemenetként.</a:t>
            </a:r>
          </a:p>
          <a:p>
            <a:pPr lvl="1"/>
            <a:r>
              <a:rPr lang="hu-HU" dirty="0" smtClean="0"/>
              <a:t>Ez a kontextus tartalmazza a feladathoz feldolgozandó szöveget (pl. kérdés megválaszolása: a szöveg, amelyből a választ ki kell vonni + maga a kérdés; gépi fordítás: a lefordítandó mondat/szöveg).</a:t>
            </a:r>
          </a:p>
          <a:p>
            <a:pPr lvl="1"/>
            <a:r>
              <a:rPr lang="en-GB" dirty="0" err="1" smtClean="0"/>
              <a:t>Ezenkívül</a:t>
            </a:r>
            <a:r>
              <a:rPr lang="en-GB" dirty="0" smtClean="0"/>
              <a:t> a </a:t>
            </a:r>
            <a:r>
              <a:rPr lang="en-GB" dirty="0" err="1" smtClean="0"/>
              <a:t>kontextusnak</a:t>
            </a:r>
            <a:r>
              <a:rPr lang="en-GB" dirty="0" smtClean="0"/>
              <a:t> </a:t>
            </a:r>
            <a:r>
              <a:rPr lang="en-GB" dirty="0" err="1" smtClean="0"/>
              <a:t>világossá</a:t>
            </a:r>
            <a:r>
              <a:rPr lang="en-GB" dirty="0" smtClean="0"/>
              <a:t> </a:t>
            </a:r>
            <a:r>
              <a:rPr lang="en-GB" dirty="0" err="1" smtClean="0"/>
              <a:t>kell</a:t>
            </a:r>
            <a:r>
              <a:rPr lang="en-GB" dirty="0" smtClean="0"/>
              <a:t> </a:t>
            </a:r>
            <a:r>
              <a:rPr lang="en-GB" dirty="0" err="1" smtClean="0"/>
              <a:t>tennie</a:t>
            </a:r>
            <a:r>
              <a:rPr lang="en-GB" dirty="0" smtClean="0"/>
              <a:t>, mi a </a:t>
            </a:r>
            <a:r>
              <a:rPr lang="en-GB" dirty="0" err="1" smtClean="0"/>
              <a:t>feladat</a:t>
            </a:r>
            <a:r>
              <a:rPr lang="en-GB" dirty="0" smtClean="0"/>
              <a:t>.</a:t>
            </a:r>
          </a:p>
          <a:p>
            <a:pPr lvl="2"/>
            <a:r>
              <a:rPr lang="hu-HU" dirty="0" smtClean="0"/>
              <a:t>Például ha a kontextus a </a:t>
            </a:r>
            <a:r>
              <a:rPr lang="hu-HU" b="1" dirty="0" err="1" smtClean="0"/>
              <a:t>TL</a:t>
            </a:r>
            <a:r>
              <a:rPr lang="hu-HU" b="1" dirty="0" smtClean="0"/>
              <a:t>;</a:t>
            </a:r>
            <a:r>
              <a:rPr lang="hu-HU" b="1" dirty="0" err="1" smtClean="0"/>
              <a:t>DR</a:t>
            </a:r>
            <a:r>
              <a:rPr lang="hu-HU" dirty="0" smtClean="0"/>
              <a:t> kifejezéssel végződik, a modell várhatóan olyan folytatást generál, amely az előző szöveg összefoglalása (egyszerűen azért, mert a </a:t>
            </a:r>
            <a:r>
              <a:rPr lang="hu-HU" dirty="0" err="1" smtClean="0"/>
              <a:t>TL</a:t>
            </a:r>
            <a:r>
              <a:rPr lang="hu-HU" dirty="0" smtClean="0"/>
              <a:t>;</a:t>
            </a:r>
            <a:r>
              <a:rPr lang="hu-HU" dirty="0" err="1" smtClean="0"/>
              <a:t>DR</a:t>
            </a:r>
            <a:r>
              <a:rPr lang="hu-HU" dirty="0" smtClean="0"/>
              <a:t> ezt jelenti).</a:t>
            </a:r>
          </a:p>
          <a:p>
            <a:r>
              <a:rPr lang="hu-HU" b="1" dirty="0" smtClean="0"/>
              <a:t>F</a:t>
            </a:r>
            <a:r>
              <a:rPr lang="en-GB" b="1" dirty="0" err="1" smtClean="0"/>
              <a:t>ew</a:t>
            </a:r>
            <a:r>
              <a:rPr lang="en-GB" b="1" dirty="0" smtClean="0"/>
              <a:t>-shot</a:t>
            </a:r>
            <a:r>
              <a:rPr lang="hu-HU" b="1" dirty="0" err="1" smtClean="0"/>
              <a:t>nak</a:t>
            </a:r>
            <a:r>
              <a:rPr lang="hu-HU" b="1" dirty="0" smtClean="0"/>
              <a:t> </a:t>
            </a:r>
            <a:r>
              <a:rPr lang="hu-HU" dirty="0" smtClean="0"/>
              <a:t>nevezik az</a:t>
            </a:r>
            <a:r>
              <a:rPr lang="en-GB" dirty="0" smtClean="0"/>
              <a:t> </a:t>
            </a:r>
            <a:r>
              <a:rPr lang="en-GB" dirty="0" err="1" smtClean="0"/>
              <a:t>olyan</a:t>
            </a:r>
            <a:r>
              <a:rPr lang="hu-HU" dirty="0" smtClean="0"/>
              <a:t> promptokat</a:t>
            </a:r>
            <a:r>
              <a:rPr lang="en-GB" dirty="0" smtClean="0"/>
              <a:t>, </a:t>
            </a:r>
            <a:r>
              <a:rPr lang="en-GB" dirty="0" err="1" smtClean="0"/>
              <a:t>amely</a:t>
            </a:r>
            <a:r>
              <a:rPr lang="en-GB" dirty="0" smtClean="0"/>
              <a:t> </a:t>
            </a:r>
            <a:r>
              <a:rPr lang="en-GB" dirty="0" err="1" smtClean="0"/>
              <a:t>tartalmaz</a:t>
            </a:r>
            <a:r>
              <a:rPr lang="en-GB" dirty="0" smtClean="0"/>
              <a:t> </a:t>
            </a:r>
            <a:r>
              <a:rPr lang="en-GB" b="1" dirty="0" err="1" smtClean="0"/>
              <a:t>néhány</a:t>
            </a:r>
            <a:r>
              <a:rPr lang="en-GB" b="1" dirty="0" smtClean="0"/>
              <a:t> </a:t>
            </a:r>
            <a:r>
              <a:rPr lang="en-GB" dirty="0" smtClean="0"/>
              <a:t>(</a:t>
            </a:r>
            <a:r>
              <a:rPr lang="en-GB" dirty="0" err="1" smtClean="0"/>
              <a:t>esetleg</a:t>
            </a:r>
            <a:r>
              <a:rPr lang="en-GB" dirty="0" smtClean="0"/>
              <a:t> </a:t>
            </a:r>
            <a:r>
              <a:rPr lang="en-GB" dirty="0" err="1" smtClean="0"/>
              <a:t>csak</a:t>
            </a:r>
            <a:r>
              <a:rPr lang="en-GB" dirty="0" smtClean="0"/>
              <a:t> </a:t>
            </a:r>
            <a:r>
              <a:rPr lang="en-GB" dirty="0" err="1" smtClean="0"/>
              <a:t>egy</a:t>
            </a:r>
            <a:r>
              <a:rPr lang="hu-HU" dirty="0" smtClean="0"/>
              <a:t>, </a:t>
            </a:r>
            <a:r>
              <a:rPr lang="hu-HU" smtClean="0"/>
              <a:t>one-shot</a:t>
            </a:r>
            <a:r>
              <a:rPr lang="en-GB" smtClean="0"/>
              <a:t>)</a:t>
            </a:r>
            <a:r>
              <a:rPr lang="hu-HU" dirty="0" smtClean="0"/>
              <a:t>, </a:t>
            </a:r>
            <a:r>
              <a:rPr lang="en-GB" dirty="0" smtClean="0"/>
              <a:t>a </a:t>
            </a:r>
            <a:r>
              <a:rPr lang="en-GB" b="1" dirty="0" err="1" smtClean="0"/>
              <a:t>megoldandó</a:t>
            </a:r>
            <a:r>
              <a:rPr lang="hu-HU" b="1" dirty="0" smtClean="0"/>
              <a:t>hoz</a:t>
            </a:r>
            <a:r>
              <a:rPr lang="en-GB" b="1" dirty="0" smtClean="0"/>
              <a:t> </a:t>
            </a:r>
            <a:r>
              <a:rPr lang="hu-HU" b="1" dirty="0" smtClean="0"/>
              <a:t>hasonló </a:t>
            </a:r>
            <a:r>
              <a:rPr lang="en-GB" b="1" dirty="0" err="1" smtClean="0"/>
              <a:t>feladat</a:t>
            </a:r>
            <a:r>
              <a:rPr lang="hu-HU" b="1" dirty="0" err="1" smtClean="0"/>
              <a:t>ot</a:t>
            </a:r>
            <a:r>
              <a:rPr lang="en-GB" b="1" dirty="0" smtClean="0"/>
              <a:t> </a:t>
            </a:r>
            <a:r>
              <a:rPr lang="hu-HU" b="1" dirty="0" smtClean="0"/>
              <a:t>annak megoldásával együtt</a:t>
            </a:r>
            <a:r>
              <a:rPr lang="hu-HU" dirty="0" smtClean="0"/>
              <a:t>, majd ezek után </a:t>
            </a:r>
            <a:r>
              <a:rPr lang="hu-HU" b="1" dirty="0" smtClean="0"/>
              <a:t>magának a megoldandó feladatnak </a:t>
            </a:r>
            <a:r>
              <a:rPr lang="hu-HU" dirty="0" smtClean="0"/>
              <a:t>a megnevezését</a:t>
            </a:r>
            <a:r>
              <a:rPr lang="en-GB" dirty="0" smtClean="0"/>
              <a:t>.</a:t>
            </a:r>
          </a:p>
          <a:p>
            <a:pPr lvl="1"/>
            <a:r>
              <a:rPr lang="hu-HU" dirty="0"/>
              <a:t>A modelltől </a:t>
            </a:r>
            <a:r>
              <a:rPr lang="hu-HU" dirty="0" smtClean="0"/>
              <a:t>azt várjuk, </a:t>
            </a:r>
            <a:r>
              <a:rPr lang="hu-HU" dirty="0"/>
              <a:t>hogy a generált folytatásában kövesse a </a:t>
            </a:r>
            <a:r>
              <a:rPr lang="hu-HU" dirty="0" smtClean="0"/>
              <a:t>mellékelt példamegoldások mintáját.</a:t>
            </a:r>
          </a:p>
          <a:p>
            <a:r>
              <a:rPr lang="hu-HU" dirty="0" smtClean="0"/>
              <a:t>A </a:t>
            </a:r>
            <a:r>
              <a:rPr lang="hu-HU" b="1" dirty="0" err="1"/>
              <a:t>zero-shot</a:t>
            </a:r>
            <a:r>
              <a:rPr lang="hu-HU" b="1" dirty="0"/>
              <a:t> prompt</a:t>
            </a:r>
            <a:r>
              <a:rPr lang="hu-HU" dirty="0"/>
              <a:t> </a:t>
            </a:r>
            <a:r>
              <a:rPr lang="hu-HU" b="1" dirty="0" smtClean="0"/>
              <a:t>csak a megoldandó feladat leírását </a:t>
            </a:r>
            <a:r>
              <a:rPr lang="hu-HU" dirty="0" smtClean="0"/>
              <a:t>tartalmazza, mintafeladat-megoldás párokat</a:t>
            </a:r>
            <a:r>
              <a:rPr lang="hu-HU" dirty="0"/>
              <a:t> </a:t>
            </a:r>
            <a:r>
              <a:rPr lang="hu-HU" dirty="0" smtClean="0"/>
              <a:t>nem.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43201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1143000"/>
          </a:xfrm>
        </p:spPr>
        <p:txBody>
          <a:bodyPr>
            <a:normAutofit/>
          </a:bodyPr>
          <a:lstStyle/>
          <a:p>
            <a:r>
              <a:rPr lang="hu-HU" sz="2400" dirty="0" err="1" smtClean="0"/>
              <a:t>Few-shot</a:t>
            </a:r>
            <a:r>
              <a:rPr lang="hu-HU" sz="2400" dirty="0" smtClean="0"/>
              <a:t> példa (forrás: </a:t>
            </a:r>
            <a:r>
              <a:rPr lang="hu-HU" sz="2400" dirty="0" err="1" smtClean="0"/>
              <a:t>Radford</a:t>
            </a:r>
            <a:r>
              <a:rPr lang="hu-HU" sz="2400" dirty="0" smtClean="0"/>
              <a:t> és </a:t>
            </a:r>
            <a:r>
              <a:rPr lang="hu-HU" sz="2400" dirty="0" err="1" smtClean="0"/>
              <a:t>mtsai</a:t>
            </a:r>
            <a:r>
              <a:rPr lang="hu-HU" sz="2400" dirty="0" smtClean="0"/>
              <a:t>., 2019, </a:t>
            </a:r>
            <a:r>
              <a:rPr lang="hu-HU" sz="2400" dirty="0"/>
              <a:t>A</a:t>
            </a:r>
            <a:r>
              <a:rPr lang="hu-HU" sz="2400" dirty="0" smtClean="0"/>
              <a:t>ppendix)</a:t>
            </a:r>
            <a:endParaRPr lang="en-GB" sz="24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980728"/>
            <a:ext cx="7128792" cy="5765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8850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93204" y="116632"/>
            <a:ext cx="8229600" cy="1143000"/>
          </a:xfrm>
        </p:spPr>
        <p:txBody>
          <a:bodyPr>
            <a:normAutofit/>
          </a:bodyPr>
          <a:lstStyle/>
          <a:p>
            <a:r>
              <a:rPr lang="hu-HU" sz="3600" dirty="0" err="1" smtClean="0"/>
              <a:t>Few-shot</a:t>
            </a:r>
            <a:r>
              <a:rPr lang="hu-HU" sz="3600" dirty="0" smtClean="0"/>
              <a:t> tanulás</a:t>
            </a:r>
            <a:endParaRPr lang="en-GB" sz="36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98376" y="1124744"/>
            <a:ext cx="8219256" cy="2016224"/>
          </a:xfrm>
        </p:spPr>
        <p:txBody>
          <a:bodyPr>
            <a:normAutofit fontScale="47500" lnSpcReduction="20000"/>
          </a:bodyPr>
          <a:lstStyle/>
          <a:p>
            <a:r>
              <a:rPr lang="hu-HU" dirty="0" smtClean="0"/>
              <a:t>Brown et </a:t>
            </a:r>
            <a:r>
              <a:rPr lang="hu-HU" dirty="0" err="1" smtClean="0"/>
              <a:t>al</a:t>
            </a:r>
            <a:r>
              <a:rPr lang="hu-HU" dirty="0" smtClean="0"/>
              <a:t>., 2020, </a:t>
            </a:r>
            <a:r>
              <a:rPr lang="hu-HU" dirty="0"/>
              <a:t>megfigyelte, hogy </a:t>
            </a:r>
            <a:r>
              <a:rPr lang="hu-HU" dirty="0" smtClean="0"/>
              <a:t>a nagy nyelvmodellek</a:t>
            </a:r>
            <a:r>
              <a:rPr lang="hu-HU" dirty="0"/>
              <a:t>, mint a GPT-3, </a:t>
            </a:r>
            <a:r>
              <a:rPr lang="hu-HU" dirty="0" smtClean="0"/>
              <a:t>válaszainak minősége </a:t>
            </a:r>
            <a:r>
              <a:rPr lang="hu-HU" b="1" dirty="0" smtClean="0"/>
              <a:t>jelentősen javul </a:t>
            </a:r>
            <a:r>
              <a:rPr lang="hu-HU" b="1" dirty="0" err="1" smtClean="0"/>
              <a:t>few-shot</a:t>
            </a:r>
            <a:r>
              <a:rPr lang="hu-HU" b="1" dirty="0" smtClean="0"/>
              <a:t> promptok </a:t>
            </a:r>
            <a:r>
              <a:rPr lang="hu-HU" dirty="0" smtClean="0"/>
              <a:t>hatására.</a:t>
            </a:r>
          </a:p>
          <a:p>
            <a:pPr lvl="1"/>
            <a:r>
              <a:rPr lang="hu-HU" dirty="0"/>
              <a:t>Ahelyett, hogy </a:t>
            </a:r>
            <a:r>
              <a:rPr lang="hu-HU" dirty="0" err="1" smtClean="0"/>
              <a:t>finomhangolnánk</a:t>
            </a:r>
            <a:r>
              <a:rPr lang="hu-HU" dirty="0" smtClean="0"/>
              <a:t> </a:t>
            </a:r>
            <a:r>
              <a:rPr lang="hu-HU" dirty="0"/>
              <a:t>a modellt egy adott feladatra, gyakran elegendő </a:t>
            </a:r>
            <a:r>
              <a:rPr lang="hu-HU" dirty="0" err="1" smtClean="0"/>
              <a:t>few-shot</a:t>
            </a:r>
            <a:r>
              <a:rPr lang="hu-HU" dirty="0" smtClean="0"/>
              <a:t> </a:t>
            </a:r>
            <a:r>
              <a:rPr lang="hu-HU" dirty="0"/>
              <a:t>promptot írni, amely tartalmaz néhány </a:t>
            </a:r>
            <a:r>
              <a:rPr lang="hu-HU" dirty="0" smtClean="0"/>
              <a:t>példamegoldást annak bemutatására, hogyan oldjon meg a modell egy </a:t>
            </a:r>
            <a:r>
              <a:rPr lang="hu-HU" dirty="0"/>
              <a:t>nagyon hasonló </a:t>
            </a:r>
            <a:r>
              <a:rPr lang="hu-HU" dirty="0" smtClean="0"/>
              <a:t>feladatot </a:t>
            </a:r>
            <a:r>
              <a:rPr lang="hu-HU" dirty="0"/>
              <a:t>más </a:t>
            </a:r>
            <a:r>
              <a:rPr lang="hu-HU" dirty="0" smtClean="0"/>
              <a:t>bemenetekkel.</a:t>
            </a:r>
          </a:p>
          <a:p>
            <a:pPr lvl="1"/>
            <a:r>
              <a:rPr lang="hu-HU" dirty="0" smtClean="0"/>
              <a:t>Már a </a:t>
            </a:r>
            <a:r>
              <a:rPr lang="hu-HU" b="1" dirty="0" err="1" smtClean="0"/>
              <a:t>one-shot</a:t>
            </a:r>
            <a:r>
              <a:rPr lang="hu-HU" b="1" dirty="0" smtClean="0"/>
              <a:t> </a:t>
            </a:r>
            <a:r>
              <a:rPr lang="hu-HU" b="1" dirty="0"/>
              <a:t>prompt</a:t>
            </a:r>
            <a:r>
              <a:rPr lang="hu-HU" dirty="0"/>
              <a:t> is </a:t>
            </a:r>
            <a:r>
              <a:rPr lang="hu-HU" dirty="0" smtClean="0"/>
              <a:t>számottevően javítja </a:t>
            </a:r>
            <a:r>
              <a:rPr lang="hu-HU" dirty="0"/>
              <a:t>a folytatás pontosságát, de minél több a példa, annál </a:t>
            </a:r>
            <a:r>
              <a:rPr lang="hu-HU" dirty="0" smtClean="0"/>
              <a:t>jobb.</a:t>
            </a:r>
          </a:p>
          <a:p>
            <a:r>
              <a:rPr lang="en-GB" dirty="0" err="1"/>
              <a:t>Ezt</a:t>
            </a:r>
            <a:r>
              <a:rPr lang="en-GB" dirty="0"/>
              <a:t> </a:t>
            </a:r>
            <a:r>
              <a:rPr lang="en-GB" b="1" dirty="0"/>
              <a:t>few-shot </a:t>
            </a:r>
            <a:r>
              <a:rPr lang="hu-HU" b="1" dirty="0" smtClean="0"/>
              <a:t>tanulásnak </a:t>
            </a:r>
            <a:r>
              <a:rPr lang="en-GB" dirty="0" err="1" smtClean="0"/>
              <a:t>nevezik</a:t>
            </a:r>
            <a:r>
              <a:rPr lang="hu-HU" dirty="0" smtClean="0"/>
              <a:t> (szinonimája: </a:t>
            </a:r>
            <a:r>
              <a:rPr lang="hu-HU" dirty="0" err="1" smtClean="0"/>
              <a:t>in-context</a:t>
            </a:r>
            <a:r>
              <a:rPr lang="hu-HU" dirty="0" smtClean="0"/>
              <a:t> </a:t>
            </a:r>
            <a:r>
              <a:rPr lang="hu-HU" dirty="0" err="1" smtClean="0"/>
              <a:t>learning</a:t>
            </a:r>
            <a:r>
              <a:rPr lang="hu-HU" dirty="0" smtClean="0"/>
              <a:t>).</a:t>
            </a:r>
          </a:p>
          <a:p>
            <a:pPr lvl="1"/>
            <a:r>
              <a:rPr lang="hu-HU" dirty="0" smtClean="0"/>
              <a:t>Eléggé félrevezető „tanulásnak” hívni, </a:t>
            </a:r>
            <a:r>
              <a:rPr lang="hu-HU" dirty="0"/>
              <a:t>a modell súlyai nem változnak</a:t>
            </a:r>
            <a:r>
              <a:rPr lang="hu-HU" dirty="0" smtClean="0"/>
              <a:t>.</a:t>
            </a:r>
          </a:p>
          <a:p>
            <a:pPr lvl="1"/>
            <a:r>
              <a:rPr lang="en-GB" dirty="0"/>
              <a:t>A </a:t>
            </a:r>
            <a:r>
              <a:rPr lang="en-GB" dirty="0" err="1"/>
              <a:t>teljesítményjavulás</a:t>
            </a:r>
            <a:r>
              <a:rPr lang="en-GB" dirty="0"/>
              <a:t> </a:t>
            </a:r>
            <a:r>
              <a:rPr lang="en-GB" dirty="0" err="1"/>
              <a:t>az</a:t>
            </a:r>
            <a:r>
              <a:rPr lang="en-GB" dirty="0"/>
              <a:t> </a:t>
            </a:r>
            <a:r>
              <a:rPr lang="en-GB" dirty="0" err="1"/>
              <a:t>aktuális</a:t>
            </a:r>
            <a:r>
              <a:rPr lang="en-GB" dirty="0"/>
              <a:t> </a:t>
            </a:r>
            <a:r>
              <a:rPr lang="en-GB" dirty="0" err="1"/>
              <a:t>bemenet</a:t>
            </a:r>
            <a:r>
              <a:rPr lang="en-GB" dirty="0"/>
              <a:t> </a:t>
            </a:r>
            <a:r>
              <a:rPr lang="en-GB" dirty="0" err="1"/>
              <a:t>kontextusára</a:t>
            </a:r>
            <a:r>
              <a:rPr lang="en-GB" dirty="0"/>
              <a:t> </a:t>
            </a:r>
            <a:r>
              <a:rPr lang="en-GB" dirty="0" err="1"/>
              <a:t>korlátozódik</a:t>
            </a:r>
            <a:r>
              <a:rPr lang="en-GB" dirty="0"/>
              <a:t>, a few-shot </a:t>
            </a:r>
            <a:r>
              <a:rPr lang="en-GB" dirty="0" err="1"/>
              <a:t>példákat</a:t>
            </a:r>
            <a:r>
              <a:rPr lang="en-GB" dirty="0"/>
              <a:t> </a:t>
            </a:r>
            <a:r>
              <a:rPr lang="en-GB" dirty="0" err="1"/>
              <a:t>minden</a:t>
            </a:r>
            <a:r>
              <a:rPr lang="en-GB" dirty="0"/>
              <a:t> </a:t>
            </a:r>
            <a:r>
              <a:rPr lang="en-GB" dirty="0" err="1"/>
              <a:t>alkalommal</a:t>
            </a:r>
            <a:r>
              <a:rPr lang="en-GB" dirty="0"/>
              <a:t> </a:t>
            </a:r>
            <a:r>
              <a:rPr lang="en-GB" dirty="0" err="1"/>
              <a:t>bele</a:t>
            </a:r>
            <a:r>
              <a:rPr lang="en-GB" dirty="0"/>
              <a:t> </a:t>
            </a:r>
            <a:r>
              <a:rPr lang="en-GB" dirty="0" err="1"/>
              <a:t>kell</a:t>
            </a:r>
            <a:r>
              <a:rPr lang="en-GB" dirty="0"/>
              <a:t> </a:t>
            </a:r>
            <a:r>
              <a:rPr lang="en-GB" dirty="0" err="1"/>
              <a:t>foglalni</a:t>
            </a:r>
            <a:r>
              <a:rPr lang="en-GB" dirty="0"/>
              <a:t> a </a:t>
            </a:r>
            <a:r>
              <a:rPr lang="en-GB" dirty="0" err="1"/>
              <a:t>promptba</a:t>
            </a:r>
            <a:r>
              <a:rPr lang="en-GB" dirty="0"/>
              <a:t>, </a:t>
            </a:r>
            <a:r>
              <a:rPr lang="en-GB" dirty="0" err="1"/>
              <a:t>amikor</a:t>
            </a:r>
            <a:r>
              <a:rPr lang="en-GB" dirty="0"/>
              <a:t> </a:t>
            </a:r>
            <a:r>
              <a:rPr lang="en-GB" dirty="0" err="1"/>
              <a:t>hasonló</a:t>
            </a:r>
            <a:r>
              <a:rPr lang="en-GB" dirty="0"/>
              <a:t> </a:t>
            </a:r>
            <a:r>
              <a:rPr lang="en-GB" dirty="0" err="1"/>
              <a:t>feladatot</a:t>
            </a:r>
            <a:r>
              <a:rPr lang="en-GB" dirty="0"/>
              <a:t> </a:t>
            </a:r>
            <a:r>
              <a:rPr lang="hu-HU" dirty="0" smtClean="0"/>
              <a:t>akarunk </a:t>
            </a:r>
            <a:r>
              <a:rPr lang="en-GB" dirty="0" err="1" smtClean="0"/>
              <a:t>megolda</a:t>
            </a:r>
            <a:r>
              <a:rPr lang="hu-HU" dirty="0" smtClean="0"/>
              <a:t>t</a:t>
            </a:r>
            <a:r>
              <a:rPr lang="en-GB" dirty="0" err="1" smtClean="0"/>
              <a:t>ni</a:t>
            </a:r>
            <a:r>
              <a:rPr lang="hu-HU" dirty="0" smtClean="0"/>
              <a:t>.</a:t>
            </a:r>
            <a:endParaRPr lang="en-GB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3212976"/>
            <a:ext cx="6120680" cy="3526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35563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hu-HU" sz="3600" dirty="0"/>
              <a:t>Az </a:t>
            </a:r>
            <a:r>
              <a:rPr lang="hu-HU" sz="3600" dirty="0" smtClean="0"/>
              <a:t>előtanított </a:t>
            </a:r>
            <a:r>
              <a:rPr lang="hu-HU" sz="3600" dirty="0"/>
              <a:t>generatív </a:t>
            </a:r>
            <a:r>
              <a:rPr lang="hu-HU" sz="3600" dirty="0" smtClean="0"/>
              <a:t>nyelvmodellek </a:t>
            </a:r>
            <a:r>
              <a:rPr lang="hu-HU" sz="3600" dirty="0"/>
              <a:t>nem </a:t>
            </a:r>
            <a:r>
              <a:rPr lang="hu-HU" sz="3600" dirty="0" smtClean="0"/>
              <a:t>beszélgetést szimulálnak</a:t>
            </a:r>
            <a:endParaRPr lang="en-GB" sz="36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hu-HU" dirty="0" smtClean="0"/>
              <a:t>Az előtanított </a:t>
            </a:r>
            <a:r>
              <a:rPr lang="hu-HU" dirty="0"/>
              <a:t>generatív </a:t>
            </a:r>
            <a:r>
              <a:rPr lang="hu-HU" dirty="0" smtClean="0"/>
              <a:t>nyelvmodellek </a:t>
            </a:r>
            <a:r>
              <a:rPr lang="hu-HU" dirty="0"/>
              <a:t>csak egy </a:t>
            </a:r>
            <a:r>
              <a:rPr lang="hu-HU" b="1" dirty="0"/>
              <a:t>szöveg folytatását </a:t>
            </a:r>
            <a:r>
              <a:rPr lang="hu-HU" b="1" dirty="0" smtClean="0"/>
              <a:t>jósolják meg</a:t>
            </a:r>
            <a:r>
              <a:rPr lang="hu-HU" dirty="0" smtClean="0"/>
              <a:t>, </a:t>
            </a:r>
            <a:r>
              <a:rPr lang="hu-HU" dirty="0"/>
              <a:t>nem beszélgetőtársként </a:t>
            </a:r>
            <a:r>
              <a:rPr lang="hu-HU" dirty="0" smtClean="0"/>
              <a:t>viselkednek.</a:t>
            </a:r>
            <a:endParaRPr lang="hu-HU" dirty="0"/>
          </a:p>
          <a:p>
            <a:r>
              <a:rPr lang="hu-HU" dirty="0" smtClean="0"/>
              <a:t>Tipikus példa: kérdést teszünk fel a promptban.</a:t>
            </a:r>
          </a:p>
          <a:p>
            <a:pPr lvl="1"/>
            <a:r>
              <a:rPr lang="hu-HU" dirty="0" smtClean="0"/>
              <a:t>Azt várhatnánk, hogy a nyelvmodell válaszolni fog rá.</a:t>
            </a:r>
          </a:p>
          <a:p>
            <a:pPr lvl="1"/>
            <a:r>
              <a:rPr lang="hu-HU" dirty="0" smtClean="0"/>
              <a:t>De a</a:t>
            </a:r>
            <a:r>
              <a:rPr lang="en-GB" dirty="0" smtClean="0"/>
              <a:t> </a:t>
            </a:r>
            <a:r>
              <a:rPr lang="en-GB" dirty="0" err="1"/>
              <a:t>valódi</a:t>
            </a:r>
            <a:r>
              <a:rPr lang="en-GB" dirty="0"/>
              <a:t> </a:t>
            </a:r>
            <a:r>
              <a:rPr lang="en-GB" dirty="0" err="1"/>
              <a:t>szövegekben</a:t>
            </a:r>
            <a:r>
              <a:rPr lang="en-GB" dirty="0"/>
              <a:t> </a:t>
            </a:r>
            <a:r>
              <a:rPr lang="en-GB" dirty="0" err="1" smtClean="0"/>
              <a:t>egy</a:t>
            </a:r>
            <a:r>
              <a:rPr lang="en-GB" dirty="0" smtClean="0"/>
              <a:t> </a:t>
            </a:r>
            <a:r>
              <a:rPr lang="en-GB" dirty="0" err="1" smtClean="0"/>
              <a:t>kérdést</a:t>
            </a:r>
            <a:r>
              <a:rPr lang="en-GB" dirty="0" smtClean="0"/>
              <a:t> </a:t>
            </a:r>
            <a:r>
              <a:rPr lang="en-GB" dirty="0" err="1"/>
              <a:t>általában</a:t>
            </a:r>
            <a:r>
              <a:rPr lang="en-GB" dirty="0"/>
              <a:t> </a:t>
            </a:r>
            <a:r>
              <a:rPr lang="en-GB" b="1" dirty="0" err="1"/>
              <a:t>nem</a:t>
            </a:r>
            <a:r>
              <a:rPr lang="en-GB" b="1" dirty="0"/>
              <a:t> </a:t>
            </a:r>
            <a:r>
              <a:rPr lang="en-GB" dirty="0"/>
              <a:t>a </a:t>
            </a:r>
            <a:r>
              <a:rPr lang="en-GB" dirty="0" err="1"/>
              <a:t>kérdésre</a:t>
            </a:r>
            <a:r>
              <a:rPr lang="en-GB" dirty="0"/>
              <a:t> </a:t>
            </a:r>
            <a:r>
              <a:rPr lang="en-GB" dirty="0" err="1"/>
              <a:t>adott</a:t>
            </a:r>
            <a:r>
              <a:rPr lang="en-GB" dirty="0"/>
              <a:t> </a:t>
            </a:r>
            <a:r>
              <a:rPr lang="en-GB" dirty="0" err="1"/>
              <a:t>válasz</a:t>
            </a:r>
            <a:r>
              <a:rPr lang="en-GB" dirty="0"/>
              <a:t> </a:t>
            </a:r>
            <a:r>
              <a:rPr lang="en-GB" dirty="0" err="1"/>
              <a:t>követ</a:t>
            </a:r>
            <a:r>
              <a:rPr lang="en-GB" dirty="0"/>
              <a:t>.</a:t>
            </a:r>
          </a:p>
          <a:p>
            <a:pPr lvl="2"/>
            <a:r>
              <a:rPr lang="hu-HU" dirty="0"/>
              <a:t>Sokkal gyakrabban a következő mondat egy másik kérdés lesz, vagy valamilyen minősítést vagy kontextust ad </a:t>
            </a:r>
            <a:r>
              <a:rPr lang="hu-HU" dirty="0" smtClean="0"/>
              <a:t>hozzá az </a:t>
            </a:r>
            <a:r>
              <a:rPr lang="hu-HU" dirty="0"/>
              <a:t>eredeti kérdéshez.</a:t>
            </a:r>
          </a:p>
          <a:p>
            <a:pPr lvl="1"/>
            <a:r>
              <a:rPr lang="hu-HU" dirty="0"/>
              <a:t>Mivel </a:t>
            </a:r>
            <a:r>
              <a:rPr lang="hu-HU" dirty="0" smtClean="0"/>
              <a:t>a </a:t>
            </a:r>
            <a:r>
              <a:rPr lang="hu-HU" dirty="0"/>
              <a:t>generatív </a:t>
            </a:r>
            <a:r>
              <a:rPr lang="hu-HU" dirty="0" smtClean="0"/>
              <a:t>nyelvmodell az előtanítás során azt tanulja meg, hogyan </a:t>
            </a:r>
            <a:r>
              <a:rPr lang="hu-HU" dirty="0"/>
              <a:t>folytassa a </a:t>
            </a:r>
            <a:r>
              <a:rPr lang="hu-HU" dirty="0" smtClean="0"/>
              <a:t>bemenetet </a:t>
            </a:r>
            <a:r>
              <a:rPr lang="hu-HU" b="1" dirty="0" smtClean="0"/>
              <a:t>úgy, </a:t>
            </a:r>
            <a:r>
              <a:rPr lang="hu-HU" b="1" dirty="0"/>
              <a:t>mintha a bemenet </a:t>
            </a:r>
            <a:r>
              <a:rPr lang="hu-HU" b="1" dirty="0" smtClean="0"/>
              <a:t>és a generált folytatás a tanítókorpuszának </a:t>
            </a:r>
            <a:r>
              <a:rPr lang="hu-HU" b="1" dirty="0"/>
              <a:t>része lenne</a:t>
            </a:r>
            <a:r>
              <a:rPr lang="hu-HU" dirty="0"/>
              <a:t>, </a:t>
            </a:r>
            <a:r>
              <a:rPr lang="hu-HU" dirty="0" smtClean="0"/>
              <a:t>a modell </a:t>
            </a:r>
            <a:r>
              <a:rPr lang="hu-HU" b="1" dirty="0" smtClean="0"/>
              <a:t>lehet</a:t>
            </a:r>
            <a:r>
              <a:rPr lang="hu-HU" dirty="0" smtClean="0"/>
              <a:t>, hogy a kérdést a rá adandó lehetséges válasszal folytatja, </a:t>
            </a:r>
            <a:r>
              <a:rPr lang="hu-HU" dirty="0"/>
              <a:t>de sokkal gyakrabban egy ésszerű minősítéssel vagy egy </a:t>
            </a:r>
            <a:r>
              <a:rPr lang="hu-HU" dirty="0" smtClean="0"/>
              <a:t>kapcsolódó kérdéssel folytatja.</a:t>
            </a:r>
            <a:endParaRPr lang="hu-HU" dirty="0"/>
          </a:p>
          <a:p>
            <a:r>
              <a:rPr lang="en-GB" dirty="0"/>
              <a:t>A </a:t>
            </a:r>
            <a:r>
              <a:rPr lang="en-GB" b="1" dirty="0"/>
              <a:t>few-shot </a:t>
            </a:r>
            <a:r>
              <a:rPr lang="en-GB" b="1" dirty="0" smtClean="0"/>
              <a:t>prompt</a:t>
            </a:r>
            <a:r>
              <a:rPr lang="hu-HU" b="1" dirty="0" err="1" smtClean="0"/>
              <a:t>olás</a:t>
            </a:r>
            <a:r>
              <a:rPr lang="en-GB" b="1" dirty="0" smtClean="0"/>
              <a:t> </a:t>
            </a:r>
            <a:r>
              <a:rPr lang="en-GB" dirty="0" smtClean="0"/>
              <a:t>(</a:t>
            </a:r>
            <a:r>
              <a:rPr lang="hu-HU" dirty="0" smtClean="0"/>
              <a:t>adott esetben </a:t>
            </a:r>
            <a:r>
              <a:rPr lang="en-GB" dirty="0" err="1" smtClean="0"/>
              <a:t>több</a:t>
            </a:r>
            <a:r>
              <a:rPr lang="en-GB" dirty="0" smtClean="0"/>
              <a:t> </a:t>
            </a:r>
            <a:r>
              <a:rPr lang="en-GB" dirty="0" err="1"/>
              <a:t>kérdés-válasz</a:t>
            </a:r>
            <a:r>
              <a:rPr lang="en-GB" dirty="0"/>
              <a:t> </a:t>
            </a:r>
            <a:r>
              <a:rPr lang="en-GB" dirty="0" err="1"/>
              <a:t>pár</a:t>
            </a:r>
            <a:r>
              <a:rPr lang="en-GB" dirty="0"/>
              <a:t> </a:t>
            </a:r>
            <a:r>
              <a:rPr lang="en-GB" dirty="0" err="1"/>
              <a:t>elhelyezése</a:t>
            </a:r>
            <a:r>
              <a:rPr lang="en-GB" dirty="0"/>
              <a:t> a </a:t>
            </a:r>
            <a:r>
              <a:rPr lang="en-GB" dirty="0" err="1"/>
              <a:t>promptban</a:t>
            </a:r>
            <a:r>
              <a:rPr lang="en-GB" dirty="0"/>
              <a:t>) </a:t>
            </a:r>
            <a:r>
              <a:rPr lang="en-GB" b="1" dirty="0" err="1"/>
              <a:t>segít</a:t>
            </a:r>
            <a:r>
              <a:rPr lang="en-GB" dirty="0"/>
              <a:t> </a:t>
            </a:r>
            <a:r>
              <a:rPr lang="hu-HU" dirty="0" smtClean="0"/>
              <a:t>elérni azt</a:t>
            </a:r>
            <a:r>
              <a:rPr lang="en-GB" dirty="0" smtClean="0"/>
              <a:t>, </a:t>
            </a:r>
            <a:r>
              <a:rPr lang="en-GB" dirty="0" err="1"/>
              <a:t>hogy</a:t>
            </a:r>
            <a:r>
              <a:rPr lang="en-GB" dirty="0"/>
              <a:t> a </a:t>
            </a:r>
            <a:r>
              <a:rPr lang="en-GB" dirty="0" err="1"/>
              <a:t>kérdést</a:t>
            </a:r>
            <a:r>
              <a:rPr lang="en-GB" dirty="0"/>
              <a:t> </a:t>
            </a:r>
            <a:r>
              <a:rPr lang="en-GB" dirty="0" err="1"/>
              <a:t>válasszal</a:t>
            </a:r>
            <a:r>
              <a:rPr lang="en-GB" dirty="0"/>
              <a:t> </a:t>
            </a:r>
            <a:r>
              <a:rPr lang="hu-HU" dirty="0" smtClean="0"/>
              <a:t>folytassa</a:t>
            </a:r>
            <a:r>
              <a:rPr lang="en-GB" dirty="0" smtClean="0"/>
              <a:t>.</a:t>
            </a:r>
            <a:endParaRPr lang="en-GB" dirty="0"/>
          </a:p>
          <a:p>
            <a:pPr lvl="1"/>
            <a:r>
              <a:rPr lang="en-GB" dirty="0"/>
              <a:t>De </a:t>
            </a:r>
            <a:r>
              <a:rPr lang="en-GB" dirty="0" err="1"/>
              <a:t>ez</a:t>
            </a:r>
            <a:r>
              <a:rPr lang="en-GB" dirty="0"/>
              <a:t> </a:t>
            </a:r>
            <a:r>
              <a:rPr lang="en-GB" dirty="0" err="1"/>
              <a:t>nyilvánvalóan</a:t>
            </a:r>
            <a:r>
              <a:rPr lang="en-GB" dirty="0"/>
              <a:t> </a:t>
            </a:r>
            <a:r>
              <a:rPr lang="en-GB" dirty="0" err="1"/>
              <a:t>nehézkes</a:t>
            </a:r>
            <a:r>
              <a:rPr lang="en-GB" dirty="0"/>
              <a:t>, </a:t>
            </a:r>
            <a:r>
              <a:rPr lang="en-GB" dirty="0" err="1"/>
              <a:t>nem</a:t>
            </a:r>
            <a:r>
              <a:rPr lang="en-GB" dirty="0"/>
              <a:t> </a:t>
            </a:r>
            <a:r>
              <a:rPr lang="en-GB" dirty="0" err="1"/>
              <a:t>ideális</a:t>
            </a:r>
            <a:r>
              <a:rPr lang="en-GB" dirty="0"/>
              <a:t> </a:t>
            </a:r>
            <a:r>
              <a:rPr lang="en-GB" dirty="0" err="1"/>
              <a:t>megoldás</a:t>
            </a:r>
            <a:r>
              <a:rPr lang="en-GB" dirty="0" smtClean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309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Utasításhangolás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37112"/>
          </a:xfrm>
        </p:spPr>
        <p:txBody>
          <a:bodyPr>
            <a:normAutofit fontScale="55000" lnSpcReduction="20000"/>
          </a:bodyPr>
          <a:lstStyle/>
          <a:p>
            <a:r>
              <a:rPr lang="hu-HU" dirty="0"/>
              <a:t>Az </a:t>
            </a:r>
            <a:r>
              <a:rPr lang="hu-HU" dirty="0" smtClean="0"/>
              <a:t>előtanított </a:t>
            </a:r>
            <a:r>
              <a:rPr lang="hu-HU" dirty="0"/>
              <a:t>generatív </a:t>
            </a:r>
            <a:r>
              <a:rPr lang="hu-HU" dirty="0" smtClean="0"/>
              <a:t>nyelvmodelleket</a:t>
            </a:r>
            <a:r>
              <a:rPr lang="hu-HU" dirty="0"/>
              <a:t>, mint </a:t>
            </a:r>
            <a:r>
              <a:rPr lang="hu-HU" dirty="0" smtClean="0"/>
              <a:t>amilyen a </a:t>
            </a:r>
            <a:r>
              <a:rPr lang="hu-HU" dirty="0" err="1" smtClean="0"/>
              <a:t>GPT</a:t>
            </a:r>
            <a:r>
              <a:rPr lang="hu-HU" dirty="0" smtClean="0"/>
              <a:t>, </a:t>
            </a:r>
            <a:r>
              <a:rPr lang="hu-HU" b="1" dirty="0" err="1"/>
              <a:t>finomhangolni</a:t>
            </a:r>
            <a:r>
              <a:rPr lang="hu-HU" dirty="0"/>
              <a:t> </a:t>
            </a:r>
            <a:r>
              <a:rPr lang="hu-HU" dirty="0" smtClean="0"/>
              <a:t>kell ahhoz, </a:t>
            </a:r>
            <a:r>
              <a:rPr lang="hu-HU" dirty="0"/>
              <a:t>hogy </a:t>
            </a:r>
            <a:r>
              <a:rPr lang="hu-HU" b="1" dirty="0"/>
              <a:t>úgy válaszoljanak, mint egy emberi beszélgetőpartner</a:t>
            </a:r>
            <a:r>
              <a:rPr lang="hu-HU" dirty="0"/>
              <a:t>, </a:t>
            </a:r>
            <a:r>
              <a:rPr lang="hu-HU" dirty="0" smtClean="0"/>
              <a:t>illetve inkább egy </a:t>
            </a:r>
            <a:r>
              <a:rPr lang="hu-HU" b="1" dirty="0"/>
              <a:t>segítőkész </a:t>
            </a:r>
            <a:r>
              <a:rPr lang="hu-HU" b="1" dirty="0" err="1"/>
              <a:t>M</a:t>
            </a:r>
            <a:r>
              <a:rPr lang="hu-HU" b="1" dirty="0" err="1" smtClean="0"/>
              <a:t>I-asszisztens</a:t>
            </a:r>
            <a:r>
              <a:rPr lang="hu-HU" dirty="0"/>
              <a:t>.</a:t>
            </a:r>
          </a:p>
          <a:p>
            <a:pPr lvl="1"/>
            <a:r>
              <a:rPr lang="hu-HU" dirty="0"/>
              <a:t>Ha valaha </a:t>
            </a:r>
            <a:r>
              <a:rPr lang="hu-HU" dirty="0" smtClean="0"/>
              <a:t>beszélgettünk már random idegenekkel </a:t>
            </a:r>
            <a:r>
              <a:rPr lang="hu-HU" dirty="0"/>
              <a:t>a </a:t>
            </a:r>
            <a:r>
              <a:rPr lang="hu-HU" dirty="0" err="1"/>
              <a:t>Facebookon</a:t>
            </a:r>
            <a:r>
              <a:rPr lang="hu-HU" dirty="0"/>
              <a:t>, </a:t>
            </a:r>
            <a:r>
              <a:rPr lang="hu-HU" dirty="0" smtClean="0"/>
              <a:t>pontosan tudjuk, </a:t>
            </a:r>
            <a:r>
              <a:rPr lang="hu-HU" dirty="0"/>
              <a:t>hogy </a:t>
            </a:r>
            <a:r>
              <a:rPr lang="hu-HU" b="1" dirty="0"/>
              <a:t>nem</a:t>
            </a:r>
            <a:r>
              <a:rPr lang="hu-HU" dirty="0"/>
              <a:t> </a:t>
            </a:r>
            <a:r>
              <a:rPr lang="hu-HU" dirty="0" smtClean="0"/>
              <a:t>szeretnénk, hogy a </a:t>
            </a:r>
            <a:r>
              <a:rPr lang="hu-HU" dirty="0"/>
              <a:t>modell úgy válaszoljon, mint egy igazi ember.</a:t>
            </a:r>
          </a:p>
          <a:p>
            <a:pPr lvl="1"/>
            <a:r>
              <a:rPr lang="hu-HU" dirty="0" smtClean="0"/>
              <a:t>Szokás beírni a modell </a:t>
            </a:r>
            <a:r>
              <a:rPr lang="hu-HU" dirty="0"/>
              <a:t>(</a:t>
            </a:r>
            <a:r>
              <a:rPr lang="hu-HU" dirty="0" smtClean="0"/>
              <a:t>rendszer)promptjába, hogy „</a:t>
            </a:r>
            <a:r>
              <a:rPr lang="hu-HU" i="1" dirty="0" err="1" smtClean="0"/>
              <a:t>You</a:t>
            </a:r>
            <a:r>
              <a:rPr lang="hu-HU" i="1" dirty="0" smtClean="0"/>
              <a:t> </a:t>
            </a:r>
            <a:r>
              <a:rPr lang="hu-HU" i="1" dirty="0" err="1"/>
              <a:t>are</a:t>
            </a:r>
            <a:r>
              <a:rPr lang="hu-HU" i="1" dirty="0"/>
              <a:t> a </a:t>
            </a:r>
            <a:r>
              <a:rPr lang="hu-HU" i="1" dirty="0" err="1"/>
              <a:t>helpful</a:t>
            </a:r>
            <a:r>
              <a:rPr lang="hu-HU" i="1" dirty="0"/>
              <a:t> </a:t>
            </a:r>
            <a:r>
              <a:rPr lang="hu-HU" i="1" dirty="0" err="1"/>
              <a:t>AI</a:t>
            </a:r>
            <a:r>
              <a:rPr lang="hu-HU" i="1" dirty="0"/>
              <a:t> </a:t>
            </a:r>
            <a:r>
              <a:rPr lang="hu-HU" i="1" dirty="0" err="1" smtClean="0"/>
              <a:t>assistant</a:t>
            </a:r>
            <a:r>
              <a:rPr lang="hu-HU" dirty="0" smtClean="0"/>
              <a:t>”, </a:t>
            </a:r>
            <a:r>
              <a:rPr lang="hu-HU" dirty="0"/>
              <a:t>de </a:t>
            </a:r>
            <a:r>
              <a:rPr lang="hu-HU" b="1" dirty="0" smtClean="0"/>
              <a:t>butaság azt </a:t>
            </a:r>
            <a:r>
              <a:rPr lang="hu-HU" b="1" dirty="0"/>
              <a:t>hinni, hogy ezzel bármit is </a:t>
            </a:r>
            <a:r>
              <a:rPr lang="hu-HU" b="1" dirty="0" smtClean="0"/>
              <a:t>elérünk</a:t>
            </a:r>
            <a:r>
              <a:rPr lang="hu-HU" dirty="0" smtClean="0"/>
              <a:t>.</a:t>
            </a:r>
          </a:p>
          <a:p>
            <a:pPr lvl="2"/>
            <a:r>
              <a:rPr lang="hu-HU" dirty="0"/>
              <a:t>Egy </a:t>
            </a:r>
            <a:r>
              <a:rPr lang="hu-HU" dirty="0" err="1"/>
              <a:t>GPT</a:t>
            </a:r>
            <a:r>
              <a:rPr lang="hu-HU" dirty="0"/>
              <a:t> modell ezt </a:t>
            </a:r>
            <a:r>
              <a:rPr lang="hu-HU" dirty="0" smtClean="0"/>
              <a:t>nem tényállításként </a:t>
            </a:r>
            <a:r>
              <a:rPr lang="hu-HU" dirty="0"/>
              <a:t>vagy </a:t>
            </a:r>
            <a:r>
              <a:rPr lang="hu-HU" dirty="0" smtClean="0"/>
              <a:t>parancsként értelmezi, hanem csak olyan mondatként, </a:t>
            </a:r>
            <a:r>
              <a:rPr lang="hu-HU" dirty="0"/>
              <a:t>amelyet ésszerűen </a:t>
            </a:r>
            <a:r>
              <a:rPr lang="hu-HU" dirty="0" smtClean="0"/>
              <a:t>folytatnia </a:t>
            </a:r>
            <a:r>
              <a:rPr lang="hu-HU" dirty="0"/>
              <a:t>kell.</a:t>
            </a:r>
          </a:p>
          <a:p>
            <a:pPr lvl="2"/>
            <a:r>
              <a:rPr lang="hu-HU" dirty="0" smtClean="0"/>
              <a:t>Az, hogy </a:t>
            </a:r>
            <a:r>
              <a:rPr lang="hu-HU" dirty="0"/>
              <a:t>„Nem, </a:t>
            </a:r>
            <a:r>
              <a:rPr lang="hu-HU" dirty="0" err="1"/>
              <a:t>nem</a:t>
            </a:r>
            <a:r>
              <a:rPr lang="hu-HU" dirty="0"/>
              <a:t> vagyok </a:t>
            </a:r>
            <a:r>
              <a:rPr lang="hu-HU" dirty="0" smtClean="0"/>
              <a:t>az” </a:t>
            </a:r>
            <a:r>
              <a:rPr lang="hu-HU" dirty="0"/>
              <a:t>éppolyan ésszerű folytatás, mint </a:t>
            </a:r>
            <a:r>
              <a:rPr lang="hu-HU" dirty="0" smtClean="0"/>
              <a:t>bármi </a:t>
            </a:r>
            <a:r>
              <a:rPr lang="hu-HU" dirty="0"/>
              <a:t>más.</a:t>
            </a:r>
          </a:p>
          <a:p>
            <a:r>
              <a:rPr lang="it-IT" dirty="0"/>
              <a:t>A helyes megoldás </a:t>
            </a:r>
            <a:r>
              <a:rPr lang="hu-HU" dirty="0" smtClean="0"/>
              <a:t>a </a:t>
            </a:r>
            <a:r>
              <a:rPr lang="it-IT" dirty="0" smtClean="0"/>
              <a:t>modell </a:t>
            </a:r>
            <a:r>
              <a:rPr lang="it-IT" b="1" dirty="0" smtClean="0"/>
              <a:t>finomhangolása</a:t>
            </a:r>
            <a:r>
              <a:rPr lang="it-IT" dirty="0" smtClean="0"/>
              <a:t>.</a:t>
            </a:r>
            <a:endParaRPr lang="hu-HU" dirty="0" smtClean="0"/>
          </a:p>
          <a:p>
            <a:r>
              <a:rPr lang="hu-HU" dirty="0"/>
              <a:t>Ehhez </a:t>
            </a:r>
            <a:r>
              <a:rPr lang="hu-HU" dirty="0" smtClean="0"/>
              <a:t>a finomhangoláshoz nem </a:t>
            </a:r>
            <a:r>
              <a:rPr lang="hu-HU" dirty="0"/>
              <a:t>adnak </a:t>
            </a:r>
            <a:r>
              <a:rPr lang="hu-HU" dirty="0" smtClean="0"/>
              <a:t>a modellhez speciális </a:t>
            </a:r>
            <a:r>
              <a:rPr lang="hu-HU" dirty="0"/>
              <a:t>kimeneti réteget, </a:t>
            </a:r>
            <a:r>
              <a:rPr lang="hu-HU" dirty="0" smtClean="0"/>
              <a:t>az továbbra </a:t>
            </a:r>
            <a:r>
              <a:rPr lang="hu-HU" dirty="0"/>
              <a:t>is a következő </a:t>
            </a:r>
            <a:r>
              <a:rPr lang="hu-HU" dirty="0" err="1" smtClean="0"/>
              <a:t>tokenek</a:t>
            </a:r>
            <a:r>
              <a:rPr lang="hu-HU" dirty="0" smtClean="0"/>
              <a:t> </a:t>
            </a:r>
            <a:r>
              <a:rPr lang="hu-HU" dirty="0"/>
              <a:t>valószínűségeit </a:t>
            </a:r>
            <a:r>
              <a:rPr lang="hu-HU" dirty="0" smtClean="0"/>
              <a:t>tanulja.</a:t>
            </a:r>
            <a:endParaRPr lang="hu-HU" dirty="0"/>
          </a:p>
          <a:p>
            <a:r>
              <a:rPr lang="hu-HU" dirty="0"/>
              <a:t>A nyelv </a:t>
            </a:r>
            <a:r>
              <a:rPr lang="hu-HU" dirty="0" smtClean="0"/>
              <a:t>ismeretén felül (amit </a:t>
            </a:r>
            <a:r>
              <a:rPr lang="hu-HU" dirty="0"/>
              <a:t>az </a:t>
            </a:r>
            <a:r>
              <a:rPr lang="hu-HU" dirty="0" smtClean="0"/>
              <a:t>előtanítás </a:t>
            </a:r>
            <a:r>
              <a:rPr lang="hu-HU" dirty="0"/>
              <a:t>során </a:t>
            </a:r>
            <a:r>
              <a:rPr lang="hu-HU" dirty="0" smtClean="0"/>
              <a:t>már megtanult</a:t>
            </a:r>
            <a:r>
              <a:rPr lang="hu-HU" dirty="0"/>
              <a:t>) </a:t>
            </a:r>
            <a:r>
              <a:rPr lang="hu-HU" dirty="0" smtClean="0"/>
              <a:t>a modellt ennek során arra tanítjuk, </a:t>
            </a:r>
            <a:r>
              <a:rPr lang="hu-HU" dirty="0"/>
              <a:t>hogy a felhasználó promptját utasításként értelmezze, és az utasításnak </a:t>
            </a:r>
            <a:r>
              <a:rPr lang="hu-HU" dirty="0" smtClean="0"/>
              <a:t>engedelmeskedve válaszoljon.</a:t>
            </a:r>
            <a:endParaRPr lang="hu-HU" dirty="0"/>
          </a:p>
          <a:p>
            <a:pPr lvl="1"/>
            <a:r>
              <a:rPr lang="en-GB" dirty="0" err="1"/>
              <a:t>Tág</a:t>
            </a:r>
            <a:r>
              <a:rPr lang="en-GB" dirty="0"/>
              <a:t> </a:t>
            </a:r>
            <a:r>
              <a:rPr lang="en-GB" dirty="0" err="1"/>
              <a:t>értelemben</a:t>
            </a:r>
            <a:r>
              <a:rPr lang="en-GB" dirty="0"/>
              <a:t>; </a:t>
            </a:r>
            <a:r>
              <a:rPr lang="en-GB" dirty="0" err="1"/>
              <a:t>az</a:t>
            </a:r>
            <a:r>
              <a:rPr lang="en-GB" dirty="0"/>
              <a:t> </a:t>
            </a:r>
            <a:r>
              <a:rPr lang="en-GB" dirty="0" err="1"/>
              <a:t>utasítás</a:t>
            </a:r>
            <a:r>
              <a:rPr lang="en-GB" dirty="0"/>
              <a:t> </a:t>
            </a:r>
            <a:r>
              <a:rPr lang="en-GB" dirty="0" err="1"/>
              <a:t>lehet</a:t>
            </a:r>
            <a:r>
              <a:rPr lang="en-GB" dirty="0"/>
              <a:t> </a:t>
            </a:r>
            <a:r>
              <a:rPr lang="hu-HU" dirty="0" smtClean="0"/>
              <a:t>akár </a:t>
            </a:r>
            <a:r>
              <a:rPr lang="en-GB" dirty="0" err="1" smtClean="0"/>
              <a:t>megválaszolandó</a:t>
            </a:r>
            <a:r>
              <a:rPr lang="en-GB" dirty="0" smtClean="0"/>
              <a:t> </a:t>
            </a:r>
            <a:r>
              <a:rPr lang="en-GB" dirty="0" err="1" smtClean="0"/>
              <a:t>kérdés</a:t>
            </a:r>
            <a:r>
              <a:rPr lang="hu-HU" dirty="0" smtClean="0"/>
              <a:t> is </a:t>
            </a:r>
            <a:r>
              <a:rPr lang="en-GB" dirty="0"/>
              <a:t>(</a:t>
            </a:r>
            <a:r>
              <a:rPr lang="en-GB" dirty="0" err="1"/>
              <a:t>és</a:t>
            </a:r>
            <a:r>
              <a:rPr lang="en-GB" dirty="0"/>
              <a:t> </a:t>
            </a:r>
            <a:r>
              <a:rPr lang="en-GB" dirty="0" err="1"/>
              <a:t>gyakran</a:t>
            </a:r>
            <a:r>
              <a:rPr lang="en-GB" dirty="0"/>
              <a:t> </a:t>
            </a:r>
            <a:r>
              <a:rPr lang="hu-HU" dirty="0" smtClean="0"/>
              <a:t>valóban </a:t>
            </a:r>
            <a:r>
              <a:rPr lang="en-GB" dirty="0" err="1" smtClean="0"/>
              <a:t>az</a:t>
            </a:r>
            <a:r>
              <a:rPr lang="en-GB" dirty="0" smtClean="0"/>
              <a:t>).</a:t>
            </a:r>
            <a:endParaRPr lang="en-GB" dirty="0"/>
          </a:p>
          <a:p>
            <a:r>
              <a:rPr lang="hu-HU" dirty="0" smtClean="0"/>
              <a:t>Ezt a típusú finomhangolást </a:t>
            </a:r>
            <a:r>
              <a:rPr lang="en-GB" b="1" dirty="0" err="1" smtClean="0"/>
              <a:t>utasításhangolásnak</a:t>
            </a:r>
            <a:r>
              <a:rPr lang="en-GB" b="1" dirty="0" smtClean="0"/>
              <a:t> </a:t>
            </a:r>
            <a:r>
              <a:rPr lang="en-GB" dirty="0"/>
              <a:t>(instruction-tuning) </a:t>
            </a:r>
            <a:r>
              <a:rPr lang="en-GB" dirty="0" err="1"/>
              <a:t>nevezik</a:t>
            </a:r>
            <a:r>
              <a:rPr lang="en-GB" dirty="0"/>
              <a:t>, </a:t>
            </a:r>
            <a:r>
              <a:rPr lang="en-GB" dirty="0" err="1" smtClean="0"/>
              <a:t>az</a:t>
            </a:r>
            <a:r>
              <a:rPr lang="en-GB" dirty="0" smtClean="0"/>
              <a:t> </a:t>
            </a:r>
            <a:r>
              <a:rPr lang="en-GB" dirty="0" err="1"/>
              <a:t>eredményül</a:t>
            </a:r>
            <a:r>
              <a:rPr lang="en-GB" dirty="0"/>
              <a:t> </a:t>
            </a:r>
            <a:r>
              <a:rPr lang="en-GB" dirty="0" err="1"/>
              <a:t>kapott</a:t>
            </a:r>
            <a:r>
              <a:rPr lang="en-GB" dirty="0"/>
              <a:t> </a:t>
            </a:r>
            <a:r>
              <a:rPr lang="en-GB" dirty="0" err="1"/>
              <a:t>modellt</a:t>
            </a:r>
            <a:r>
              <a:rPr lang="en-GB" dirty="0"/>
              <a:t> </a:t>
            </a:r>
            <a:r>
              <a:rPr lang="en-GB" b="1" dirty="0" err="1" smtClean="0"/>
              <a:t>utasításhangolt</a:t>
            </a:r>
            <a:r>
              <a:rPr lang="en-GB" b="1" dirty="0" smtClean="0"/>
              <a:t> </a:t>
            </a:r>
            <a:r>
              <a:rPr lang="en-GB" b="1" dirty="0" err="1" smtClean="0"/>
              <a:t>nyelvmodellnek</a:t>
            </a:r>
            <a:r>
              <a:rPr lang="en-GB" dirty="0"/>
              <a:t>.</a:t>
            </a:r>
          </a:p>
          <a:p>
            <a:r>
              <a:rPr lang="hu-HU" dirty="0"/>
              <a:t>A legtöbb </a:t>
            </a:r>
            <a:r>
              <a:rPr lang="hu-HU" dirty="0" smtClean="0"/>
              <a:t>generatív modell </a:t>
            </a:r>
            <a:r>
              <a:rPr lang="hu-HU" b="1" dirty="0" smtClean="0"/>
              <a:t>előtanított</a:t>
            </a:r>
            <a:r>
              <a:rPr lang="hu-HU" dirty="0" smtClean="0"/>
              <a:t> </a:t>
            </a:r>
            <a:r>
              <a:rPr lang="hu-HU" dirty="0"/>
              <a:t>és </a:t>
            </a:r>
            <a:r>
              <a:rPr lang="hu-HU" b="1" dirty="0" smtClean="0"/>
              <a:t>utasításhangolt </a:t>
            </a:r>
            <a:r>
              <a:rPr lang="hu-HU" b="1" dirty="0"/>
              <a:t>változatban </a:t>
            </a:r>
            <a:r>
              <a:rPr lang="hu-HU" dirty="0"/>
              <a:t>is elérhető</a:t>
            </a:r>
            <a:r>
              <a:rPr lang="hu-HU" dirty="0" smtClean="0"/>
              <a:t>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4465829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RLHF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hu-HU" dirty="0" smtClean="0"/>
              <a:t>Az előtanított </a:t>
            </a:r>
            <a:r>
              <a:rPr lang="hu-HU" dirty="0"/>
              <a:t>generatív </a:t>
            </a:r>
            <a:r>
              <a:rPr lang="hu-HU" dirty="0" smtClean="0"/>
              <a:t>nyelvmodellek utasításhangolását </a:t>
            </a:r>
            <a:r>
              <a:rPr lang="hu-HU" dirty="0"/>
              <a:t>általában egy </a:t>
            </a:r>
            <a:r>
              <a:rPr lang="hu-HU" b="1" dirty="0"/>
              <a:t>megerősítéses tanulás emberi visszajelzéssel </a:t>
            </a:r>
            <a:r>
              <a:rPr lang="hu-HU" b="1" dirty="0" smtClean="0"/>
              <a:t>(</a:t>
            </a:r>
            <a:r>
              <a:rPr lang="hu-HU" b="1" dirty="0" err="1"/>
              <a:t>reinforcement</a:t>
            </a:r>
            <a:r>
              <a:rPr lang="hu-HU" b="1" dirty="0"/>
              <a:t> </a:t>
            </a:r>
            <a:r>
              <a:rPr lang="hu-HU" b="1" dirty="0" err="1"/>
              <a:t>learning</a:t>
            </a:r>
            <a:r>
              <a:rPr lang="hu-HU" b="1" dirty="0"/>
              <a:t> </a:t>
            </a:r>
            <a:r>
              <a:rPr lang="hu-HU" b="1" dirty="0" err="1"/>
              <a:t>using</a:t>
            </a:r>
            <a:r>
              <a:rPr lang="hu-HU" b="1" dirty="0"/>
              <a:t> human </a:t>
            </a:r>
            <a:r>
              <a:rPr lang="hu-HU" b="1" dirty="0" err="1" smtClean="0"/>
              <a:t>feedback</a:t>
            </a:r>
            <a:r>
              <a:rPr lang="hu-HU" b="1" dirty="0" smtClean="0"/>
              <a:t>, </a:t>
            </a:r>
            <a:r>
              <a:rPr lang="hu-HU" b="1" dirty="0" err="1" smtClean="0"/>
              <a:t>RLHF</a:t>
            </a:r>
            <a:r>
              <a:rPr lang="hu-HU" b="1" dirty="0"/>
              <a:t>)</a:t>
            </a:r>
            <a:r>
              <a:rPr lang="hu-HU" dirty="0"/>
              <a:t> nevű eljárással érik el.</a:t>
            </a:r>
          </a:p>
          <a:p>
            <a:r>
              <a:rPr lang="en-GB" dirty="0" err="1"/>
              <a:t>Kissé</a:t>
            </a:r>
            <a:r>
              <a:rPr lang="en-GB" dirty="0"/>
              <a:t> </a:t>
            </a:r>
            <a:r>
              <a:rPr lang="en-GB" dirty="0" err="1"/>
              <a:t>hasonló</a:t>
            </a:r>
            <a:r>
              <a:rPr lang="en-GB" dirty="0"/>
              <a:t> </a:t>
            </a:r>
            <a:r>
              <a:rPr lang="en-GB" dirty="0" smtClean="0"/>
              <a:t>a </a:t>
            </a:r>
            <a:r>
              <a:rPr lang="hu-HU" dirty="0" smtClean="0"/>
              <a:t>versengéses </a:t>
            </a:r>
            <a:r>
              <a:rPr lang="en-GB" dirty="0" smtClean="0"/>
              <a:t>(adversarial)</a:t>
            </a:r>
            <a:r>
              <a:rPr lang="hu-HU" dirty="0" smtClean="0"/>
              <a:t> </a:t>
            </a:r>
            <a:r>
              <a:rPr lang="en-GB" dirty="0" err="1" smtClean="0"/>
              <a:t>tanuláshoz</a:t>
            </a:r>
            <a:r>
              <a:rPr lang="hu-HU" dirty="0"/>
              <a:t> </a:t>
            </a:r>
            <a:r>
              <a:rPr lang="hu-HU" dirty="0" smtClean="0"/>
              <a:t>annyiban, hogy </a:t>
            </a:r>
            <a:r>
              <a:rPr lang="en-GB" dirty="0" smtClean="0"/>
              <a:t>a </a:t>
            </a:r>
            <a:r>
              <a:rPr lang="hu-HU" dirty="0" smtClean="0"/>
              <a:t>tanítás itt is </a:t>
            </a:r>
            <a:r>
              <a:rPr lang="en-GB" dirty="0" err="1" smtClean="0"/>
              <a:t>két</a:t>
            </a:r>
            <a:r>
              <a:rPr lang="en-GB" dirty="0" smtClean="0"/>
              <a:t> </a:t>
            </a:r>
            <a:r>
              <a:rPr lang="en-GB" dirty="0" err="1"/>
              <a:t>modellen</a:t>
            </a:r>
            <a:r>
              <a:rPr lang="en-GB" dirty="0"/>
              <a:t> </a:t>
            </a:r>
            <a:r>
              <a:rPr lang="en-GB" dirty="0" err="1"/>
              <a:t>alapul</a:t>
            </a:r>
            <a:r>
              <a:rPr lang="en-GB" dirty="0"/>
              <a:t>:</a:t>
            </a:r>
          </a:p>
          <a:p>
            <a:pPr lvl="1"/>
            <a:r>
              <a:rPr lang="hu-HU" dirty="0"/>
              <a:t>Az egyik a </a:t>
            </a:r>
            <a:r>
              <a:rPr lang="hu-HU" b="1" dirty="0"/>
              <a:t>generátor</a:t>
            </a:r>
            <a:r>
              <a:rPr lang="hu-HU" dirty="0"/>
              <a:t> (</a:t>
            </a:r>
            <a:r>
              <a:rPr lang="hu-HU" dirty="0" smtClean="0"/>
              <a:t>a megerősítéses tanulás, </a:t>
            </a:r>
            <a:r>
              <a:rPr lang="hu-HU" dirty="0" err="1" smtClean="0"/>
              <a:t>RL</a:t>
            </a:r>
            <a:r>
              <a:rPr lang="hu-HU" dirty="0" smtClean="0"/>
              <a:t>, kapcsán ezt </a:t>
            </a:r>
            <a:r>
              <a:rPr lang="hu-HU" b="1" dirty="0" err="1" smtClean="0"/>
              <a:t>policy</a:t>
            </a:r>
            <a:r>
              <a:rPr lang="hu-HU" dirty="0" err="1" smtClean="0"/>
              <a:t>-nek</a:t>
            </a:r>
            <a:r>
              <a:rPr lang="hu-HU" dirty="0" smtClean="0"/>
              <a:t> nevezik) a szekvencia folytatásának valószínűségi eloszlásait jelzi előre, </a:t>
            </a:r>
            <a:r>
              <a:rPr lang="hu-HU" dirty="0"/>
              <a:t>mint </a:t>
            </a:r>
            <a:r>
              <a:rPr lang="hu-HU" dirty="0" smtClean="0"/>
              <a:t>általában.</a:t>
            </a:r>
          </a:p>
          <a:p>
            <a:pPr lvl="2"/>
            <a:r>
              <a:rPr lang="hu-HU" dirty="0"/>
              <a:t>Ez egy </a:t>
            </a:r>
            <a:r>
              <a:rPr lang="hu-HU" dirty="0" smtClean="0"/>
              <a:t>előtanított nyelvmodell</a:t>
            </a:r>
            <a:r>
              <a:rPr lang="hu-HU" dirty="0"/>
              <a:t>.</a:t>
            </a:r>
          </a:p>
          <a:p>
            <a:pPr lvl="2"/>
            <a:r>
              <a:rPr lang="hu-HU" dirty="0"/>
              <a:t>Az </a:t>
            </a:r>
            <a:r>
              <a:rPr lang="hu-HU" dirty="0" smtClean="0"/>
              <a:t>előtanítás </a:t>
            </a:r>
            <a:r>
              <a:rPr lang="hu-HU" dirty="0"/>
              <a:t>után </a:t>
            </a:r>
            <a:r>
              <a:rPr lang="hu-HU" dirty="0" smtClean="0"/>
              <a:t>ún. </a:t>
            </a:r>
            <a:r>
              <a:rPr lang="hu-HU" b="1" dirty="0" smtClean="0"/>
              <a:t>felügyelt finomhangolás </a:t>
            </a:r>
            <a:r>
              <a:rPr lang="hu-HU" dirty="0" smtClean="0"/>
              <a:t>következik, amelynek során kifejezetten különböző jellegű utasításpromptok folytatását tanulja megjósolni a modell.</a:t>
            </a:r>
          </a:p>
          <a:p>
            <a:pPr lvl="1"/>
            <a:r>
              <a:rPr lang="en-GB" dirty="0"/>
              <a:t>A </a:t>
            </a:r>
            <a:r>
              <a:rPr lang="en-GB" dirty="0" err="1"/>
              <a:t>másik</a:t>
            </a:r>
            <a:r>
              <a:rPr lang="en-GB" dirty="0"/>
              <a:t>, </a:t>
            </a:r>
            <a:r>
              <a:rPr lang="en-GB" dirty="0" err="1"/>
              <a:t>az</a:t>
            </a:r>
            <a:r>
              <a:rPr lang="en-GB" dirty="0"/>
              <a:t> </a:t>
            </a:r>
            <a:r>
              <a:rPr lang="en-GB" dirty="0" err="1"/>
              <a:t>úgynevezett</a:t>
            </a:r>
            <a:r>
              <a:rPr lang="en-GB" dirty="0"/>
              <a:t> </a:t>
            </a:r>
            <a:r>
              <a:rPr lang="en-GB" b="1" dirty="0" err="1"/>
              <a:t>jutalommodell</a:t>
            </a:r>
            <a:r>
              <a:rPr lang="en-GB" dirty="0"/>
              <a:t> </a:t>
            </a:r>
            <a:r>
              <a:rPr lang="en-GB" dirty="0" smtClean="0"/>
              <a:t>(</a:t>
            </a:r>
            <a:r>
              <a:rPr lang="en-GB" dirty="0" err="1"/>
              <a:t>kissé</a:t>
            </a:r>
            <a:r>
              <a:rPr lang="en-GB" dirty="0"/>
              <a:t> </a:t>
            </a:r>
            <a:r>
              <a:rPr lang="en-GB" dirty="0" err="1"/>
              <a:t>hasonló</a:t>
            </a:r>
            <a:r>
              <a:rPr lang="en-GB" dirty="0"/>
              <a:t> </a:t>
            </a:r>
            <a:r>
              <a:rPr lang="en-GB" dirty="0" err="1"/>
              <a:t>egy</a:t>
            </a:r>
            <a:r>
              <a:rPr lang="en-GB" dirty="0"/>
              <a:t> </a:t>
            </a:r>
            <a:r>
              <a:rPr lang="en-GB" dirty="0" err="1"/>
              <a:t>GAN</a:t>
            </a:r>
            <a:r>
              <a:rPr lang="en-GB" dirty="0"/>
              <a:t> </a:t>
            </a:r>
            <a:r>
              <a:rPr lang="en-GB" dirty="0" err="1" smtClean="0"/>
              <a:t>diszkriminátormodelljéhez</a:t>
            </a:r>
            <a:r>
              <a:rPr lang="en-GB" dirty="0"/>
              <a:t>) </a:t>
            </a:r>
            <a:r>
              <a:rPr lang="en-GB" dirty="0" err="1"/>
              <a:t>megtanulja</a:t>
            </a:r>
            <a:r>
              <a:rPr lang="en-GB" dirty="0"/>
              <a:t> </a:t>
            </a:r>
            <a:r>
              <a:rPr lang="en-GB" dirty="0" err="1"/>
              <a:t>értékelni</a:t>
            </a:r>
            <a:r>
              <a:rPr lang="en-GB" dirty="0"/>
              <a:t> </a:t>
            </a:r>
            <a:r>
              <a:rPr lang="en-GB" dirty="0" err="1"/>
              <a:t>ugyanazon</a:t>
            </a:r>
            <a:r>
              <a:rPr lang="en-GB" dirty="0"/>
              <a:t> prompt </a:t>
            </a:r>
            <a:r>
              <a:rPr lang="hu-HU" dirty="0" smtClean="0"/>
              <a:t>lehetséges folytatásait</a:t>
            </a:r>
            <a:r>
              <a:rPr lang="en-GB" dirty="0" smtClean="0"/>
              <a:t>.</a:t>
            </a:r>
            <a:endParaRPr lang="en-GB" dirty="0"/>
          </a:p>
          <a:p>
            <a:pPr lvl="2"/>
            <a:r>
              <a:rPr lang="hu-HU" dirty="0" smtClean="0"/>
              <a:t>Ez általában </a:t>
            </a:r>
            <a:r>
              <a:rPr lang="hu-HU" dirty="0"/>
              <a:t>egy másik </a:t>
            </a:r>
            <a:r>
              <a:rPr lang="hu-HU" dirty="0" smtClean="0"/>
              <a:t>előtanított </a:t>
            </a:r>
            <a:r>
              <a:rPr lang="hu-HU" dirty="0" err="1" smtClean="0"/>
              <a:t>GPT</a:t>
            </a:r>
            <a:r>
              <a:rPr lang="hu-HU" dirty="0" smtClean="0"/>
              <a:t> jellegű modell</a:t>
            </a:r>
            <a:r>
              <a:rPr lang="hu-HU" dirty="0"/>
              <a:t>, esetleg ugyanaz, amelyet </a:t>
            </a:r>
            <a:r>
              <a:rPr lang="hu-HU" dirty="0" err="1" smtClean="0"/>
              <a:t>utasításhangolunk</a:t>
            </a:r>
            <a:r>
              <a:rPr lang="hu-HU" dirty="0" smtClean="0"/>
              <a:t>, </a:t>
            </a:r>
            <a:r>
              <a:rPr lang="hu-HU" dirty="0"/>
              <a:t>de </a:t>
            </a:r>
            <a:r>
              <a:rPr lang="hu-HU" dirty="0" smtClean="0"/>
              <a:t>lineáris </a:t>
            </a:r>
            <a:r>
              <a:rPr lang="hu-HU" dirty="0"/>
              <a:t>regressziós réteggel kiegészítve.</a:t>
            </a:r>
          </a:p>
          <a:p>
            <a:pPr lvl="2"/>
            <a:r>
              <a:rPr lang="en-GB" dirty="0"/>
              <a:t>A </a:t>
            </a:r>
            <a:r>
              <a:rPr lang="en-GB" dirty="0" err="1"/>
              <a:t>jutalommodellt</a:t>
            </a:r>
            <a:r>
              <a:rPr lang="en-GB" dirty="0"/>
              <a:t> </a:t>
            </a:r>
            <a:r>
              <a:rPr lang="en-GB" b="1" dirty="0" smtClean="0"/>
              <a:t>prompt</a:t>
            </a:r>
            <a:r>
              <a:rPr lang="hu-HU" b="1" dirty="0" smtClean="0"/>
              <a:t>okon és hozzájuk tartozó</a:t>
            </a:r>
            <a:r>
              <a:rPr lang="en-GB" b="1" dirty="0" smtClean="0"/>
              <a:t> </a:t>
            </a:r>
            <a:r>
              <a:rPr lang="hu-HU" b="1" dirty="0" smtClean="0"/>
              <a:t>két-két folytatáson </a:t>
            </a:r>
            <a:r>
              <a:rPr lang="hu-HU" dirty="0" smtClean="0"/>
              <a:t>tanítják</a:t>
            </a:r>
            <a:r>
              <a:rPr lang="hu-HU" dirty="0"/>
              <a:t>;</a:t>
            </a:r>
            <a:r>
              <a:rPr lang="en-GB" dirty="0" smtClean="0"/>
              <a:t> </a:t>
            </a:r>
            <a:r>
              <a:rPr lang="en-GB" dirty="0" err="1"/>
              <a:t>az</a:t>
            </a:r>
            <a:r>
              <a:rPr lang="en-GB" dirty="0"/>
              <a:t> </a:t>
            </a:r>
            <a:r>
              <a:rPr lang="en-GB" b="1" dirty="0" err="1" smtClean="0"/>
              <a:t>egyik</a:t>
            </a:r>
            <a:r>
              <a:rPr lang="hu-HU" b="1" dirty="0" smtClean="0"/>
              <a:t> </a:t>
            </a:r>
            <a:r>
              <a:rPr lang="hu-HU" dirty="0" smtClean="0"/>
              <a:t>folytatást egy</a:t>
            </a:r>
            <a:r>
              <a:rPr lang="en-GB" dirty="0" smtClean="0"/>
              <a:t> </a:t>
            </a:r>
            <a:r>
              <a:rPr lang="en-GB" b="1" dirty="0" err="1"/>
              <a:t>emberi</a:t>
            </a:r>
            <a:r>
              <a:rPr lang="en-GB" b="1" dirty="0"/>
              <a:t> </a:t>
            </a:r>
            <a:r>
              <a:rPr lang="hu-HU" b="1" dirty="0" smtClean="0"/>
              <a:t>értékelő jobbként </a:t>
            </a:r>
            <a:r>
              <a:rPr lang="en-GB" dirty="0" err="1" smtClean="0"/>
              <a:t>jelöli</a:t>
            </a:r>
            <a:r>
              <a:rPr lang="hu-HU" dirty="0" smtClean="0"/>
              <a:t> meg</a:t>
            </a:r>
            <a:r>
              <a:rPr lang="en-GB" dirty="0" smtClean="0"/>
              <a:t>, </a:t>
            </a:r>
            <a:r>
              <a:rPr lang="hu-HU" b="1" dirty="0" smtClean="0"/>
              <a:t>mint </a:t>
            </a:r>
            <a:r>
              <a:rPr lang="en-GB" b="1" dirty="0" smtClean="0"/>
              <a:t>a </a:t>
            </a:r>
            <a:r>
              <a:rPr lang="en-GB" b="1" dirty="0" err="1" smtClean="0"/>
              <a:t>másikat</a:t>
            </a:r>
            <a:r>
              <a:rPr lang="en-GB" dirty="0" smtClean="0"/>
              <a:t>.</a:t>
            </a:r>
            <a:endParaRPr lang="en-GB" dirty="0"/>
          </a:p>
          <a:p>
            <a:pPr lvl="3"/>
            <a:r>
              <a:rPr lang="hu-HU" dirty="0" smtClean="0"/>
              <a:t>A</a:t>
            </a:r>
            <a:r>
              <a:rPr lang="en-GB" dirty="0" smtClean="0"/>
              <a:t>z</a:t>
            </a:r>
            <a:r>
              <a:rPr lang="hu-HU" dirty="0" smtClean="0"/>
              <a:t>az az</a:t>
            </a:r>
            <a:r>
              <a:rPr lang="en-GB" dirty="0" smtClean="0"/>
              <a:t> </a:t>
            </a:r>
            <a:r>
              <a:rPr lang="hu-HU" dirty="0" smtClean="0"/>
              <a:t>„</a:t>
            </a:r>
            <a:r>
              <a:rPr lang="en-GB" b="1" dirty="0" err="1" smtClean="0"/>
              <a:t>emberi</a:t>
            </a:r>
            <a:r>
              <a:rPr lang="en-GB" b="1" dirty="0" smtClean="0"/>
              <a:t> </a:t>
            </a:r>
            <a:r>
              <a:rPr lang="en-GB" b="1" dirty="0" err="1" smtClean="0"/>
              <a:t>visszajelzés</a:t>
            </a:r>
            <a:r>
              <a:rPr lang="hu-HU" dirty="0" smtClean="0"/>
              <a:t>”</a:t>
            </a:r>
            <a:r>
              <a:rPr lang="en-GB" dirty="0" smtClean="0"/>
              <a:t> a </a:t>
            </a:r>
            <a:r>
              <a:rPr lang="en-GB" dirty="0" err="1"/>
              <a:t>jutalommodell</a:t>
            </a:r>
            <a:r>
              <a:rPr lang="en-GB" dirty="0"/>
              <a:t> </a:t>
            </a:r>
            <a:r>
              <a:rPr lang="hu-HU" dirty="0" smtClean="0"/>
              <a:t>tanítására </a:t>
            </a:r>
            <a:r>
              <a:rPr lang="en-GB" dirty="0" err="1" smtClean="0"/>
              <a:t>vonatkozik</a:t>
            </a:r>
            <a:r>
              <a:rPr lang="en-GB" dirty="0"/>
              <a:t>, </a:t>
            </a:r>
            <a:r>
              <a:rPr lang="en-GB" dirty="0" err="1"/>
              <a:t>nem</a:t>
            </a:r>
            <a:r>
              <a:rPr lang="en-GB" dirty="0"/>
              <a:t> a </a:t>
            </a:r>
            <a:r>
              <a:rPr lang="en-GB" dirty="0" err="1" smtClean="0"/>
              <a:t>generátormodell</a:t>
            </a:r>
            <a:r>
              <a:rPr lang="hu-HU" dirty="0" smtClean="0"/>
              <a:t>é</a:t>
            </a:r>
            <a:r>
              <a:rPr lang="en-GB" dirty="0" smtClean="0"/>
              <a:t>re</a:t>
            </a:r>
            <a:r>
              <a:rPr lang="en-GB" dirty="0"/>
              <a:t>.</a:t>
            </a:r>
          </a:p>
          <a:p>
            <a:pPr lvl="2"/>
            <a:r>
              <a:rPr lang="hu-HU" dirty="0" smtClean="0"/>
              <a:t>A jutalommodell </a:t>
            </a:r>
            <a:r>
              <a:rPr lang="en-GB" dirty="0" err="1" smtClean="0"/>
              <a:t>megtanul</a:t>
            </a:r>
            <a:r>
              <a:rPr lang="hu-HU" dirty="0" smtClean="0"/>
              <a:t>ja, hogy</a:t>
            </a:r>
            <a:r>
              <a:rPr lang="en-GB" dirty="0" smtClean="0"/>
              <a:t> </a:t>
            </a:r>
            <a:r>
              <a:rPr lang="en-GB" dirty="0" err="1"/>
              <a:t>magasabb</a:t>
            </a:r>
            <a:r>
              <a:rPr lang="en-GB" dirty="0"/>
              <a:t> (</a:t>
            </a:r>
            <a:r>
              <a:rPr lang="en-GB" dirty="0" err="1"/>
              <a:t>pozitív</a:t>
            </a:r>
            <a:r>
              <a:rPr lang="en-GB" dirty="0"/>
              <a:t>) </a:t>
            </a:r>
            <a:r>
              <a:rPr lang="en-GB" dirty="0" err="1"/>
              <a:t>pontszámokat</a:t>
            </a:r>
            <a:r>
              <a:rPr lang="en-GB" dirty="0"/>
              <a:t> </a:t>
            </a:r>
            <a:r>
              <a:rPr lang="en-GB" dirty="0" err="1"/>
              <a:t>rendelni</a:t>
            </a:r>
            <a:r>
              <a:rPr lang="en-GB" dirty="0"/>
              <a:t> </a:t>
            </a:r>
            <a:r>
              <a:rPr lang="hu-HU" dirty="0" smtClean="0"/>
              <a:t>az emberek által jobbnak </a:t>
            </a:r>
            <a:r>
              <a:rPr lang="en-GB" dirty="0" err="1" smtClean="0"/>
              <a:t>ítélt</a:t>
            </a:r>
            <a:r>
              <a:rPr lang="en-GB" dirty="0" smtClean="0"/>
              <a:t> </a:t>
            </a:r>
            <a:r>
              <a:rPr lang="hu-HU" dirty="0" smtClean="0"/>
              <a:t>folytatásokhoz</a:t>
            </a:r>
            <a:r>
              <a:rPr lang="en-GB" dirty="0" smtClean="0"/>
              <a:t>, </a:t>
            </a:r>
            <a:r>
              <a:rPr lang="en-GB" dirty="0" err="1"/>
              <a:t>és</a:t>
            </a:r>
            <a:r>
              <a:rPr lang="en-GB" dirty="0"/>
              <a:t> </a:t>
            </a:r>
            <a:r>
              <a:rPr lang="en-GB" dirty="0" err="1"/>
              <a:t>alacsonyabb</a:t>
            </a:r>
            <a:r>
              <a:rPr lang="en-GB" dirty="0"/>
              <a:t> </a:t>
            </a:r>
            <a:r>
              <a:rPr lang="en-GB" dirty="0" err="1"/>
              <a:t>pontszámokat</a:t>
            </a:r>
            <a:r>
              <a:rPr lang="en-GB" dirty="0"/>
              <a:t> a </a:t>
            </a:r>
            <a:r>
              <a:rPr lang="en-GB" dirty="0" err="1" smtClean="0"/>
              <a:t>rosszabb</a:t>
            </a:r>
            <a:r>
              <a:rPr lang="hu-HU" dirty="0" err="1" smtClean="0"/>
              <a:t>nak</a:t>
            </a:r>
            <a:r>
              <a:rPr lang="en-GB" dirty="0" smtClean="0"/>
              <a:t> </a:t>
            </a:r>
            <a:r>
              <a:rPr lang="en-GB" dirty="0" err="1"/>
              <a:t>ítéltekhez</a:t>
            </a:r>
            <a:r>
              <a:rPr lang="en-GB" dirty="0"/>
              <a:t>.</a:t>
            </a:r>
          </a:p>
          <a:p>
            <a:pPr lvl="3"/>
            <a:r>
              <a:rPr lang="hu-HU" dirty="0"/>
              <a:t>Nem bináris jó/rossz osztályozás, hanem fokozatos, </a:t>
            </a:r>
            <a:r>
              <a:rPr lang="hu-HU" dirty="0" smtClean="0"/>
              <a:t>folytonos értékű </a:t>
            </a:r>
            <a:r>
              <a:rPr lang="hu-HU" dirty="0"/>
              <a:t>értékelés.</a:t>
            </a:r>
          </a:p>
          <a:p>
            <a:pPr lvl="2"/>
            <a:r>
              <a:rPr lang="hu-HU" b="1" dirty="0" smtClean="0"/>
              <a:t>Viszonylag kis </a:t>
            </a:r>
            <a:r>
              <a:rPr lang="en-GB" b="1" dirty="0" err="1" smtClean="0"/>
              <a:t>számú</a:t>
            </a:r>
            <a:r>
              <a:rPr lang="en-GB" b="1" dirty="0" smtClean="0"/>
              <a:t> </a:t>
            </a:r>
            <a:r>
              <a:rPr lang="hu-HU" b="1" dirty="0" smtClean="0"/>
              <a:t>ilyen </a:t>
            </a:r>
            <a:r>
              <a:rPr lang="en-GB" b="1" dirty="0" err="1" smtClean="0"/>
              <a:t>folytatáspárt</a:t>
            </a:r>
            <a:r>
              <a:rPr lang="en-GB" b="1" dirty="0" smtClean="0"/>
              <a:t> </a:t>
            </a:r>
            <a:r>
              <a:rPr lang="en-GB" dirty="0" err="1"/>
              <a:t>használnak</a:t>
            </a:r>
            <a:r>
              <a:rPr lang="en-GB" dirty="0"/>
              <a:t> a </a:t>
            </a:r>
            <a:r>
              <a:rPr lang="hu-HU" dirty="0" smtClean="0"/>
              <a:t>tanításhoz </a:t>
            </a:r>
            <a:r>
              <a:rPr lang="en-GB" dirty="0" smtClean="0"/>
              <a:t>(</a:t>
            </a:r>
            <a:r>
              <a:rPr lang="en-GB" dirty="0" err="1" smtClean="0"/>
              <a:t>az</a:t>
            </a:r>
            <a:r>
              <a:rPr lang="en-GB" dirty="0" smtClean="0"/>
              <a:t> </a:t>
            </a:r>
            <a:r>
              <a:rPr lang="en-GB" dirty="0" err="1"/>
              <a:t>emberi</a:t>
            </a:r>
            <a:r>
              <a:rPr lang="en-GB" dirty="0"/>
              <a:t> </a:t>
            </a:r>
            <a:r>
              <a:rPr lang="en-GB" dirty="0" err="1"/>
              <a:t>címkézés</a:t>
            </a:r>
            <a:r>
              <a:rPr lang="en-GB" dirty="0"/>
              <a:t> </a:t>
            </a:r>
            <a:r>
              <a:rPr lang="en-GB" dirty="0" err="1"/>
              <a:t>költséges</a:t>
            </a:r>
            <a:r>
              <a:rPr lang="en-GB" dirty="0"/>
              <a:t>).</a:t>
            </a:r>
          </a:p>
          <a:p>
            <a:pPr lvl="2"/>
            <a:endParaRPr lang="en-GB" dirty="0"/>
          </a:p>
          <a:p>
            <a:pPr lvl="3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362729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Finomhangolás</a:t>
            </a:r>
            <a:r>
              <a:rPr lang="en-GB" dirty="0"/>
              <a:t> </a:t>
            </a:r>
            <a:r>
              <a:rPr lang="en-GB" dirty="0" err="1"/>
              <a:t>RLHF</a:t>
            </a:r>
            <a:r>
              <a:rPr lang="en-GB" dirty="0"/>
              <a:t> </a:t>
            </a:r>
            <a:r>
              <a:rPr lang="en-GB" dirty="0" err="1"/>
              <a:t>segítségével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hu-HU" dirty="0"/>
              <a:t>A jutalommodell </a:t>
            </a:r>
            <a:r>
              <a:rPr lang="hu-HU" dirty="0" smtClean="0"/>
              <a:t>(</a:t>
            </a:r>
            <a:r>
              <a:rPr lang="hu-HU" dirty="0" err="1" smtClean="0"/>
              <a:t>JM</a:t>
            </a:r>
            <a:r>
              <a:rPr lang="hu-HU" dirty="0"/>
              <a:t>) betanítható már létező </a:t>
            </a:r>
            <a:r>
              <a:rPr lang="hu-HU" dirty="0" smtClean="0"/>
              <a:t>adathalmazokon is</a:t>
            </a:r>
            <a:r>
              <a:rPr lang="hu-HU" dirty="0"/>
              <a:t>, amelyek </a:t>
            </a:r>
            <a:r>
              <a:rPr lang="hu-HU" dirty="0" smtClean="0"/>
              <a:t>megfelelően címkézett folytatáspárokat </a:t>
            </a:r>
            <a:r>
              <a:rPr lang="hu-HU" dirty="0"/>
              <a:t>tartalmaznak.</a:t>
            </a:r>
          </a:p>
          <a:p>
            <a:r>
              <a:rPr lang="hu-HU" dirty="0" smtClean="0"/>
              <a:t>Ilyen </a:t>
            </a:r>
            <a:r>
              <a:rPr lang="hu-HU" dirty="0"/>
              <a:t>s</a:t>
            </a:r>
            <a:r>
              <a:rPr lang="en-GB" dirty="0" err="1" smtClean="0"/>
              <a:t>tandard</a:t>
            </a:r>
            <a:r>
              <a:rPr lang="en-GB" dirty="0" smtClean="0"/>
              <a:t> </a:t>
            </a:r>
            <a:r>
              <a:rPr lang="en-GB" dirty="0" err="1"/>
              <a:t>nyílt</a:t>
            </a:r>
            <a:r>
              <a:rPr lang="en-GB" dirty="0"/>
              <a:t> </a:t>
            </a:r>
            <a:r>
              <a:rPr lang="hu-HU" dirty="0" smtClean="0"/>
              <a:t>adathalmazokat </a:t>
            </a:r>
            <a:r>
              <a:rPr lang="en-GB" dirty="0" err="1" smtClean="0"/>
              <a:t>használnak</a:t>
            </a:r>
            <a:r>
              <a:rPr lang="en-GB" dirty="0" smtClean="0"/>
              <a:t> a </a:t>
            </a:r>
            <a:r>
              <a:rPr lang="hu-HU" dirty="0" smtClean="0"/>
              <a:t>J</a:t>
            </a:r>
            <a:r>
              <a:rPr lang="en-GB" dirty="0" smtClean="0"/>
              <a:t>M-</a:t>
            </a:r>
            <a:r>
              <a:rPr lang="en-GB" dirty="0" err="1" smtClean="0"/>
              <a:t>ek</a:t>
            </a:r>
            <a:r>
              <a:rPr lang="en-GB" dirty="0" smtClean="0"/>
              <a:t> </a:t>
            </a:r>
            <a:r>
              <a:rPr lang="en-GB" dirty="0" err="1"/>
              <a:t>képzésére</a:t>
            </a:r>
            <a:r>
              <a:rPr lang="en-GB" dirty="0"/>
              <a:t> </a:t>
            </a:r>
            <a:r>
              <a:rPr lang="en-GB" dirty="0" err="1"/>
              <a:t>kisebb</a:t>
            </a:r>
            <a:r>
              <a:rPr lang="en-GB" dirty="0"/>
              <a:t> </a:t>
            </a:r>
            <a:r>
              <a:rPr lang="en-GB" dirty="0" err="1"/>
              <a:t>generatív</a:t>
            </a:r>
            <a:r>
              <a:rPr lang="en-GB" dirty="0"/>
              <a:t> </a:t>
            </a:r>
            <a:r>
              <a:rPr lang="en-GB" dirty="0" err="1"/>
              <a:t>modellek</a:t>
            </a:r>
            <a:r>
              <a:rPr lang="en-GB" dirty="0"/>
              <a:t> </a:t>
            </a:r>
            <a:r>
              <a:rPr lang="en-GB" dirty="0" err="1"/>
              <a:t>esetében</a:t>
            </a:r>
            <a:r>
              <a:rPr lang="en-GB" dirty="0"/>
              <a:t>, </a:t>
            </a:r>
            <a:r>
              <a:rPr lang="hu-HU" dirty="0" smtClean="0"/>
              <a:t>amelyek tanítására nem áll rendelkezésre </a:t>
            </a:r>
            <a:r>
              <a:rPr lang="en-GB" dirty="0" err="1" smtClean="0"/>
              <a:t>nagy</a:t>
            </a:r>
            <a:r>
              <a:rPr lang="en-GB" dirty="0" smtClean="0"/>
              <a:t> </a:t>
            </a:r>
            <a:r>
              <a:rPr lang="en-GB" dirty="0" err="1" smtClean="0"/>
              <a:t>költségvetés</a:t>
            </a:r>
            <a:r>
              <a:rPr lang="en-GB" dirty="0" smtClean="0"/>
              <a:t>.</a:t>
            </a:r>
            <a:endParaRPr lang="en-GB" dirty="0"/>
          </a:p>
          <a:p>
            <a:r>
              <a:rPr lang="en-GB" dirty="0" err="1"/>
              <a:t>Ez</a:t>
            </a:r>
            <a:r>
              <a:rPr lang="en-GB" dirty="0"/>
              <a:t> </a:t>
            </a:r>
            <a:r>
              <a:rPr lang="en-GB" dirty="0" err="1"/>
              <a:t>még</a:t>
            </a:r>
            <a:r>
              <a:rPr lang="en-GB" dirty="0"/>
              <a:t> </a:t>
            </a:r>
            <a:r>
              <a:rPr lang="en-GB" dirty="0" err="1"/>
              <a:t>mindig</a:t>
            </a:r>
            <a:r>
              <a:rPr lang="en-GB" dirty="0"/>
              <a:t> </a:t>
            </a:r>
            <a:r>
              <a:rPr lang="en-GB" dirty="0" err="1"/>
              <a:t>RL</a:t>
            </a:r>
            <a:r>
              <a:rPr lang="en-GB" dirty="0"/>
              <a:t>, de </a:t>
            </a:r>
            <a:r>
              <a:rPr lang="en-GB" dirty="0" err="1"/>
              <a:t>szigorúan</a:t>
            </a:r>
            <a:r>
              <a:rPr lang="en-GB" dirty="0"/>
              <a:t> </a:t>
            </a:r>
            <a:r>
              <a:rPr lang="en-GB" dirty="0" err="1"/>
              <a:t>véve</a:t>
            </a:r>
            <a:r>
              <a:rPr lang="en-GB" dirty="0"/>
              <a:t> </a:t>
            </a:r>
            <a:r>
              <a:rPr lang="en-GB" dirty="0" err="1"/>
              <a:t>nem</a:t>
            </a:r>
            <a:r>
              <a:rPr lang="en-GB" dirty="0"/>
              <a:t> </a:t>
            </a:r>
            <a:r>
              <a:rPr lang="en-GB" dirty="0" err="1"/>
              <a:t>RLHF</a:t>
            </a:r>
            <a:r>
              <a:rPr lang="en-GB" dirty="0"/>
              <a:t>.</a:t>
            </a:r>
          </a:p>
          <a:p>
            <a:r>
              <a:rPr lang="hu-HU" dirty="0"/>
              <a:t>Miután az </a:t>
            </a:r>
            <a:r>
              <a:rPr lang="hu-HU" dirty="0" err="1" smtClean="0"/>
              <a:t>JM-et</a:t>
            </a:r>
            <a:r>
              <a:rPr lang="hu-HU" dirty="0" smtClean="0"/>
              <a:t> </a:t>
            </a:r>
            <a:r>
              <a:rPr lang="hu-HU" dirty="0"/>
              <a:t>betanították, arra használják, hogy </a:t>
            </a:r>
            <a:r>
              <a:rPr lang="hu-HU" b="1" dirty="0"/>
              <a:t>értékelje a generátor által generált kiegészítéseket</a:t>
            </a:r>
            <a:r>
              <a:rPr lang="hu-HU" dirty="0"/>
              <a:t> különböző promptokhoz</a:t>
            </a:r>
            <a:r>
              <a:rPr lang="hu-HU" dirty="0" smtClean="0"/>
              <a:t>.</a:t>
            </a:r>
          </a:p>
          <a:p>
            <a:pPr lvl="1"/>
            <a:r>
              <a:rPr lang="hu-HU" dirty="0"/>
              <a:t>Ha </a:t>
            </a:r>
            <a:r>
              <a:rPr lang="hu-HU" dirty="0" smtClean="0"/>
              <a:t>a </a:t>
            </a:r>
            <a:r>
              <a:rPr lang="hu-HU" dirty="0" err="1" smtClean="0"/>
              <a:t>JM</a:t>
            </a:r>
            <a:r>
              <a:rPr lang="hu-HU" dirty="0" smtClean="0"/>
              <a:t> </a:t>
            </a:r>
            <a:r>
              <a:rPr lang="hu-HU" dirty="0"/>
              <a:t>pozitív pontszámot rendel egy </a:t>
            </a:r>
            <a:r>
              <a:rPr lang="hu-HU" dirty="0" smtClean="0"/>
              <a:t>folytatáshoz (a teljes szekvencia egészéhez), </a:t>
            </a:r>
            <a:r>
              <a:rPr lang="hu-HU" dirty="0"/>
              <a:t>a policy </a:t>
            </a:r>
            <a:r>
              <a:rPr lang="hu-HU" dirty="0" smtClean="0"/>
              <a:t>súlyai </a:t>
            </a:r>
            <a:r>
              <a:rPr lang="hu-HU" dirty="0"/>
              <a:t>úgy </a:t>
            </a:r>
            <a:r>
              <a:rPr lang="hu-HU" dirty="0" smtClean="0"/>
              <a:t>módosulnak, </a:t>
            </a:r>
            <a:r>
              <a:rPr lang="hu-HU" dirty="0"/>
              <a:t>hogy ez a </a:t>
            </a:r>
            <a:r>
              <a:rPr lang="hu-HU" dirty="0" smtClean="0"/>
              <a:t>folytatás nagyobb </a:t>
            </a:r>
            <a:r>
              <a:rPr lang="hu-HU" dirty="0"/>
              <a:t>valószínűséggel </a:t>
            </a:r>
            <a:r>
              <a:rPr lang="hu-HU" dirty="0" smtClean="0"/>
              <a:t>generálódjon a jövőben.</a:t>
            </a:r>
            <a:endParaRPr lang="hu-HU" dirty="0"/>
          </a:p>
          <a:p>
            <a:pPr lvl="1"/>
            <a:r>
              <a:rPr lang="hu-HU" dirty="0"/>
              <a:t>Ha negatív </a:t>
            </a:r>
            <a:r>
              <a:rPr lang="hu-HU" dirty="0" smtClean="0"/>
              <a:t>pontszámot, </a:t>
            </a:r>
            <a:r>
              <a:rPr lang="hu-HU" dirty="0"/>
              <a:t>a </a:t>
            </a:r>
            <a:r>
              <a:rPr lang="hu-HU" dirty="0" smtClean="0"/>
              <a:t>súlyok </a:t>
            </a:r>
            <a:r>
              <a:rPr lang="hu-HU" dirty="0"/>
              <a:t>úgy </a:t>
            </a:r>
            <a:r>
              <a:rPr lang="hu-HU" dirty="0" smtClean="0"/>
              <a:t>változnak, </a:t>
            </a:r>
            <a:r>
              <a:rPr lang="hu-HU" dirty="0"/>
              <a:t>hogy </a:t>
            </a:r>
            <a:r>
              <a:rPr lang="hu-HU" dirty="0" smtClean="0"/>
              <a:t>csökkenjen </a:t>
            </a:r>
            <a:r>
              <a:rPr lang="hu-HU" dirty="0"/>
              <a:t>a </a:t>
            </a:r>
            <a:r>
              <a:rPr lang="hu-HU" dirty="0" smtClean="0"/>
              <a:t>folytatás generálásának valószínűsége </a:t>
            </a:r>
            <a:r>
              <a:rPr lang="hu-HU" dirty="0"/>
              <a:t>(</a:t>
            </a:r>
            <a:r>
              <a:rPr lang="hu-HU" dirty="0" err="1"/>
              <a:t>tokenről</a:t>
            </a:r>
            <a:r>
              <a:rPr lang="hu-HU" dirty="0"/>
              <a:t> </a:t>
            </a:r>
            <a:r>
              <a:rPr lang="hu-HU" dirty="0" err="1"/>
              <a:t>tokenre</a:t>
            </a:r>
            <a:r>
              <a:rPr lang="hu-HU" dirty="0"/>
              <a:t>).</a:t>
            </a:r>
          </a:p>
          <a:p>
            <a:r>
              <a:rPr lang="hu-HU" dirty="0" smtClean="0"/>
              <a:t>Ez </a:t>
            </a:r>
            <a:r>
              <a:rPr lang="hu-HU" b="1" dirty="0"/>
              <a:t>két fontos </a:t>
            </a:r>
            <a:r>
              <a:rPr lang="hu-HU" b="1" dirty="0" smtClean="0"/>
              <a:t>előnnyel </a:t>
            </a:r>
            <a:r>
              <a:rPr lang="hu-HU" dirty="0" smtClean="0"/>
              <a:t>jár:</a:t>
            </a:r>
          </a:p>
          <a:p>
            <a:pPr lvl="1"/>
            <a:r>
              <a:rPr lang="en-GB" dirty="0"/>
              <a:t>A </a:t>
            </a:r>
            <a:r>
              <a:rPr lang="en-GB" dirty="0" err="1"/>
              <a:t>policyt</a:t>
            </a:r>
            <a:r>
              <a:rPr lang="en-GB" dirty="0"/>
              <a:t> a </a:t>
            </a:r>
            <a:r>
              <a:rPr lang="en-GB" b="1" dirty="0" err="1"/>
              <a:t>jelenleg</a:t>
            </a:r>
            <a:r>
              <a:rPr lang="en-GB" b="1" dirty="0"/>
              <a:t> </a:t>
            </a:r>
            <a:r>
              <a:rPr lang="en-GB" b="1" dirty="0" err="1"/>
              <a:t>általa</a:t>
            </a:r>
            <a:r>
              <a:rPr lang="en-GB" b="1" dirty="0"/>
              <a:t> </a:t>
            </a:r>
            <a:r>
              <a:rPr lang="en-GB" b="1" dirty="0" err="1"/>
              <a:t>generált</a:t>
            </a:r>
            <a:r>
              <a:rPr lang="en-GB" b="1" dirty="0"/>
              <a:t> </a:t>
            </a:r>
            <a:r>
              <a:rPr lang="hu-HU" b="1" dirty="0" smtClean="0"/>
              <a:t>tényleges folytatások </a:t>
            </a:r>
            <a:r>
              <a:rPr lang="hu-HU" dirty="0" smtClean="0"/>
              <a:t>függvényében </a:t>
            </a:r>
            <a:r>
              <a:rPr lang="en-GB" dirty="0" err="1" smtClean="0"/>
              <a:t>finomhangolják</a:t>
            </a:r>
            <a:r>
              <a:rPr lang="en-GB" dirty="0"/>
              <a:t>, </a:t>
            </a:r>
            <a:r>
              <a:rPr lang="en-GB" dirty="0" err="1"/>
              <a:t>nem</a:t>
            </a:r>
            <a:r>
              <a:rPr lang="en-GB" dirty="0"/>
              <a:t> </a:t>
            </a:r>
            <a:r>
              <a:rPr lang="en-GB" dirty="0" err="1"/>
              <a:t>valamilyen</a:t>
            </a:r>
            <a:r>
              <a:rPr lang="en-GB" dirty="0"/>
              <a:t> </a:t>
            </a:r>
            <a:r>
              <a:rPr lang="en-GB" dirty="0" err="1"/>
              <a:t>független</a:t>
            </a:r>
            <a:r>
              <a:rPr lang="en-GB" dirty="0"/>
              <a:t> </a:t>
            </a:r>
            <a:r>
              <a:rPr lang="en-GB" dirty="0" err="1"/>
              <a:t>adatkészleten</a:t>
            </a:r>
            <a:r>
              <a:rPr lang="en-GB" dirty="0"/>
              <a:t>.</a:t>
            </a:r>
          </a:p>
          <a:p>
            <a:pPr lvl="1"/>
            <a:r>
              <a:rPr lang="en-GB" dirty="0" err="1"/>
              <a:t>Az</a:t>
            </a:r>
            <a:r>
              <a:rPr lang="en-GB" dirty="0"/>
              <a:t> </a:t>
            </a:r>
            <a:r>
              <a:rPr lang="en-GB" dirty="0" err="1" smtClean="0"/>
              <a:t>utasításhangolás</a:t>
            </a:r>
            <a:r>
              <a:rPr lang="en-GB" dirty="0" smtClean="0"/>
              <a:t> </a:t>
            </a:r>
            <a:r>
              <a:rPr lang="en-GB" dirty="0" err="1"/>
              <a:t>csak</a:t>
            </a:r>
            <a:r>
              <a:rPr lang="en-GB" dirty="0"/>
              <a:t> </a:t>
            </a:r>
            <a:r>
              <a:rPr lang="en-GB" b="1" dirty="0" err="1"/>
              <a:t>kis</a:t>
            </a:r>
            <a:r>
              <a:rPr lang="en-GB" b="1" dirty="0"/>
              <a:t> </a:t>
            </a:r>
            <a:r>
              <a:rPr lang="en-GB" b="1" dirty="0" err="1"/>
              <a:t>számú</a:t>
            </a:r>
            <a:r>
              <a:rPr lang="en-GB" b="1" dirty="0"/>
              <a:t> </a:t>
            </a:r>
            <a:r>
              <a:rPr lang="en-GB" dirty="0" smtClean="0"/>
              <a:t>(</a:t>
            </a:r>
            <a:r>
              <a:rPr lang="hu-HU" dirty="0" smtClean="0"/>
              <a:t>néhány </a:t>
            </a:r>
            <a:r>
              <a:rPr lang="en-GB" dirty="0" err="1" smtClean="0"/>
              <a:t>ez</a:t>
            </a:r>
            <a:r>
              <a:rPr lang="hu-HU" dirty="0" err="1" smtClean="0"/>
              <a:t>er</a:t>
            </a:r>
            <a:r>
              <a:rPr lang="en-GB" dirty="0" smtClean="0"/>
              <a:t>, </a:t>
            </a:r>
            <a:r>
              <a:rPr lang="en-GB" dirty="0" err="1" smtClean="0"/>
              <a:t>tízez</a:t>
            </a:r>
            <a:r>
              <a:rPr lang="hu-HU" dirty="0" err="1" smtClean="0"/>
              <a:t>er</a:t>
            </a:r>
            <a:r>
              <a:rPr lang="en-GB" dirty="0" smtClean="0"/>
              <a:t>) </a:t>
            </a:r>
            <a:r>
              <a:rPr lang="en-GB" b="1" dirty="0" smtClean="0"/>
              <a:t>ember </a:t>
            </a:r>
            <a:r>
              <a:rPr lang="hu-HU" b="1" dirty="0" smtClean="0"/>
              <a:t>által címkézett </a:t>
            </a:r>
            <a:r>
              <a:rPr lang="en-GB" dirty="0" err="1" smtClean="0"/>
              <a:t>példát</a:t>
            </a:r>
            <a:r>
              <a:rPr lang="en-GB" dirty="0" smtClean="0"/>
              <a:t> </a:t>
            </a:r>
            <a:r>
              <a:rPr lang="en-GB" dirty="0" err="1"/>
              <a:t>igényel</a:t>
            </a:r>
            <a:r>
              <a:rPr lang="en-GB" dirty="0"/>
              <a:t>, </a:t>
            </a:r>
            <a:r>
              <a:rPr lang="en-GB" dirty="0" err="1"/>
              <a:t>amelyeket</a:t>
            </a:r>
            <a:r>
              <a:rPr lang="en-GB" dirty="0"/>
              <a:t> </a:t>
            </a:r>
            <a:r>
              <a:rPr lang="en-GB" dirty="0" err="1"/>
              <a:t>az</a:t>
            </a:r>
            <a:r>
              <a:rPr lang="en-GB" dirty="0"/>
              <a:t> </a:t>
            </a:r>
            <a:r>
              <a:rPr lang="hu-HU" dirty="0" smtClean="0"/>
              <a:t>J</a:t>
            </a:r>
            <a:r>
              <a:rPr lang="en-GB" dirty="0" smtClean="0"/>
              <a:t>M </a:t>
            </a:r>
            <a:r>
              <a:rPr lang="en-GB" dirty="0" err="1"/>
              <a:t>képzésére</a:t>
            </a:r>
            <a:r>
              <a:rPr lang="en-GB" dirty="0"/>
              <a:t> </a:t>
            </a:r>
            <a:r>
              <a:rPr lang="en-GB" dirty="0" err="1"/>
              <a:t>használnak</a:t>
            </a:r>
            <a:r>
              <a:rPr lang="en-GB" dirty="0" smtClean="0"/>
              <a:t>.</a:t>
            </a:r>
            <a:r>
              <a:rPr lang="hu-HU" dirty="0" smtClean="0"/>
              <a:t> </a:t>
            </a:r>
            <a:r>
              <a:rPr lang="en-GB" dirty="0" err="1"/>
              <a:t>Miután</a:t>
            </a:r>
            <a:r>
              <a:rPr lang="en-GB" dirty="0"/>
              <a:t> </a:t>
            </a:r>
            <a:r>
              <a:rPr lang="hu-HU" dirty="0" smtClean="0"/>
              <a:t>ezt </a:t>
            </a:r>
            <a:r>
              <a:rPr lang="en-GB" dirty="0" err="1" smtClean="0"/>
              <a:t>betanított</a:t>
            </a:r>
            <a:r>
              <a:rPr lang="hu-HU" dirty="0" smtClean="0"/>
              <a:t>u</a:t>
            </a:r>
            <a:r>
              <a:rPr lang="en-GB" dirty="0" smtClean="0"/>
              <a:t>k</a:t>
            </a:r>
            <a:r>
              <a:rPr lang="en-GB" dirty="0"/>
              <a:t>, </a:t>
            </a:r>
            <a:r>
              <a:rPr lang="en-GB" b="1" dirty="0" smtClean="0"/>
              <a:t>a </a:t>
            </a:r>
            <a:r>
              <a:rPr lang="hu-HU" b="1" dirty="0" smtClean="0"/>
              <a:t>J</a:t>
            </a:r>
            <a:r>
              <a:rPr lang="en-GB" b="1" dirty="0" smtClean="0"/>
              <a:t>M </a:t>
            </a:r>
            <a:r>
              <a:rPr lang="en-GB" b="1" dirty="0"/>
              <a:t>a policy </a:t>
            </a:r>
            <a:r>
              <a:rPr lang="en-GB" b="1" dirty="0" err="1"/>
              <a:t>által</a:t>
            </a:r>
            <a:r>
              <a:rPr lang="en-GB" b="1" dirty="0"/>
              <a:t> </a:t>
            </a:r>
            <a:r>
              <a:rPr lang="en-GB" b="1" dirty="0" err="1"/>
              <a:t>generált</a:t>
            </a:r>
            <a:r>
              <a:rPr lang="en-GB" b="1" dirty="0"/>
              <a:t> </a:t>
            </a:r>
            <a:r>
              <a:rPr lang="hu-HU" b="1" dirty="0" smtClean="0"/>
              <a:t>folytatások </a:t>
            </a:r>
            <a:r>
              <a:rPr lang="en-GB" b="1" dirty="0" err="1" smtClean="0"/>
              <a:t>millióit</a:t>
            </a:r>
            <a:r>
              <a:rPr lang="en-GB" b="1" dirty="0" smtClean="0"/>
              <a:t> </a:t>
            </a:r>
            <a:r>
              <a:rPr lang="en-GB" b="1" dirty="0" err="1"/>
              <a:t>tudja</a:t>
            </a:r>
            <a:r>
              <a:rPr lang="en-GB" b="1" dirty="0"/>
              <a:t> </a:t>
            </a:r>
            <a:r>
              <a:rPr lang="en-GB" b="1" dirty="0" err="1" smtClean="0"/>
              <a:t>értékelni</a:t>
            </a:r>
            <a:r>
              <a:rPr lang="hu-HU" dirty="0" smtClean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86829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Nagy nyelvmodellek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hu-HU" dirty="0" smtClean="0"/>
              <a:t>Mit nevezünk </a:t>
            </a:r>
            <a:r>
              <a:rPr lang="hu-HU" b="1" dirty="0" smtClean="0"/>
              <a:t>nagy nyelvmodellnek, </a:t>
            </a:r>
            <a:r>
              <a:rPr lang="hu-HU" b="1" dirty="0" err="1" smtClean="0"/>
              <a:t>LLM-nek</a:t>
            </a:r>
            <a:r>
              <a:rPr lang="hu-HU" b="1" dirty="0" smtClean="0"/>
              <a:t> </a:t>
            </a:r>
            <a:r>
              <a:rPr lang="hu-HU" dirty="0" smtClean="0"/>
              <a:t>(</a:t>
            </a:r>
            <a:r>
              <a:rPr lang="hu-HU" dirty="0" err="1" smtClean="0"/>
              <a:t>large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)?</a:t>
            </a:r>
          </a:p>
          <a:p>
            <a:r>
              <a:rPr lang="hu-HU" dirty="0"/>
              <a:t>Nem </a:t>
            </a:r>
            <a:r>
              <a:rPr lang="hu-HU" dirty="0" smtClean="0"/>
              <a:t>pontosan definiált szakkifejezés</a:t>
            </a:r>
            <a:r>
              <a:rPr lang="hu-HU" dirty="0"/>
              <a:t>.</a:t>
            </a:r>
          </a:p>
          <a:p>
            <a:r>
              <a:rPr lang="hu-HU" dirty="0" smtClean="0"/>
              <a:t>Értelemszerűen valamilyen </a:t>
            </a:r>
            <a:r>
              <a:rPr lang="hu-HU" b="1" dirty="0" smtClean="0"/>
              <a:t>nyelvmodellt</a:t>
            </a:r>
            <a:r>
              <a:rPr lang="hu-HU" dirty="0" smtClean="0"/>
              <a:t> jelent, a nyelvmodell </a:t>
            </a:r>
            <a:r>
              <a:rPr lang="hu-HU" dirty="0"/>
              <a:t>(lényegében definíció szerint) </a:t>
            </a:r>
            <a:r>
              <a:rPr lang="hu-HU" dirty="0" smtClean="0"/>
              <a:t>pedig olyan gépi tanulási </a:t>
            </a:r>
            <a:r>
              <a:rPr lang="hu-HU" dirty="0"/>
              <a:t>modell, amely </a:t>
            </a:r>
            <a:r>
              <a:rPr lang="hu-HU" dirty="0" err="1"/>
              <a:t>tokenek</a:t>
            </a:r>
            <a:r>
              <a:rPr lang="hu-HU" dirty="0"/>
              <a:t> (feltételes) valószínűségi eloszlásait tanulja meg </a:t>
            </a:r>
            <a:r>
              <a:rPr lang="hu-HU" dirty="0" err="1" smtClean="0"/>
              <a:t>prediktálni</a:t>
            </a:r>
            <a:r>
              <a:rPr lang="hu-HU" dirty="0" smtClean="0"/>
              <a:t> egy tanítókorpusz alapján.</a:t>
            </a:r>
          </a:p>
          <a:p>
            <a:r>
              <a:rPr lang="en-GB" b="1" dirty="0" smtClean="0"/>
              <a:t>Nagy:</a:t>
            </a:r>
            <a:r>
              <a:rPr lang="en-GB" dirty="0" smtClean="0"/>
              <a:t> </a:t>
            </a:r>
            <a:r>
              <a:rPr lang="en-GB" dirty="0"/>
              <a:t>a </a:t>
            </a:r>
            <a:r>
              <a:rPr lang="en-GB" dirty="0" err="1"/>
              <a:t>modell</a:t>
            </a:r>
            <a:r>
              <a:rPr lang="en-GB" dirty="0"/>
              <a:t> </a:t>
            </a:r>
            <a:r>
              <a:rPr lang="en-GB" dirty="0" err="1"/>
              <a:t>méretére</a:t>
            </a:r>
            <a:r>
              <a:rPr lang="en-GB" dirty="0"/>
              <a:t>, </a:t>
            </a:r>
            <a:r>
              <a:rPr lang="en-GB" dirty="0" err="1"/>
              <a:t>azaz</a:t>
            </a:r>
            <a:r>
              <a:rPr lang="en-GB" dirty="0"/>
              <a:t> </a:t>
            </a:r>
            <a:r>
              <a:rPr lang="en-GB" dirty="0" err="1" smtClean="0"/>
              <a:t>paramétereinek</a:t>
            </a:r>
            <a:r>
              <a:rPr lang="en-GB" dirty="0" smtClean="0"/>
              <a:t> </a:t>
            </a:r>
            <a:r>
              <a:rPr lang="en-GB" dirty="0" err="1"/>
              <a:t>számára</a:t>
            </a:r>
            <a:r>
              <a:rPr lang="en-GB" dirty="0"/>
              <a:t> </a:t>
            </a:r>
            <a:r>
              <a:rPr lang="en-GB" dirty="0" err="1"/>
              <a:t>utal</a:t>
            </a:r>
            <a:r>
              <a:rPr lang="en-GB" dirty="0"/>
              <a:t>.</a:t>
            </a:r>
          </a:p>
          <a:p>
            <a:pPr lvl="1"/>
            <a:r>
              <a:rPr lang="hu-HU" dirty="0" smtClean="0"/>
              <a:t>Ennek c</a:t>
            </a:r>
            <a:r>
              <a:rPr lang="en-GB" dirty="0" err="1" smtClean="0"/>
              <a:t>sak</a:t>
            </a:r>
            <a:r>
              <a:rPr lang="en-GB" dirty="0" smtClean="0"/>
              <a:t> </a:t>
            </a:r>
            <a:r>
              <a:rPr lang="en-GB" dirty="0" err="1"/>
              <a:t>akkor</a:t>
            </a:r>
            <a:r>
              <a:rPr lang="en-GB" dirty="0"/>
              <a:t> van </a:t>
            </a:r>
            <a:r>
              <a:rPr lang="en-GB" dirty="0" err="1"/>
              <a:t>értelme</a:t>
            </a:r>
            <a:r>
              <a:rPr lang="en-GB" dirty="0"/>
              <a:t>, ha </a:t>
            </a:r>
            <a:r>
              <a:rPr lang="hu-HU" dirty="0" smtClean="0"/>
              <a:t>feltételezzük</a:t>
            </a:r>
            <a:r>
              <a:rPr lang="en-GB" dirty="0" smtClean="0"/>
              <a:t>, </a:t>
            </a:r>
            <a:r>
              <a:rPr lang="en-GB" dirty="0" err="1"/>
              <a:t>hogy</a:t>
            </a:r>
            <a:r>
              <a:rPr lang="en-GB" dirty="0"/>
              <a:t> </a:t>
            </a:r>
            <a:r>
              <a:rPr lang="en-GB" dirty="0" err="1"/>
              <a:t>ez</a:t>
            </a:r>
            <a:r>
              <a:rPr lang="en-GB" dirty="0"/>
              <a:t> </a:t>
            </a:r>
            <a:r>
              <a:rPr lang="hu-HU" dirty="0" smtClean="0"/>
              <a:t>a modell egy </a:t>
            </a:r>
            <a:r>
              <a:rPr lang="en-GB" dirty="0" err="1" smtClean="0"/>
              <a:t>neurális</a:t>
            </a:r>
            <a:r>
              <a:rPr lang="en-GB" dirty="0" smtClean="0"/>
              <a:t> </a:t>
            </a:r>
            <a:r>
              <a:rPr lang="en-GB" dirty="0" err="1" smtClean="0"/>
              <a:t>háló</a:t>
            </a:r>
            <a:r>
              <a:rPr lang="en-GB" dirty="0" smtClean="0"/>
              <a:t>, </a:t>
            </a:r>
            <a:r>
              <a:rPr lang="hu-HU" dirty="0" smtClean="0"/>
              <a:t>ugyanis annak </a:t>
            </a:r>
            <a:r>
              <a:rPr lang="en-GB" dirty="0" err="1" smtClean="0"/>
              <a:t>vannak</a:t>
            </a:r>
            <a:r>
              <a:rPr lang="en-GB" dirty="0" smtClean="0"/>
              <a:t> </a:t>
            </a:r>
            <a:r>
              <a:rPr lang="en-GB" dirty="0" err="1"/>
              <a:t>paraméterei</a:t>
            </a:r>
            <a:r>
              <a:rPr lang="en-GB" dirty="0"/>
              <a:t>, </a:t>
            </a:r>
            <a:r>
              <a:rPr lang="hu-HU" dirty="0" smtClean="0"/>
              <a:t>azaz tanult </a:t>
            </a:r>
            <a:r>
              <a:rPr lang="en-GB" dirty="0" err="1" smtClean="0"/>
              <a:t>súly</a:t>
            </a:r>
            <a:r>
              <a:rPr lang="hu-HU" dirty="0" smtClean="0"/>
              <a:t>mátrixokban </a:t>
            </a:r>
            <a:r>
              <a:rPr lang="en-GB" dirty="0" err="1" smtClean="0"/>
              <a:t>tárolt</a:t>
            </a:r>
            <a:r>
              <a:rPr lang="en-GB" dirty="0" smtClean="0"/>
              <a:t> </a:t>
            </a:r>
            <a:r>
              <a:rPr lang="en-GB" dirty="0" err="1"/>
              <a:t>súlyai</a:t>
            </a:r>
            <a:r>
              <a:rPr lang="en-GB" dirty="0"/>
              <a:t>.</a:t>
            </a:r>
          </a:p>
          <a:p>
            <a:r>
              <a:rPr lang="en-GB" b="1" dirty="0" err="1"/>
              <a:t>Mennyire</a:t>
            </a:r>
            <a:r>
              <a:rPr lang="en-GB" b="1" dirty="0"/>
              <a:t> </a:t>
            </a:r>
            <a:r>
              <a:rPr lang="en-GB" dirty="0" err="1"/>
              <a:t>nagy</a:t>
            </a:r>
            <a:r>
              <a:rPr lang="en-GB" dirty="0"/>
              <a:t>? </a:t>
            </a:r>
          </a:p>
          <a:p>
            <a:pPr lvl="1"/>
            <a:r>
              <a:rPr lang="hu-HU" dirty="0" smtClean="0"/>
              <a:t>Erre nem adható határozott </a:t>
            </a:r>
            <a:r>
              <a:rPr lang="en-GB" dirty="0" err="1" smtClean="0"/>
              <a:t>válasz</a:t>
            </a:r>
            <a:r>
              <a:rPr lang="en-GB" dirty="0"/>
              <a:t>. </a:t>
            </a:r>
            <a:r>
              <a:rPr lang="en-GB" dirty="0" err="1"/>
              <a:t>Néhány</a:t>
            </a:r>
            <a:r>
              <a:rPr lang="en-GB" dirty="0"/>
              <a:t> </a:t>
            </a:r>
            <a:r>
              <a:rPr lang="en-GB" dirty="0" err="1"/>
              <a:t>millió</a:t>
            </a:r>
            <a:r>
              <a:rPr lang="en-GB" dirty="0"/>
              <a:t> </a:t>
            </a:r>
            <a:r>
              <a:rPr lang="en-GB" dirty="0" err="1"/>
              <a:t>paraméteres</a:t>
            </a:r>
            <a:r>
              <a:rPr lang="en-GB" dirty="0"/>
              <a:t> </a:t>
            </a:r>
            <a:r>
              <a:rPr lang="en-GB" dirty="0" err="1"/>
              <a:t>modellt</a:t>
            </a:r>
            <a:r>
              <a:rPr lang="en-GB" dirty="0"/>
              <a:t> </a:t>
            </a:r>
            <a:r>
              <a:rPr lang="en-GB" dirty="0" err="1"/>
              <a:t>általában</a:t>
            </a:r>
            <a:r>
              <a:rPr lang="en-GB" dirty="0"/>
              <a:t> </a:t>
            </a:r>
            <a:r>
              <a:rPr lang="en-GB" dirty="0" err="1"/>
              <a:t>nem</a:t>
            </a:r>
            <a:r>
              <a:rPr lang="en-GB" dirty="0"/>
              <a:t> </a:t>
            </a:r>
            <a:r>
              <a:rPr lang="en-GB" dirty="0" err="1" smtClean="0"/>
              <a:t>tekint</a:t>
            </a:r>
            <a:r>
              <a:rPr lang="hu-HU" dirty="0" err="1" smtClean="0"/>
              <a:t>ünk</a:t>
            </a:r>
            <a:r>
              <a:rPr lang="en-GB" dirty="0" smtClean="0"/>
              <a:t> </a:t>
            </a:r>
            <a:r>
              <a:rPr lang="en-GB" dirty="0" err="1"/>
              <a:t>nagynak</a:t>
            </a:r>
            <a:r>
              <a:rPr lang="en-GB" dirty="0"/>
              <a:t>.</a:t>
            </a:r>
          </a:p>
          <a:p>
            <a:pPr lvl="2"/>
            <a:r>
              <a:rPr lang="hu-HU" dirty="0" smtClean="0"/>
              <a:t>Ebbe nem szoktuk bele</a:t>
            </a:r>
            <a:r>
              <a:rPr lang="en-GB" dirty="0" err="1" smtClean="0"/>
              <a:t>számol</a:t>
            </a:r>
            <a:r>
              <a:rPr lang="hu-HU" dirty="0" smtClean="0"/>
              <a:t>ni</a:t>
            </a:r>
            <a:r>
              <a:rPr lang="en-GB" dirty="0" smtClean="0"/>
              <a:t> </a:t>
            </a:r>
            <a:r>
              <a:rPr lang="en-GB" dirty="0"/>
              <a:t>a </a:t>
            </a:r>
            <a:r>
              <a:rPr lang="en-GB" dirty="0" err="1" smtClean="0"/>
              <a:t>tokenbeágyazás</a:t>
            </a:r>
            <a:r>
              <a:rPr lang="hu-HU" dirty="0" smtClean="0"/>
              <a:t>ok</a:t>
            </a:r>
            <a:r>
              <a:rPr lang="en-GB" dirty="0" smtClean="0"/>
              <a:t> </a:t>
            </a:r>
            <a:r>
              <a:rPr lang="en-GB" dirty="0" err="1" smtClean="0"/>
              <a:t>szótár</a:t>
            </a:r>
            <a:r>
              <a:rPr lang="hu-HU" dirty="0" smtClean="0"/>
              <a:t>á</a:t>
            </a:r>
            <a:r>
              <a:rPr lang="en-GB" dirty="0" smtClean="0"/>
              <a:t>t</a:t>
            </a:r>
            <a:r>
              <a:rPr lang="en-GB" dirty="0"/>
              <a:t>, </a:t>
            </a:r>
            <a:r>
              <a:rPr lang="en-GB" dirty="0" err="1"/>
              <a:t>amely</a:t>
            </a:r>
            <a:r>
              <a:rPr lang="en-GB" dirty="0"/>
              <a:t> </a:t>
            </a:r>
            <a:r>
              <a:rPr lang="hu-HU" dirty="0" smtClean="0"/>
              <a:t>szintén </a:t>
            </a:r>
            <a:r>
              <a:rPr lang="en-GB" dirty="0" err="1" smtClean="0"/>
              <a:t>tanult</a:t>
            </a:r>
            <a:r>
              <a:rPr lang="en-GB" dirty="0" smtClean="0"/>
              <a:t> </a:t>
            </a:r>
            <a:r>
              <a:rPr lang="en-GB" dirty="0" err="1"/>
              <a:t>súlyokat</a:t>
            </a:r>
            <a:r>
              <a:rPr lang="en-GB" dirty="0"/>
              <a:t> </a:t>
            </a:r>
            <a:r>
              <a:rPr lang="en-GB" dirty="0" err="1"/>
              <a:t>tartalmaz</a:t>
            </a:r>
            <a:r>
              <a:rPr lang="en-GB" dirty="0" smtClean="0"/>
              <a:t>.</a:t>
            </a:r>
            <a:endParaRPr lang="hu-HU" dirty="0" smtClean="0"/>
          </a:p>
          <a:p>
            <a:pPr lvl="3"/>
            <a:r>
              <a:rPr lang="hu-HU" dirty="0" smtClean="0"/>
              <a:t>Ez a szótár a neurális háló </a:t>
            </a:r>
            <a:r>
              <a:rPr lang="hu-HU" dirty="0"/>
              <a:t>méretétől függetlenül </a:t>
            </a:r>
            <a:r>
              <a:rPr lang="hu-HU" dirty="0" smtClean="0"/>
              <a:t>szükségképpen </a:t>
            </a:r>
            <a:r>
              <a:rPr lang="hu-HU" dirty="0"/>
              <a:t>meglehetősen </a:t>
            </a:r>
            <a:r>
              <a:rPr lang="hu-HU" dirty="0" smtClean="0"/>
              <a:t>nagy (</a:t>
            </a:r>
            <a:r>
              <a:rPr lang="hu-HU" dirty="0"/>
              <a:t>pl. csak </a:t>
            </a:r>
            <a:r>
              <a:rPr lang="hu-HU" dirty="0" smtClean="0"/>
              <a:t>50 ezer darab 768 dimenziós </a:t>
            </a:r>
            <a:r>
              <a:rPr lang="hu-HU" dirty="0" err="1" smtClean="0"/>
              <a:t>tokenvektor</a:t>
            </a:r>
            <a:r>
              <a:rPr lang="hu-HU" dirty="0" smtClean="0"/>
              <a:t> </a:t>
            </a:r>
            <a:r>
              <a:rPr lang="hu-HU" dirty="0"/>
              <a:t>≈ 40 millió lebegőpontos szám)</a:t>
            </a:r>
            <a:endParaRPr lang="en-GB" dirty="0"/>
          </a:p>
          <a:p>
            <a:pPr lvl="1"/>
            <a:r>
              <a:rPr lang="hu-HU" dirty="0" smtClean="0"/>
              <a:t>Van, aki szerint nagynak számít a </a:t>
            </a:r>
            <a:r>
              <a:rPr lang="hu-HU" dirty="0" err="1"/>
              <a:t>BERT</a:t>
            </a:r>
            <a:r>
              <a:rPr lang="hu-HU" dirty="0"/>
              <a:t>, GPT-1 és GPT-2 </a:t>
            </a:r>
            <a:r>
              <a:rPr lang="hu-HU" dirty="0" smtClean="0"/>
              <a:t>is, ezek 100M-től 1,5G paraméterig terjednek.</a:t>
            </a:r>
            <a:endParaRPr lang="hu-HU" dirty="0"/>
          </a:p>
          <a:p>
            <a:pPr lvl="1"/>
            <a:r>
              <a:rPr lang="hu-HU" dirty="0"/>
              <a:t>Mások </a:t>
            </a:r>
            <a:r>
              <a:rPr lang="hu-HU" dirty="0" smtClean="0"/>
              <a:t>kifejezetten a </a:t>
            </a:r>
            <a:r>
              <a:rPr lang="hu-HU" dirty="0"/>
              <a:t>GPT-3-at és újabb utódait (GPT-5, </a:t>
            </a:r>
            <a:r>
              <a:rPr lang="hu-HU" dirty="0" err="1"/>
              <a:t>Google</a:t>
            </a:r>
            <a:r>
              <a:rPr lang="hu-HU" dirty="0"/>
              <a:t> </a:t>
            </a:r>
            <a:r>
              <a:rPr lang="hu-HU" dirty="0" err="1"/>
              <a:t>Gemini</a:t>
            </a:r>
            <a:r>
              <a:rPr lang="hu-HU" dirty="0"/>
              <a:t>, stb.) tekintik nagynak, azaz 100G+ paraméterrel rendelkező modelleket.</a:t>
            </a:r>
          </a:p>
          <a:p>
            <a:pPr lvl="1"/>
            <a:r>
              <a:rPr lang="hu-HU" dirty="0" smtClean="0"/>
              <a:t>Akik így gondolják, azok az 1G </a:t>
            </a:r>
            <a:r>
              <a:rPr lang="hu-HU" dirty="0"/>
              <a:t>és 10G közötti tartományban lévő nyelvi modelleket gyakran nevezik </a:t>
            </a:r>
            <a:r>
              <a:rPr lang="hu-HU" b="1" dirty="0" smtClean="0"/>
              <a:t>kis nyelvmodelleknek </a:t>
            </a:r>
            <a:r>
              <a:rPr lang="hu-HU" b="1" dirty="0"/>
              <a:t>(</a:t>
            </a:r>
            <a:r>
              <a:rPr lang="hu-HU" b="1" dirty="0" err="1"/>
              <a:t>SLM</a:t>
            </a:r>
            <a:r>
              <a:rPr lang="hu-HU" b="1" dirty="0" smtClean="0"/>
              <a:t>)</a:t>
            </a:r>
            <a:r>
              <a:rPr lang="hu-HU" dirty="0" smtClean="0"/>
              <a:t>.</a:t>
            </a:r>
            <a:endParaRPr lang="hu-HU" dirty="0"/>
          </a:p>
          <a:p>
            <a:r>
              <a:rPr lang="hu-HU" dirty="0" smtClean="0"/>
              <a:t>Egy </a:t>
            </a:r>
            <a:r>
              <a:rPr lang="hu-HU" dirty="0" err="1" smtClean="0"/>
              <a:t>LLM</a:t>
            </a:r>
            <a:r>
              <a:rPr lang="hu-HU" dirty="0" smtClean="0"/>
              <a:t> mindenképpen </a:t>
            </a:r>
            <a:r>
              <a:rPr lang="hu-HU" b="1" dirty="0" smtClean="0"/>
              <a:t>generatív</a:t>
            </a:r>
            <a:r>
              <a:rPr lang="hu-HU" dirty="0" smtClean="0"/>
              <a:t>?</a:t>
            </a:r>
          </a:p>
          <a:p>
            <a:pPr lvl="1"/>
            <a:r>
              <a:rPr lang="en-GB" dirty="0" err="1"/>
              <a:t>Nem</a:t>
            </a:r>
            <a:r>
              <a:rPr lang="en-GB" dirty="0"/>
              <a:t> </a:t>
            </a:r>
            <a:r>
              <a:rPr lang="en-GB" dirty="0" err="1"/>
              <a:t>feltétlenül</a:t>
            </a:r>
            <a:r>
              <a:rPr lang="en-GB" dirty="0"/>
              <a:t>; </a:t>
            </a:r>
            <a:r>
              <a:rPr lang="hu-HU" dirty="0" smtClean="0"/>
              <a:t>van, aki szerint a </a:t>
            </a:r>
            <a:r>
              <a:rPr lang="en-GB" dirty="0" smtClean="0"/>
              <a:t>BERT</a:t>
            </a:r>
            <a:r>
              <a:rPr lang="hu-HU" dirty="0" smtClean="0"/>
              <a:t> </a:t>
            </a:r>
            <a:r>
              <a:rPr lang="en-GB" dirty="0" smtClean="0"/>
              <a:t>is </a:t>
            </a:r>
            <a:r>
              <a:rPr lang="en-GB" dirty="0" err="1" smtClean="0"/>
              <a:t>LLM</a:t>
            </a:r>
            <a:r>
              <a:rPr lang="hu-HU" dirty="0" smtClean="0"/>
              <a:t>, pedig az </a:t>
            </a:r>
            <a:r>
              <a:rPr lang="en-GB" dirty="0" err="1" smtClean="0"/>
              <a:t>kódoló</a:t>
            </a:r>
            <a:r>
              <a:rPr lang="hu-HU" dirty="0" smtClean="0"/>
              <a:t>, nem generatív </a:t>
            </a:r>
            <a:r>
              <a:rPr lang="en-GB" dirty="0" err="1" smtClean="0"/>
              <a:t>modell</a:t>
            </a:r>
            <a:r>
              <a:rPr lang="en-GB" dirty="0" smtClean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990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1010</TotalTime>
  <Words>3289</Words>
  <Application>Microsoft Office PowerPoint</Application>
  <PresentationFormat>Diavetítés a képernyőre (4:3 oldalarány)</PresentationFormat>
  <Paragraphs>191</Paragraphs>
  <Slides>19</Slides>
  <Notes>1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19</vt:i4>
      </vt:variant>
    </vt:vector>
  </HeadingPairs>
  <TitlesOfParts>
    <vt:vector size="20" baseType="lpstr">
      <vt:lpstr>Office-téma</vt:lpstr>
      <vt:lpstr>Generatív mesterséges intelligencia GPT és rokon generatív nyelvmodellek</vt:lpstr>
      <vt:lpstr>GPT</vt:lpstr>
      <vt:lpstr>Előtanítás</vt:lpstr>
      <vt:lpstr>Előtanítás eredménye</vt:lpstr>
      <vt:lpstr>Predikció előtanított modellel</vt:lpstr>
      <vt:lpstr>A transzformerek állapotmentesek</vt:lpstr>
      <vt:lpstr>A transzformerek állapotmentesek</vt:lpstr>
      <vt:lpstr>Mintavétel a valószínűségi eloszlásból</vt:lpstr>
      <vt:lpstr>Mintavételezési paraméterek</vt:lpstr>
      <vt:lpstr>A generatív modellek determinizmusa</vt:lpstr>
      <vt:lpstr>Finomhangolás</vt:lpstr>
      <vt:lpstr>Zero-shot és few-shot</vt:lpstr>
      <vt:lpstr>Few-shot példa (forrás: Radford és mtsai., 2019, Appendix)</vt:lpstr>
      <vt:lpstr>Few-shot tanulás</vt:lpstr>
      <vt:lpstr>Az előtanított generatív nyelvmodellek nem beszélgetést szimulálnak</vt:lpstr>
      <vt:lpstr>Utasításhangolás</vt:lpstr>
      <vt:lpstr>RLHF</vt:lpstr>
      <vt:lpstr>Finomhangolás RLHF segítségével</vt:lpstr>
      <vt:lpstr>Nagy nyelvmodellek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Generatív mesterséges intelligencia GPT és rokon generatív nyelvmodellek</dc:title>
  <dc:creator>Anonim</dc:creator>
  <cp:lastModifiedBy>Anonim</cp:lastModifiedBy>
  <cp:revision>29</cp:revision>
  <dcterms:created xsi:type="dcterms:W3CDTF">2025-12-10T01:27:07Z</dcterms:created>
  <dcterms:modified xsi:type="dcterms:W3CDTF">2025-12-10T19:42:26Z</dcterms:modified>
</cp:coreProperties>
</file>
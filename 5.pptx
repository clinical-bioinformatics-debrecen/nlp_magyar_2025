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9" r:id="rId12"/>
    <p:sldId id="270" r:id="rId13"/>
    <p:sldId id="272" r:id="rId14"/>
    <p:sldId id="273" r:id="rId15"/>
    <p:sldId id="275" r:id="rId16"/>
    <p:sldId id="276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71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02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17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05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98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70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83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84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84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57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80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789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6D0AA-C64B-4B1B-86D6-41940E61146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8DA68-EA60-4804-B29D-FCF58F7DE8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0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Természetes nyelvek feldolgozása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i="1" dirty="0" smtClean="0"/>
              <a:t>Valószínűségi nyelvmodellezés</a:t>
            </a:r>
            <a:endParaRPr lang="en-GB" sz="3200" i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Pethő Gergely</a:t>
            </a:r>
          </a:p>
          <a:p>
            <a:r>
              <a:rPr lang="hu-HU" smtClean="0"/>
              <a:t>2025.11.28.</a:t>
            </a:r>
            <a:endParaRPr lang="hu-HU" dirty="0"/>
          </a:p>
          <a:p>
            <a:r>
              <a:rPr lang="hu-HU" dirty="0"/>
              <a:t>DE </a:t>
            </a:r>
            <a:r>
              <a:rPr lang="hu-HU" dirty="0" err="1"/>
              <a:t>ETK</a:t>
            </a:r>
            <a:r>
              <a:rPr lang="hu-HU" dirty="0"/>
              <a:t> </a:t>
            </a:r>
            <a:r>
              <a:rPr lang="hu-HU" dirty="0" err="1"/>
              <a:t>Bioinformatikai</a:t>
            </a:r>
            <a:r>
              <a:rPr lang="hu-HU" dirty="0"/>
              <a:t> Tanszék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889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Probléma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 smtClean="0"/>
              <a:t>Hogyan közelíthetjük a természetes nyelveket számítógéppel?</a:t>
            </a:r>
          </a:p>
          <a:p>
            <a:r>
              <a:rPr lang="hu-HU" dirty="0" smtClean="0"/>
              <a:t>Lehetséges módja, hogy formális nyelvként modellezzük őket, mint egy programozási nyelvet, és nyelvtant (szintaxist) adunk meg rájuk.</a:t>
            </a:r>
          </a:p>
          <a:p>
            <a:pPr lvl="1"/>
            <a:r>
              <a:rPr lang="hu-HU" dirty="0" smtClean="0"/>
              <a:t>az </a:t>
            </a:r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dirty="0" err="1" smtClean="0"/>
              <a:t>compilermodellje</a:t>
            </a:r>
            <a:endParaRPr lang="hu-HU" dirty="0" smtClean="0"/>
          </a:p>
          <a:p>
            <a:r>
              <a:rPr lang="hu-HU" dirty="0" smtClean="0"/>
              <a:t>Másik megközelítés, amellyel már az </a:t>
            </a:r>
            <a:r>
              <a:rPr lang="hu-HU" dirty="0" err="1" smtClean="0"/>
              <a:t>NLP</a:t>
            </a:r>
            <a:r>
              <a:rPr lang="hu-HU" dirty="0" smtClean="0"/>
              <a:t> kezdetekor, a 20. század közepén is próbálkoztak: a mondatokat és szövegeket fogjuk fel véletlenszerűen bekövetkező események sorozataként.</a:t>
            </a:r>
          </a:p>
          <a:p>
            <a:pPr lvl="1"/>
            <a:r>
              <a:rPr lang="hu-HU" dirty="0" smtClean="0"/>
              <a:t>Minden </a:t>
            </a:r>
            <a:r>
              <a:rPr lang="hu-HU" dirty="0" err="1" smtClean="0"/>
              <a:t>token</a:t>
            </a:r>
            <a:r>
              <a:rPr lang="hu-HU" dirty="0" smtClean="0"/>
              <a:t> (illetve ennek létrehozása) egy ilyen esemény.</a:t>
            </a:r>
          </a:p>
          <a:p>
            <a:r>
              <a:rPr lang="hu-HU" dirty="0" smtClean="0"/>
              <a:t>A nyelvi szerkezetek megalkotása sztochasztikus folyamat.</a:t>
            </a:r>
          </a:p>
        </p:txBody>
      </p:sp>
    </p:spTree>
    <p:extLst>
      <p:ext uri="{BB962C8B-B14F-4D97-AF65-F5344CB8AC3E}">
        <p14:creationId xmlns:p14="http://schemas.microsoft.com/office/powerpoint/2010/main" val="152410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/>
              <a:t>A nyelv mint sztochasztikus folyamat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Sztochasztikus folyamat valószínűségi változók olyan együttese, amelyek azt írják le, miként alakul egy rendszer az idő </a:t>
            </a:r>
            <a:r>
              <a:rPr lang="hu-HU" dirty="0" err="1" smtClean="0"/>
              <a:t>előrehaladtával</a:t>
            </a:r>
            <a:r>
              <a:rPr lang="hu-HU" dirty="0" smtClean="0"/>
              <a:t> oly módon, hogy ez az időbeli változás véletlenszerű, nem pontosan </a:t>
            </a:r>
            <a:r>
              <a:rPr lang="hu-HU" dirty="0" err="1" smtClean="0"/>
              <a:t>előrejelezhető</a:t>
            </a:r>
            <a:r>
              <a:rPr lang="hu-HU" dirty="0" smtClean="0"/>
              <a:t>, bizonytalan</a:t>
            </a:r>
          </a:p>
          <a:p>
            <a:pPr lvl="1"/>
            <a:r>
              <a:rPr lang="hu-HU" dirty="0" smtClean="0"/>
              <a:t>Különböző időpontokban bekövetkező véletlen jelenségek matematikai modellje.</a:t>
            </a:r>
          </a:p>
          <a:p>
            <a:pPr lvl="1"/>
            <a:r>
              <a:rPr lang="en-GB" dirty="0" smtClean="0"/>
              <a:t>{</a:t>
            </a:r>
            <a:r>
              <a:rPr lang="en-GB" dirty="0" err="1" smtClean="0"/>
              <a:t>X</a:t>
            </a:r>
            <a:r>
              <a:rPr lang="en-GB" baseline="-25000" dirty="0" err="1" smtClean="0"/>
              <a:t>t</a:t>
            </a:r>
            <a:r>
              <a:rPr lang="en-GB" dirty="0" smtClean="0"/>
              <a:t>​:</a:t>
            </a:r>
            <a:r>
              <a:rPr lang="hu-HU" dirty="0" smtClean="0"/>
              <a:t> </a:t>
            </a:r>
            <a:r>
              <a:rPr lang="en-GB" dirty="0" smtClean="0"/>
              <a:t>t</a:t>
            </a:r>
            <a:r>
              <a:rPr lang="hu-HU" dirty="0" smtClean="0"/>
              <a:t> </a:t>
            </a:r>
            <a:r>
              <a:rPr lang="en-GB" dirty="0" smtClean="0"/>
              <a:t>∈</a:t>
            </a:r>
            <a:r>
              <a:rPr lang="hu-HU" dirty="0" smtClean="0"/>
              <a:t> </a:t>
            </a:r>
            <a:r>
              <a:rPr lang="en-GB" dirty="0" smtClean="0"/>
              <a:t>T}</a:t>
            </a:r>
            <a:endParaRPr lang="hu-HU" dirty="0" smtClean="0"/>
          </a:p>
          <a:p>
            <a:pPr lvl="1"/>
            <a:r>
              <a:rPr lang="hu-HU" dirty="0" smtClean="0"/>
              <a:t>T = {1, 2, 3, ...} </a:t>
            </a:r>
            <a:r>
              <a:rPr lang="hu-HU" b="1" dirty="0" smtClean="0"/>
              <a:t>diszkrét időpontok </a:t>
            </a:r>
            <a:r>
              <a:rPr lang="hu-HU" dirty="0" smtClean="0"/>
              <a:t>indexeinek rendezett halmaza</a:t>
            </a:r>
          </a:p>
          <a:p>
            <a:pPr lvl="1"/>
            <a:r>
              <a:rPr lang="hu-HU" dirty="0" err="1" smtClean="0"/>
              <a:t>X</a:t>
            </a:r>
            <a:r>
              <a:rPr lang="hu-HU" baseline="-25000" dirty="0" err="1" smtClean="0"/>
              <a:t>t</a:t>
            </a:r>
            <a:r>
              <a:rPr lang="hu-HU" dirty="0" smtClean="0"/>
              <a:t> a rendszer t időpontbeli </a:t>
            </a:r>
            <a:r>
              <a:rPr lang="hu-HU" b="1" dirty="0" smtClean="0"/>
              <a:t>diszkrét állapotát</a:t>
            </a:r>
            <a:r>
              <a:rPr lang="hu-HU" dirty="0" smtClean="0"/>
              <a:t> jellemző valószínűségi változó</a:t>
            </a:r>
          </a:p>
          <a:p>
            <a:pPr lvl="1"/>
            <a:r>
              <a:rPr lang="hu-HU" dirty="0" smtClean="0"/>
              <a:t>Általánosabban a sztochasztikus folyamat lehet folytonos vagy diszkrét, de a természetes nyelvi szövegeket leginkább diszkrét időpontokként és diszkrét állapotokként tudjuk modellezni (az ilyen modellt </a:t>
            </a:r>
            <a:r>
              <a:rPr lang="hu-HU" dirty="0" err="1" smtClean="0"/>
              <a:t>Markov-láncnak</a:t>
            </a:r>
            <a:r>
              <a:rPr lang="hu-HU" dirty="0" smtClean="0"/>
              <a:t> nevezik)</a:t>
            </a:r>
          </a:p>
          <a:p>
            <a:pPr lvl="2"/>
            <a:r>
              <a:rPr lang="hu-HU" sz="2600" dirty="0" smtClean="0"/>
              <a:t>a valószínűségi változók konkrét időpontokban vesznek fel értéket: egy-egy </a:t>
            </a:r>
            <a:r>
              <a:rPr lang="hu-HU" sz="2600" dirty="0" err="1" smtClean="0"/>
              <a:t>token</a:t>
            </a:r>
            <a:r>
              <a:rPr lang="hu-HU" sz="2600" dirty="0" smtClean="0"/>
              <a:t> </a:t>
            </a:r>
            <a:r>
              <a:rPr lang="hu-HU" sz="2600" dirty="0" err="1" smtClean="0"/>
              <a:t>egy-egy</a:t>
            </a:r>
            <a:r>
              <a:rPr lang="hu-HU" sz="2600" dirty="0" smtClean="0"/>
              <a:t> időpont</a:t>
            </a:r>
          </a:p>
          <a:p>
            <a:pPr lvl="2"/>
            <a:r>
              <a:rPr lang="hu-HU" sz="2600" dirty="0" smtClean="0"/>
              <a:t>ez az érték lehetséges értékek véges halmazának egy eleme: a </a:t>
            </a:r>
            <a:r>
              <a:rPr lang="hu-HU" sz="2600" dirty="0" err="1" smtClean="0"/>
              <a:t>tokenek</a:t>
            </a:r>
            <a:r>
              <a:rPr lang="hu-HU" sz="2600" dirty="0" smtClean="0"/>
              <a:t> nem folytonos értékek, hanem diszkrétek, pl. szóalakok, karakterek / fonémák, szófaji címkék...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61398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Markov-láncok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A </a:t>
            </a:r>
            <a:r>
              <a:rPr lang="en-GB" b="1" dirty="0" smtClean="0"/>
              <a:t>Markov</a:t>
            </a:r>
            <a:r>
              <a:rPr lang="hu-HU" b="1" dirty="0" err="1" smtClean="0"/>
              <a:t>-lánc</a:t>
            </a:r>
            <a:r>
              <a:rPr lang="en-GB" b="1" dirty="0" smtClean="0"/>
              <a:t> </a:t>
            </a:r>
            <a:r>
              <a:rPr lang="hu-HU" dirty="0" smtClean="0"/>
              <a:t>olyan sztochasztikus folyamat, amelyre teljesül a </a:t>
            </a:r>
            <a:r>
              <a:rPr lang="en-GB" b="1" dirty="0" smtClean="0"/>
              <a:t>Markov</a:t>
            </a:r>
            <a:r>
              <a:rPr lang="hu-HU" b="1" dirty="0" err="1" smtClean="0"/>
              <a:t>-tulajdonság</a:t>
            </a:r>
            <a:r>
              <a:rPr lang="en-GB" dirty="0" smtClean="0"/>
              <a:t>:</a:t>
            </a:r>
          </a:p>
          <a:p>
            <a:pPr lvl="1"/>
            <a:r>
              <a:rPr lang="hu-HU" dirty="0" smtClean="0"/>
              <a:t>A jövőbeli állapot csak a </a:t>
            </a:r>
            <a:r>
              <a:rPr lang="hu-HU" b="1" dirty="0" smtClean="0"/>
              <a:t>jelen állapottól </a:t>
            </a:r>
            <a:r>
              <a:rPr lang="hu-HU" dirty="0" smtClean="0"/>
              <a:t>függ, a </a:t>
            </a:r>
            <a:r>
              <a:rPr lang="hu-HU" b="1" dirty="0" smtClean="0"/>
              <a:t>múltbeliektől </a:t>
            </a:r>
            <a:r>
              <a:rPr lang="hu-HU" dirty="0" smtClean="0"/>
              <a:t>nem</a:t>
            </a:r>
          </a:p>
          <a:p>
            <a:pPr lvl="1"/>
            <a:r>
              <a:rPr lang="hu-HU" dirty="0" smtClean="0"/>
              <a:t>minden </a:t>
            </a:r>
            <a:r>
              <a:rPr lang="hu-HU" i="1" dirty="0" smtClean="0"/>
              <a:t>n</a:t>
            </a:r>
            <a:r>
              <a:rPr lang="hu-HU" dirty="0" smtClean="0"/>
              <a:t> és </a:t>
            </a:r>
            <a:r>
              <a:rPr lang="hu-HU" i="1" dirty="0" smtClean="0"/>
              <a:t>n+1</a:t>
            </a:r>
            <a:r>
              <a:rPr lang="hu-HU" dirty="0"/>
              <a:t> </a:t>
            </a:r>
            <a:r>
              <a:rPr lang="hu-HU" dirty="0" smtClean="0"/>
              <a:t>időpontra: </a:t>
            </a:r>
            <a:r>
              <a:rPr lang="en-GB" i="1" dirty="0" smtClean="0"/>
              <a:t>P</a:t>
            </a:r>
            <a:r>
              <a:rPr lang="en-GB" dirty="0" smtClean="0"/>
              <a:t>(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hu-HU" dirty="0" smtClean="0"/>
              <a:t>), a következő jövőbeli esemény valószínűsége </a:t>
            </a:r>
            <a:r>
              <a:rPr lang="en-GB" i="1" dirty="0" smtClean="0"/>
              <a:t>P</a:t>
            </a:r>
            <a:r>
              <a:rPr lang="en-GB" dirty="0" smtClean="0"/>
              <a:t>(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</a:t>
            </a:r>
            <a:r>
              <a:rPr lang="en-GB" i="1" dirty="0" smtClean="0"/>
              <a:t>x</a:t>
            </a:r>
            <a:r>
              <a:rPr lang="en-GB" i="1" baseline="-25000" dirty="0" smtClean="0"/>
              <a:t>n+1​</a:t>
            </a:r>
            <a:r>
              <a:rPr lang="hu-HU" i="1" dirty="0" smtClean="0"/>
              <a:t> </a:t>
            </a:r>
            <a:r>
              <a:rPr lang="en-GB" dirty="0" smtClean="0"/>
              <a:t>∣</a:t>
            </a:r>
            <a:r>
              <a:rPr lang="hu-HU" i="1" dirty="0" smtClean="0"/>
              <a:t> </a:t>
            </a:r>
            <a:r>
              <a:rPr lang="en-GB" i="1" dirty="0" err="1" smtClean="0"/>
              <a:t>X</a:t>
            </a:r>
            <a:r>
              <a:rPr lang="en-GB" i="1" baseline="-25000" dirty="0" err="1" smtClean="0"/>
              <a:t>n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</a:t>
            </a:r>
            <a:r>
              <a:rPr lang="en-GB" i="1" dirty="0" err="1" smtClean="0"/>
              <a:t>x</a:t>
            </a:r>
            <a:r>
              <a:rPr lang="en-GB" i="1" baseline="-25000" dirty="0" err="1" smtClean="0"/>
              <a:t>n</a:t>
            </a:r>
            <a:r>
              <a:rPr lang="en-GB" i="1" dirty="0" smtClean="0"/>
              <a:t>​</a:t>
            </a:r>
            <a:r>
              <a:rPr lang="en-GB" dirty="0" smtClean="0"/>
              <a:t>)</a:t>
            </a:r>
            <a:endParaRPr lang="hu-HU" dirty="0" smtClean="0"/>
          </a:p>
          <a:p>
            <a:pPr lvl="2"/>
            <a:r>
              <a:rPr lang="hu-HU" dirty="0" smtClean="0"/>
              <a:t>tegyük fel, hogy az állapotok </a:t>
            </a:r>
            <a:r>
              <a:rPr lang="hu-HU" dirty="0" err="1" smtClean="0"/>
              <a:t>szótokenek</a:t>
            </a:r>
            <a:r>
              <a:rPr lang="hu-HU" dirty="0" smtClean="0"/>
              <a:t>; </a:t>
            </a:r>
            <a:r>
              <a:rPr lang="en-GB" i="1" dirty="0" smtClean="0"/>
              <a:t>P</a:t>
            </a:r>
            <a:r>
              <a:rPr lang="en-GB" dirty="0" smtClean="0"/>
              <a:t>(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bálna</a:t>
            </a:r>
            <a:r>
              <a:rPr lang="en-GB" i="1" baseline="-25000" dirty="0" smtClean="0"/>
              <a:t>​</a:t>
            </a:r>
            <a:r>
              <a:rPr lang="hu-HU" i="1" dirty="0" smtClean="0"/>
              <a:t> </a:t>
            </a:r>
            <a:r>
              <a:rPr lang="en-GB" dirty="0" smtClean="0"/>
              <a:t>∣</a:t>
            </a:r>
            <a:r>
              <a:rPr lang="hu-HU" i="1" dirty="0" smtClean="0"/>
              <a:t> </a:t>
            </a:r>
            <a:r>
              <a:rPr lang="en-GB" i="1" dirty="0" err="1" smtClean="0"/>
              <a:t>X</a:t>
            </a:r>
            <a:r>
              <a:rPr lang="en-GB" i="1" baseline="-25000" dirty="0" err="1" smtClean="0"/>
              <a:t>n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a</a:t>
            </a:r>
            <a:r>
              <a:rPr lang="en-GB" i="1" dirty="0" smtClean="0"/>
              <a:t>​</a:t>
            </a:r>
            <a:r>
              <a:rPr lang="en-GB" dirty="0" smtClean="0"/>
              <a:t>)</a:t>
            </a:r>
            <a:r>
              <a:rPr lang="hu-HU" dirty="0" smtClean="0"/>
              <a:t> annak valószínűsége, hogy a </a:t>
            </a:r>
            <a:r>
              <a:rPr lang="hu-HU" i="1" dirty="0" smtClean="0"/>
              <a:t>bálna </a:t>
            </a:r>
            <a:r>
              <a:rPr lang="hu-HU" dirty="0" smtClean="0"/>
              <a:t>lesz a következő szó (</a:t>
            </a:r>
            <a:r>
              <a:rPr lang="hu-HU" i="1" dirty="0" err="1" smtClean="0"/>
              <a:t>x</a:t>
            </a:r>
            <a:r>
              <a:rPr lang="hu-HU" i="1" baseline="-25000" dirty="0" err="1" smtClean="0"/>
              <a:t>n</a:t>
            </a:r>
            <a:r>
              <a:rPr lang="hu-HU" i="1" baseline="-25000" dirty="0" smtClean="0"/>
              <a:t>+1</a:t>
            </a:r>
            <a:r>
              <a:rPr lang="hu-HU" dirty="0" smtClean="0"/>
              <a:t>), feltéve, hogy a legutóbbi szó (</a:t>
            </a:r>
            <a:r>
              <a:rPr lang="hu-HU" i="1" dirty="0" err="1" smtClean="0"/>
              <a:t>x</a:t>
            </a:r>
            <a:r>
              <a:rPr lang="hu-HU" i="1" baseline="-25000" dirty="0" err="1" smtClean="0"/>
              <a:t>n</a:t>
            </a:r>
            <a:r>
              <a:rPr lang="hu-HU" dirty="0" smtClean="0"/>
              <a:t>) az </a:t>
            </a:r>
            <a:r>
              <a:rPr lang="hu-HU" i="1" dirty="0" smtClean="0"/>
              <a:t>a</a:t>
            </a:r>
          </a:p>
          <a:p>
            <a:pPr lvl="1"/>
            <a:r>
              <a:rPr lang="hu-HU" dirty="0" smtClean="0"/>
              <a:t>Annak valószínűségét, hogy </a:t>
            </a:r>
            <a:r>
              <a:rPr lang="hu-HU" i="1" dirty="0" smtClean="0"/>
              <a:t>i </a:t>
            </a:r>
            <a:r>
              <a:rPr lang="hu-HU" dirty="0" smtClean="0"/>
              <a:t>állapotból </a:t>
            </a:r>
            <a:r>
              <a:rPr lang="hu-HU" i="1" dirty="0" smtClean="0"/>
              <a:t>j </a:t>
            </a:r>
            <a:r>
              <a:rPr lang="hu-HU" dirty="0" smtClean="0"/>
              <a:t>állapotba megy át a rendszer, átmenet-valószínűségnek nevezzük, jelölése </a:t>
            </a:r>
            <a:r>
              <a:rPr lang="hu-HU" i="1" dirty="0" err="1" smtClean="0"/>
              <a:t>P</a:t>
            </a:r>
            <a:r>
              <a:rPr lang="hu-HU" i="1" baseline="-25000" dirty="0" err="1" smtClean="0"/>
              <a:t>ij</a:t>
            </a:r>
            <a:r>
              <a:rPr lang="hu-HU" dirty="0" smtClean="0"/>
              <a:t>, definíciója </a:t>
            </a:r>
            <a:br>
              <a:rPr lang="hu-HU" dirty="0" smtClean="0"/>
            </a:br>
            <a:r>
              <a:rPr lang="en-GB" i="1" dirty="0" err="1" smtClean="0"/>
              <a:t>P</a:t>
            </a:r>
            <a:r>
              <a:rPr lang="en-GB" i="1" baseline="-25000" dirty="0" err="1" smtClean="0"/>
              <a:t>ij</a:t>
            </a:r>
            <a:r>
              <a:rPr lang="hu-HU" dirty="0" smtClean="0"/>
              <a:t> </a:t>
            </a:r>
            <a:r>
              <a:rPr lang="en-GB" dirty="0" smtClean="0"/>
              <a:t>​=</a:t>
            </a:r>
            <a:r>
              <a:rPr lang="hu-HU" dirty="0" smtClean="0"/>
              <a:t> </a:t>
            </a:r>
            <a:r>
              <a:rPr lang="en-GB" i="1" dirty="0" smtClean="0"/>
              <a:t>P</a:t>
            </a:r>
            <a:r>
              <a:rPr lang="en-GB" dirty="0" smtClean="0"/>
              <a:t>(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en-GB" baseline="-25000" dirty="0" smtClean="0"/>
              <a:t>​</a:t>
            </a:r>
            <a:r>
              <a:rPr lang="hu-HU" dirty="0" smtClean="0"/>
              <a:t> </a:t>
            </a:r>
            <a:r>
              <a:rPr lang="en-GB" dirty="0" smtClean="0"/>
              <a:t>=</a:t>
            </a:r>
            <a:r>
              <a:rPr lang="hu-HU" dirty="0" smtClean="0"/>
              <a:t> </a:t>
            </a:r>
            <a:r>
              <a:rPr lang="en-GB" i="1" dirty="0" smtClean="0"/>
              <a:t>j</a:t>
            </a:r>
            <a:r>
              <a:rPr lang="hu-HU" dirty="0" smtClean="0"/>
              <a:t> </a:t>
            </a:r>
            <a:r>
              <a:rPr lang="en-GB" dirty="0" smtClean="0"/>
              <a:t>∣</a:t>
            </a:r>
            <a:r>
              <a:rPr lang="hu-HU" dirty="0" smtClean="0"/>
              <a:t> </a:t>
            </a:r>
            <a:r>
              <a:rPr lang="en-GB" i="1" dirty="0" err="1" smtClean="0"/>
              <a:t>X</a:t>
            </a:r>
            <a:r>
              <a:rPr lang="en-GB" i="1" baseline="-25000" dirty="0" err="1" smtClean="0"/>
              <a:t>n</a:t>
            </a:r>
            <a:r>
              <a:rPr lang="hu-HU" dirty="0" smtClean="0"/>
              <a:t> </a:t>
            </a:r>
            <a:r>
              <a:rPr lang="en-GB" dirty="0" smtClean="0"/>
              <a:t>​=</a:t>
            </a:r>
            <a:r>
              <a:rPr lang="hu-HU" dirty="0" smtClean="0"/>
              <a:t> </a:t>
            </a:r>
            <a:r>
              <a:rPr lang="en-GB" i="1" dirty="0" err="1" smtClean="0"/>
              <a:t>i</a:t>
            </a:r>
            <a:r>
              <a:rPr lang="en-GB" dirty="0" smtClean="0"/>
              <a:t>)</a:t>
            </a:r>
            <a:endParaRPr lang="hu-HU" dirty="0" smtClean="0"/>
          </a:p>
          <a:p>
            <a:pPr lvl="2"/>
            <a:r>
              <a:rPr lang="hu-HU" dirty="0" smtClean="0"/>
              <a:t>Például P</a:t>
            </a:r>
            <a:r>
              <a:rPr lang="hu-HU" baseline="-25000" dirty="0" smtClean="0"/>
              <a:t>a,bálna</a:t>
            </a:r>
            <a:r>
              <a:rPr lang="hu-HU" dirty="0" smtClean="0"/>
              <a:t> annak valószínűsége, hogy a </a:t>
            </a:r>
            <a:r>
              <a:rPr lang="hu-HU" i="1" dirty="0" smtClean="0"/>
              <a:t>bálna </a:t>
            </a:r>
            <a:r>
              <a:rPr lang="hu-HU" dirty="0" smtClean="0"/>
              <a:t>a következő szó, ha a </a:t>
            </a:r>
            <a:r>
              <a:rPr lang="hu-HU" dirty="0" err="1" smtClean="0"/>
              <a:t>leutóbbi</a:t>
            </a:r>
            <a:r>
              <a:rPr lang="hu-HU" dirty="0" smtClean="0"/>
              <a:t> </a:t>
            </a:r>
            <a:r>
              <a:rPr lang="hu-HU" i="1" dirty="0" err="1" smtClean="0"/>
              <a:t>a</a:t>
            </a:r>
            <a:r>
              <a:rPr lang="hu-HU" i="1" dirty="0" smtClean="0"/>
              <a:t> </a:t>
            </a:r>
            <a:r>
              <a:rPr lang="hu-HU" dirty="0" smtClean="0"/>
              <a:t>volt</a:t>
            </a:r>
          </a:p>
          <a:p>
            <a:pPr lvl="1"/>
            <a:r>
              <a:rPr lang="hu-HU" dirty="0" smtClean="0"/>
              <a:t>Az átmenet-valószínűségeket összegyűjthetjük egy átmenetmátrixban</a:t>
            </a:r>
          </a:p>
          <a:p>
            <a:pPr lvl="1"/>
            <a:r>
              <a:rPr lang="hu-HU" dirty="0" smtClean="0"/>
              <a:t>Azaz minden szó valószínűségét az adott szó feltételes valószínűségeként modellezzük, feltéve egy konkrét megelőző szót</a:t>
            </a:r>
          </a:p>
        </p:txBody>
      </p:sp>
    </p:spTree>
    <p:extLst>
      <p:ext uri="{BB962C8B-B14F-4D97-AF65-F5344CB8AC3E}">
        <p14:creationId xmlns:p14="http://schemas.microsoft.com/office/powerpoint/2010/main" val="381801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Maximum </a:t>
            </a:r>
            <a:r>
              <a:rPr lang="hu-HU" dirty="0" err="1" smtClean="0"/>
              <a:t>likelihood-becslés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Honnan tudjuk, hogy melyek az átmenet-valószínűségek értékei?</a:t>
            </a:r>
          </a:p>
          <a:p>
            <a:r>
              <a:rPr lang="hu-HU" dirty="0" smtClean="0"/>
              <a:t>A valódi átmenet-valószínűségek a való világ tulajdonságai, ezek határozzák meg azt, hogy mennyire valószínű egy szó elhangzása egy konkrét előző szó után egy tágabb kontextusban.</a:t>
            </a:r>
          </a:p>
          <a:p>
            <a:r>
              <a:rPr lang="hu-HU" dirty="0" smtClean="0"/>
              <a:t>Ezeket a feltételes valószínűségi eloszlásokat az ún. </a:t>
            </a:r>
            <a:r>
              <a:rPr lang="hu-HU" b="1" dirty="0" smtClean="0"/>
              <a:t>maximum </a:t>
            </a:r>
            <a:r>
              <a:rPr lang="hu-HU" b="1" dirty="0" err="1" smtClean="0"/>
              <a:t>likelihood</a:t>
            </a:r>
            <a:r>
              <a:rPr lang="hu-HU" b="1" dirty="0" smtClean="0"/>
              <a:t> módszerrel </a:t>
            </a:r>
            <a:r>
              <a:rPr lang="hu-HU" dirty="0" smtClean="0"/>
              <a:t>becsülhetjük:</a:t>
            </a:r>
          </a:p>
          <a:p>
            <a:pPr lvl="1"/>
            <a:r>
              <a:rPr lang="hu-HU" dirty="0" smtClean="0"/>
              <a:t>minden átmenet-valószínűséget úgy becsüljük, hogy azon alkalmak előfordulási aránya, amelyekben az adott átmenetet megfigyeltük</a:t>
            </a:r>
          </a:p>
          <a:p>
            <a:pPr lvl="1"/>
            <a:r>
              <a:rPr lang="hu-HU" dirty="0" smtClean="0"/>
              <a:t>ennek eredménye a valódi disztribúció </a:t>
            </a:r>
            <a:r>
              <a:rPr lang="hu-HU" b="1" dirty="0" smtClean="0"/>
              <a:t>maximum </a:t>
            </a:r>
            <a:r>
              <a:rPr lang="hu-HU" b="1" dirty="0" err="1" smtClean="0"/>
              <a:t>likelihood-becslése</a:t>
            </a:r>
            <a:endParaRPr lang="hu-HU" b="1" dirty="0" smtClean="0"/>
          </a:p>
          <a:p>
            <a:pPr lvl="1"/>
            <a:r>
              <a:rPr lang="hu-HU" dirty="0" smtClean="0"/>
              <a:t>Ehhez összeszámoljuk az átmeneteket egy korpuszban, gyakoriságukat egy </a:t>
            </a:r>
            <a:r>
              <a:rPr lang="hu-HU" dirty="0" err="1" smtClean="0"/>
              <a:t>dictben</a:t>
            </a:r>
            <a:r>
              <a:rPr lang="hu-HU" dirty="0" smtClean="0"/>
              <a:t> tároljuk.</a:t>
            </a:r>
          </a:p>
          <a:p>
            <a:r>
              <a:rPr lang="hu-HU" dirty="0" smtClean="0"/>
              <a:t>Példa:</a:t>
            </a:r>
          </a:p>
          <a:p>
            <a:pPr lvl="1"/>
            <a:r>
              <a:rPr lang="hu-HU" dirty="0" smtClean="0"/>
              <a:t>korpuszunkban az </a:t>
            </a:r>
            <a:r>
              <a:rPr lang="hu-HU" i="1" dirty="0" smtClean="0"/>
              <a:t>a</a:t>
            </a:r>
            <a:r>
              <a:rPr lang="hu-HU" dirty="0" smtClean="0"/>
              <a:t> pontosan </a:t>
            </a:r>
            <a:r>
              <a:rPr lang="hu-HU" i="1" dirty="0" smtClean="0"/>
              <a:t>N</a:t>
            </a:r>
            <a:r>
              <a:rPr lang="hu-HU" i="1" baseline="-25000" dirty="0" smtClean="0"/>
              <a:t>a</a:t>
            </a:r>
            <a:r>
              <a:rPr lang="hu-HU" dirty="0" smtClean="0"/>
              <a:t> = 100 alkalommal fordul elő</a:t>
            </a:r>
          </a:p>
          <a:p>
            <a:pPr lvl="1"/>
            <a:r>
              <a:rPr lang="hu-HU" dirty="0" smtClean="0"/>
              <a:t>42 alkalommal </a:t>
            </a:r>
            <a:r>
              <a:rPr lang="hu-HU" i="1" dirty="0" smtClean="0"/>
              <a:t>hajó, </a:t>
            </a:r>
            <a:r>
              <a:rPr lang="hu-HU" dirty="0" smtClean="0"/>
              <a:t>32-szer </a:t>
            </a:r>
            <a:r>
              <a:rPr lang="hu-HU" i="1" dirty="0" smtClean="0"/>
              <a:t>kapitány, </a:t>
            </a:r>
            <a:r>
              <a:rPr lang="hu-HU" dirty="0" smtClean="0"/>
              <a:t>16-szor </a:t>
            </a:r>
            <a:r>
              <a:rPr lang="hu-HU" i="1" dirty="0" smtClean="0"/>
              <a:t>bálna, </a:t>
            </a:r>
            <a:r>
              <a:rPr lang="hu-HU" dirty="0" smtClean="0"/>
              <a:t>10-szer </a:t>
            </a:r>
            <a:r>
              <a:rPr lang="hu-HU" i="1" dirty="0" smtClean="0"/>
              <a:t>matróz </a:t>
            </a:r>
            <a:r>
              <a:rPr lang="hu-HU" dirty="0" smtClean="0"/>
              <a:t>követi</a:t>
            </a:r>
          </a:p>
          <a:p>
            <a:pPr lvl="1"/>
            <a:r>
              <a:rPr lang="hu-HU" dirty="0" smtClean="0"/>
              <a:t>így a feltételes valószínűségek becslése:</a:t>
            </a:r>
          </a:p>
          <a:p>
            <a:pPr lvl="2"/>
            <a:r>
              <a:rPr lang="hu-HU" i="1" dirty="0" smtClean="0"/>
              <a:t>N</a:t>
            </a:r>
            <a:r>
              <a:rPr lang="hu-HU" i="1" baseline="-25000" dirty="0" smtClean="0"/>
              <a:t>a,hajó</a:t>
            </a:r>
            <a:r>
              <a:rPr lang="hu-HU" dirty="0" smtClean="0"/>
              <a:t> = 42; </a:t>
            </a:r>
            <a:r>
              <a:rPr lang="hu-HU" i="1" dirty="0" smtClean="0"/>
              <a:t>P</a:t>
            </a:r>
            <a:r>
              <a:rPr lang="hu-HU" i="1" baseline="-25000" dirty="0" smtClean="0"/>
              <a:t>a,hajó</a:t>
            </a:r>
            <a:r>
              <a:rPr lang="hu-HU" i="1" dirty="0" smtClean="0"/>
              <a:t> </a:t>
            </a:r>
            <a:r>
              <a:rPr lang="hu-HU" dirty="0" smtClean="0"/>
              <a:t>= </a:t>
            </a:r>
            <a:r>
              <a:rPr lang="hu-HU" i="1" dirty="0" smtClean="0"/>
              <a:t>N</a:t>
            </a:r>
            <a:r>
              <a:rPr lang="hu-HU" i="1" baseline="-25000" dirty="0" smtClean="0"/>
              <a:t>a,hajó</a:t>
            </a:r>
            <a:r>
              <a:rPr lang="hu-HU" i="1" dirty="0" smtClean="0"/>
              <a:t> / N</a:t>
            </a:r>
            <a:r>
              <a:rPr lang="hu-HU" i="1" baseline="-25000" dirty="0" smtClean="0"/>
              <a:t>a</a:t>
            </a:r>
            <a:r>
              <a:rPr lang="hu-HU" i="1" dirty="0" smtClean="0"/>
              <a:t> </a:t>
            </a:r>
            <a:r>
              <a:rPr lang="hu-HU" dirty="0" smtClean="0"/>
              <a:t>= 42 / 100 = 0,42</a:t>
            </a:r>
          </a:p>
          <a:p>
            <a:pPr lvl="2"/>
            <a:r>
              <a:rPr lang="hu-HU" i="1" dirty="0" smtClean="0"/>
              <a:t>N</a:t>
            </a:r>
            <a:r>
              <a:rPr lang="hu-HU" i="1" baseline="-25000" dirty="0" smtClean="0"/>
              <a:t>a,kapitány</a:t>
            </a:r>
            <a:r>
              <a:rPr lang="hu-HU" i="1" dirty="0" smtClean="0"/>
              <a:t> </a:t>
            </a:r>
            <a:r>
              <a:rPr lang="hu-HU" dirty="0" smtClean="0"/>
              <a:t>= 21; </a:t>
            </a:r>
            <a:r>
              <a:rPr lang="hu-HU" i="1" dirty="0" smtClean="0"/>
              <a:t>P</a:t>
            </a:r>
            <a:r>
              <a:rPr lang="hu-HU" i="1" baseline="-25000" dirty="0" smtClean="0"/>
              <a:t>a,kapitány</a:t>
            </a:r>
            <a:r>
              <a:rPr lang="hu-HU" i="1" dirty="0" smtClean="0"/>
              <a:t> </a:t>
            </a:r>
            <a:r>
              <a:rPr lang="hu-HU" dirty="0" smtClean="0"/>
              <a:t>= </a:t>
            </a:r>
            <a:r>
              <a:rPr lang="hu-HU" i="1" dirty="0" smtClean="0"/>
              <a:t>N</a:t>
            </a:r>
            <a:r>
              <a:rPr lang="hu-HU" i="1" baseline="-25000" dirty="0" smtClean="0"/>
              <a:t>a,kapitány</a:t>
            </a:r>
            <a:r>
              <a:rPr lang="hu-HU" i="1" dirty="0" smtClean="0"/>
              <a:t>  / N</a:t>
            </a:r>
            <a:r>
              <a:rPr lang="hu-HU" i="1" baseline="-25000" dirty="0" smtClean="0"/>
              <a:t>a</a:t>
            </a:r>
            <a:r>
              <a:rPr lang="hu-HU" dirty="0" smtClean="0"/>
              <a:t> = 32 / 100 = 0,32</a:t>
            </a:r>
          </a:p>
          <a:p>
            <a:pPr lvl="2"/>
            <a:r>
              <a:rPr lang="hu-HU" i="1" dirty="0" smtClean="0"/>
              <a:t>P</a:t>
            </a:r>
            <a:r>
              <a:rPr lang="hu-HU" i="1" baseline="-25000" dirty="0" smtClean="0"/>
              <a:t>a,bálna</a:t>
            </a:r>
            <a:r>
              <a:rPr lang="hu-HU" dirty="0" smtClean="0"/>
              <a:t> = 0,16</a:t>
            </a:r>
          </a:p>
          <a:p>
            <a:pPr lvl="2"/>
            <a:r>
              <a:rPr lang="hu-HU" i="1" dirty="0" smtClean="0"/>
              <a:t>P</a:t>
            </a:r>
            <a:r>
              <a:rPr lang="hu-HU" i="1" baseline="-25000" dirty="0" smtClean="0"/>
              <a:t>a,matróz</a:t>
            </a:r>
            <a:r>
              <a:rPr lang="hu-HU" dirty="0" smtClean="0"/>
              <a:t> = 0,1</a:t>
            </a:r>
          </a:p>
          <a:p>
            <a:pPr lvl="2"/>
            <a:r>
              <a:rPr lang="hu-HU" dirty="0" smtClean="0"/>
              <a:t>minden más lehetséges </a:t>
            </a:r>
            <a:r>
              <a:rPr lang="hu-HU" i="1" dirty="0" smtClean="0"/>
              <a:t>x </a:t>
            </a:r>
            <a:r>
              <a:rPr lang="hu-HU" dirty="0" err="1" smtClean="0"/>
              <a:t>tokenre</a:t>
            </a:r>
            <a:r>
              <a:rPr lang="hu-HU" dirty="0" smtClean="0"/>
              <a:t>: </a:t>
            </a:r>
            <a:r>
              <a:rPr lang="hu-HU" i="1" dirty="0" smtClean="0"/>
              <a:t>P</a:t>
            </a:r>
            <a:r>
              <a:rPr lang="hu-HU" i="1" baseline="-25000" dirty="0" smtClean="0"/>
              <a:t>a,x</a:t>
            </a:r>
            <a:r>
              <a:rPr lang="hu-HU" dirty="0" smtClean="0"/>
              <a:t> = 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67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Maximum </a:t>
            </a:r>
            <a:r>
              <a:rPr lang="hu-HU" dirty="0" err="1" smtClean="0"/>
              <a:t>likelihood-becslés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Ha az </a:t>
            </a:r>
            <a:r>
              <a:rPr lang="hu-HU" dirty="0" err="1" smtClean="0"/>
              <a:t>MLB-t</a:t>
            </a:r>
            <a:r>
              <a:rPr lang="hu-HU" dirty="0" smtClean="0"/>
              <a:t> </a:t>
            </a:r>
            <a:r>
              <a:rPr lang="hu-HU" b="1" dirty="0" smtClean="0"/>
              <a:t>kis korpusz </a:t>
            </a:r>
            <a:r>
              <a:rPr lang="hu-HU" dirty="0" smtClean="0"/>
              <a:t>alapján számítjuk, a becsült valószínűségek általában </a:t>
            </a:r>
            <a:r>
              <a:rPr lang="hu-HU" b="1" dirty="0" smtClean="0"/>
              <a:t>nem tükrözik az adott nyelvre jellemző valós valószínűségeket</a:t>
            </a:r>
          </a:p>
          <a:p>
            <a:pPr lvl="1"/>
            <a:r>
              <a:rPr lang="hu-HU" dirty="0" smtClean="0"/>
              <a:t>A valószínűségek erőteljesen torzítva lesznek a kis korpusz tartalmát jellemző tényezők (téma, műfaj, szerző stb.) irányába</a:t>
            </a:r>
          </a:p>
          <a:p>
            <a:pPr lvl="2"/>
            <a:r>
              <a:rPr lang="hu-HU" dirty="0" err="1" smtClean="0"/>
              <a:t>szerzőspecifikus</a:t>
            </a:r>
            <a:r>
              <a:rPr lang="hu-HU" dirty="0" smtClean="0"/>
              <a:t>, ún. </a:t>
            </a:r>
            <a:r>
              <a:rPr lang="hu-HU" dirty="0" err="1" smtClean="0"/>
              <a:t>idiolektális</a:t>
            </a:r>
            <a:r>
              <a:rPr lang="hu-HU" dirty="0" smtClean="0"/>
              <a:t> nyelvhasználati jellegzetességek</a:t>
            </a:r>
          </a:p>
          <a:p>
            <a:r>
              <a:rPr lang="hu-HU" b="1" dirty="0" smtClean="0"/>
              <a:t>Nagyon nagy korpuszt </a:t>
            </a:r>
            <a:r>
              <a:rPr lang="hu-HU" dirty="0" smtClean="0"/>
              <a:t>használva viszont remélhetőleg </a:t>
            </a:r>
            <a:r>
              <a:rPr lang="hu-HU" b="1" dirty="0" smtClean="0"/>
              <a:t>sokkal pontosabban </a:t>
            </a:r>
            <a:r>
              <a:rPr lang="hu-HU" dirty="0" smtClean="0"/>
              <a:t>tudjuk becsülni a valós átmenet-valószínűségeket.</a:t>
            </a:r>
          </a:p>
          <a:p>
            <a:r>
              <a:rPr lang="hu-HU" b="1" dirty="0" smtClean="0"/>
              <a:t>Ha </a:t>
            </a:r>
            <a:r>
              <a:rPr lang="hu-HU" dirty="0" smtClean="0"/>
              <a:t>egy nyelvben kifejezhető össze mondat halmaza </a:t>
            </a:r>
            <a:r>
              <a:rPr lang="hu-HU" b="1" dirty="0" smtClean="0"/>
              <a:t>véges lenne</a:t>
            </a:r>
            <a:r>
              <a:rPr lang="hu-HU" dirty="0" smtClean="0"/>
              <a:t>, és </a:t>
            </a:r>
            <a:r>
              <a:rPr lang="hu-HU" b="1" dirty="0" smtClean="0"/>
              <a:t>fel tudnánk ezeket sorolni</a:t>
            </a:r>
            <a:r>
              <a:rPr lang="hu-HU" dirty="0" smtClean="0"/>
              <a:t>, valamint </a:t>
            </a:r>
            <a:r>
              <a:rPr lang="hu-HU" b="1" dirty="0" smtClean="0"/>
              <a:t>meg tudnánk őket számolni</a:t>
            </a:r>
            <a:r>
              <a:rPr lang="hu-HU" dirty="0" smtClean="0"/>
              <a:t>, meghatározhatnánk a pontos valós valószínűségeket.</a:t>
            </a:r>
          </a:p>
          <a:p>
            <a:pPr lvl="1"/>
            <a:r>
              <a:rPr lang="hu-HU" dirty="0" smtClean="0"/>
              <a:t>de ez a halmaz gyakorlatilag végtelen</a:t>
            </a:r>
          </a:p>
          <a:p>
            <a:pPr lvl="1"/>
            <a:r>
              <a:rPr lang="hu-HU" dirty="0" smtClean="0"/>
              <a:t>ha véges is lenne, akkor sem tudnánk összegyűjteni</a:t>
            </a:r>
          </a:p>
          <a:p>
            <a:pPr lvl="1"/>
            <a:r>
              <a:rPr lang="hu-HU" dirty="0" smtClean="0"/>
              <a:t>így csak becsülni tudunk a nyelv egy véletlen mintája, azaz a korpusz alapján</a:t>
            </a:r>
          </a:p>
        </p:txBody>
      </p:sp>
    </p:spTree>
    <p:extLst>
      <p:ext uri="{BB962C8B-B14F-4D97-AF65-F5344CB8AC3E}">
        <p14:creationId xmlns:p14="http://schemas.microsoft.com/office/powerpoint/2010/main" val="16533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Maximum </a:t>
            </a:r>
            <a:r>
              <a:rPr lang="hu-HU" dirty="0" err="1" smtClean="0"/>
              <a:t>likelihood-becslés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b="1" dirty="0" err="1" smtClean="0"/>
              <a:t>Előfordulásszámok</a:t>
            </a:r>
            <a:r>
              <a:rPr lang="hu-HU" b="1" dirty="0" smtClean="0"/>
              <a:t> mátrixát </a:t>
            </a:r>
            <a:r>
              <a:rPr lang="hu-HU" dirty="0" smtClean="0"/>
              <a:t>hozzuk létre</a:t>
            </a:r>
          </a:p>
          <a:p>
            <a:pPr lvl="1"/>
            <a:r>
              <a:rPr lang="hu-HU" dirty="0" smtClean="0"/>
              <a:t>V x V dimenzió, V a szótár mérete (elemszáma)</a:t>
            </a:r>
            <a:endParaRPr lang="hu-HU" dirty="0"/>
          </a:p>
          <a:p>
            <a:pPr lvl="1"/>
            <a:r>
              <a:rPr lang="hu-HU" dirty="0" smtClean="0"/>
              <a:t>sorok: első </a:t>
            </a:r>
            <a:r>
              <a:rPr lang="hu-HU" dirty="0" err="1" smtClean="0"/>
              <a:t>token</a:t>
            </a:r>
            <a:endParaRPr lang="hu-HU" dirty="0" smtClean="0"/>
          </a:p>
          <a:p>
            <a:pPr lvl="1"/>
            <a:r>
              <a:rPr lang="hu-HU" dirty="0" smtClean="0"/>
              <a:t>oszlopok: második </a:t>
            </a:r>
            <a:r>
              <a:rPr lang="hu-HU" dirty="0" err="1" smtClean="0"/>
              <a:t>token</a:t>
            </a:r>
            <a:r>
              <a:rPr lang="hu-HU" dirty="0" smtClean="0"/>
              <a:t> előfordulásai az első </a:t>
            </a:r>
            <a:r>
              <a:rPr lang="hu-HU" dirty="0" err="1" smtClean="0"/>
              <a:t>token</a:t>
            </a:r>
            <a:r>
              <a:rPr lang="hu-HU" dirty="0" smtClean="0"/>
              <a:t> után</a:t>
            </a:r>
          </a:p>
          <a:p>
            <a:pPr lvl="1"/>
            <a:r>
              <a:rPr lang="hu-HU" b="1" dirty="0" smtClean="0"/>
              <a:t>nagyon ritka mátrix, a legtöbb </a:t>
            </a:r>
            <a:r>
              <a:rPr lang="hu-HU" b="1" dirty="0" err="1" smtClean="0"/>
              <a:t>előfordulásszám</a:t>
            </a:r>
            <a:r>
              <a:rPr lang="hu-HU" b="1" dirty="0" smtClean="0"/>
              <a:t> nulla</a:t>
            </a:r>
            <a:endParaRPr lang="hu-HU" b="1" dirty="0"/>
          </a:p>
          <a:p>
            <a:pPr lvl="1"/>
            <a:r>
              <a:rPr lang="hu-HU" b="1" dirty="0" smtClean="0"/>
              <a:t>Szomszédos </a:t>
            </a:r>
            <a:r>
              <a:rPr lang="hu-HU" b="1" dirty="0" err="1" smtClean="0"/>
              <a:t>tokenek</a:t>
            </a:r>
            <a:r>
              <a:rPr lang="hu-HU" b="1" dirty="0" smtClean="0"/>
              <a:t> </a:t>
            </a:r>
            <a:r>
              <a:rPr lang="hu-HU" dirty="0" smtClean="0"/>
              <a:t>alkotta párt </a:t>
            </a:r>
            <a:r>
              <a:rPr lang="hu-HU" b="1" dirty="0" err="1" smtClean="0"/>
              <a:t>bigrammnak</a:t>
            </a:r>
            <a:r>
              <a:rPr lang="hu-HU" dirty="0" smtClean="0"/>
              <a:t> nevezzük az </a:t>
            </a:r>
            <a:r>
              <a:rPr lang="hu-HU" dirty="0" err="1" smtClean="0"/>
              <a:t>NLP-ben</a:t>
            </a:r>
            <a:endParaRPr lang="hu-HU" dirty="0" smtClean="0"/>
          </a:p>
          <a:p>
            <a:pPr lvl="2"/>
            <a:r>
              <a:rPr lang="hu-HU" i="1" dirty="0" smtClean="0"/>
              <a:t>boldog új évet kívánok:</a:t>
            </a:r>
            <a:r>
              <a:rPr lang="hu-HU" dirty="0" smtClean="0"/>
              <a:t> (boldog, új), (</a:t>
            </a:r>
            <a:r>
              <a:rPr lang="hu-HU" dirty="0" err="1" smtClean="0"/>
              <a:t>új</a:t>
            </a:r>
            <a:r>
              <a:rPr lang="hu-HU" dirty="0" smtClean="0"/>
              <a:t>, évet), (</a:t>
            </a:r>
            <a:r>
              <a:rPr lang="hu-HU" dirty="0" err="1" smtClean="0"/>
              <a:t>évet</a:t>
            </a:r>
            <a:r>
              <a:rPr lang="hu-HU" dirty="0" smtClean="0"/>
              <a:t>, kívánok)</a:t>
            </a:r>
          </a:p>
          <a:p>
            <a:r>
              <a:rPr lang="hu-HU" dirty="0" smtClean="0"/>
              <a:t>Utána a mátrixban szereplő minden értéket elosztjuk az adott sor összegével.</a:t>
            </a:r>
          </a:p>
          <a:p>
            <a:pPr lvl="1"/>
            <a:r>
              <a:rPr lang="hu-HU" dirty="0" smtClean="0"/>
              <a:t>Így az adott </a:t>
            </a:r>
            <a:r>
              <a:rPr lang="hu-HU" dirty="0" err="1" smtClean="0"/>
              <a:t>bigramm</a:t>
            </a:r>
            <a:r>
              <a:rPr lang="hu-HU" dirty="0" smtClean="0"/>
              <a:t> átmenet-valószínűségének becslését kapjuk.</a:t>
            </a:r>
          </a:p>
          <a:p>
            <a:r>
              <a:rPr lang="hu-HU" dirty="0" smtClean="0"/>
              <a:t>Ennek eredménye egy ún. </a:t>
            </a:r>
            <a:r>
              <a:rPr lang="hu-HU" b="1" dirty="0" err="1" smtClean="0"/>
              <a:t>bigramm-nyelvmodell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626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N-gramm-nyelvmodellek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Markov-lánc</a:t>
            </a:r>
            <a:r>
              <a:rPr lang="hu-HU" dirty="0" smtClean="0"/>
              <a:t> feltételezi, hogy a jövőt a jelen határozza meg, nem a múlt.</a:t>
            </a:r>
          </a:p>
          <a:p>
            <a:r>
              <a:rPr lang="hu-HU" dirty="0" smtClean="0"/>
              <a:t>Ezt </a:t>
            </a:r>
            <a:r>
              <a:rPr lang="hu-HU" b="1" dirty="0" smtClean="0"/>
              <a:t>általánosíthatjuk</a:t>
            </a:r>
            <a:r>
              <a:rPr lang="hu-HU" dirty="0" smtClean="0"/>
              <a:t> úgy, hogy a </a:t>
            </a:r>
            <a:r>
              <a:rPr lang="hu-HU" b="1" dirty="0" smtClean="0"/>
              <a:t>jelent kiterjesztjük </a:t>
            </a:r>
            <a:r>
              <a:rPr lang="hu-HU" dirty="0" smtClean="0"/>
              <a:t>bizonyos számú lépéssel a múltba.</a:t>
            </a:r>
          </a:p>
          <a:p>
            <a:r>
              <a:rPr lang="hu-HU" dirty="0" smtClean="0"/>
              <a:t>Ha egy sztochasztikus folyamatban a jövőt nemcsak a jelen, hanem a </a:t>
            </a:r>
            <a:r>
              <a:rPr lang="hu-HU" b="1" dirty="0" smtClean="0"/>
              <a:t>legutóbbi </a:t>
            </a:r>
            <a:r>
              <a:rPr lang="hu-HU" b="1" i="1" dirty="0" smtClean="0"/>
              <a:t>k </a:t>
            </a:r>
            <a:r>
              <a:rPr lang="hu-HU" b="1" dirty="0" smtClean="0"/>
              <a:t>állapot </a:t>
            </a:r>
            <a:r>
              <a:rPr lang="hu-HU" dirty="0" smtClean="0"/>
              <a:t>határozza meg, a folyamatot </a:t>
            </a:r>
            <a:r>
              <a:rPr lang="hu-HU" b="1" i="1" dirty="0" err="1" smtClean="0"/>
              <a:t>k-</a:t>
            </a:r>
            <a:r>
              <a:rPr lang="hu-HU" b="1" dirty="0" err="1" smtClean="0"/>
              <a:t>adrendű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magasabbrendű</a:t>
            </a:r>
            <a:r>
              <a:rPr lang="hu-HU" dirty="0" smtClean="0"/>
              <a:t>) </a:t>
            </a:r>
            <a:r>
              <a:rPr lang="hu-HU" b="1" dirty="0" err="1" smtClean="0"/>
              <a:t>Markov-folyamatnak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-láncnak</a:t>
            </a:r>
            <a:r>
              <a:rPr lang="hu-HU" dirty="0" smtClean="0"/>
              <a:t>) nevezzük</a:t>
            </a:r>
          </a:p>
          <a:p>
            <a:pPr lvl="1"/>
            <a:r>
              <a:rPr lang="hu-HU" dirty="0" smtClean="0"/>
              <a:t>A következő állapotot még mindig csak a kibővített jelen állapot határozza meg, nem az előzmények összessége.</a:t>
            </a:r>
          </a:p>
          <a:p>
            <a:r>
              <a:rPr lang="hu-HU" dirty="0" smtClean="0"/>
              <a:t>Nyelvmodellezésre alkalmazva:</a:t>
            </a:r>
          </a:p>
          <a:p>
            <a:pPr lvl="1"/>
            <a:r>
              <a:rPr lang="hu-HU" i="1" dirty="0" smtClean="0"/>
              <a:t>n </a:t>
            </a:r>
            <a:r>
              <a:rPr lang="hu-HU" dirty="0" smtClean="0"/>
              <a:t>szomszédos </a:t>
            </a:r>
            <a:r>
              <a:rPr lang="hu-HU" dirty="0" err="1" smtClean="0"/>
              <a:t>token</a:t>
            </a:r>
            <a:r>
              <a:rPr lang="hu-HU" dirty="0" smtClean="0"/>
              <a:t> sorozatát </a:t>
            </a:r>
            <a:r>
              <a:rPr lang="hu-HU" b="1" dirty="0" err="1" smtClean="0"/>
              <a:t>n-grammnak</a:t>
            </a:r>
            <a:r>
              <a:rPr lang="hu-HU" b="1" dirty="0" smtClean="0"/>
              <a:t> </a:t>
            </a:r>
            <a:r>
              <a:rPr lang="hu-HU" dirty="0" smtClean="0"/>
              <a:t>nevezzük</a:t>
            </a:r>
          </a:p>
          <a:p>
            <a:pPr lvl="2"/>
            <a:r>
              <a:rPr lang="hu-HU" dirty="0" smtClean="0"/>
              <a:t>(boldog, új, évet), (új, évet, kívánok): 3-grammok, ezeket </a:t>
            </a:r>
            <a:r>
              <a:rPr lang="hu-HU" dirty="0" err="1" smtClean="0"/>
              <a:t>trigrammnak</a:t>
            </a:r>
            <a:r>
              <a:rPr lang="hu-HU" dirty="0" smtClean="0"/>
              <a:t> hívjuk</a:t>
            </a:r>
            <a:endParaRPr lang="hu-HU" b="1" dirty="0" smtClean="0"/>
          </a:p>
          <a:p>
            <a:pPr lvl="2"/>
            <a:r>
              <a:rPr lang="hu-HU" dirty="0" smtClean="0"/>
              <a:t>a 2-grammokat </a:t>
            </a:r>
            <a:r>
              <a:rPr lang="hu-HU" dirty="0" err="1" smtClean="0"/>
              <a:t>bigrammnak</a:t>
            </a:r>
            <a:r>
              <a:rPr lang="hu-HU" dirty="0" smtClean="0"/>
              <a:t>; nincs külön neve a 4-grammnak, 5-grammnak stb.</a:t>
            </a:r>
          </a:p>
          <a:p>
            <a:pPr lvl="1"/>
            <a:r>
              <a:rPr lang="hu-HU" dirty="0" smtClean="0"/>
              <a:t>A megelőző </a:t>
            </a:r>
            <a:r>
              <a:rPr lang="hu-HU" i="1" dirty="0" smtClean="0"/>
              <a:t>n–</a:t>
            </a:r>
            <a:r>
              <a:rPr lang="hu-HU" dirty="0" smtClean="0"/>
              <a:t>1 </a:t>
            </a:r>
            <a:r>
              <a:rPr lang="hu-HU" dirty="0" err="1" smtClean="0"/>
              <a:t>tokenből</a:t>
            </a:r>
            <a:r>
              <a:rPr lang="hu-HU" dirty="0" smtClean="0"/>
              <a:t> az n-edik </a:t>
            </a:r>
            <a:r>
              <a:rPr lang="hu-HU" dirty="0" err="1" smtClean="0"/>
              <a:t>tokenbe</a:t>
            </a:r>
            <a:r>
              <a:rPr lang="hu-HU" dirty="0" smtClean="0"/>
              <a:t> való átmenet valószínűségeit meghatározó </a:t>
            </a:r>
            <a:r>
              <a:rPr lang="hu-HU" dirty="0" err="1" smtClean="0"/>
              <a:t>Markov-modellt</a:t>
            </a:r>
            <a:r>
              <a:rPr lang="hu-HU" dirty="0" smtClean="0"/>
              <a:t> </a:t>
            </a:r>
            <a:r>
              <a:rPr lang="hu-HU" b="1" dirty="0" err="1" smtClean="0"/>
              <a:t>n-gramm-nyelvmodellnek</a:t>
            </a:r>
            <a:r>
              <a:rPr lang="hu-HU" b="1" dirty="0" smtClean="0"/>
              <a:t> </a:t>
            </a:r>
            <a:r>
              <a:rPr lang="hu-HU" dirty="0" smtClean="0"/>
              <a:t>nevezzük</a:t>
            </a:r>
          </a:p>
          <a:p>
            <a:pPr lvl="1"/>
            <a:r>
              <a:rPr lang="hu-HU" dirty="0" smtClean="0"/>
              <a:t>Speciális eset: azt is feltételezhetnénk, hogy a </a:t>
            </a:r>
            <a:r>
              <a:rPr lang="hu-HU" dirty="0" err="1" smtClean="0"/>
              <a:t>tokenek</a:t>
            </a:r>
            <a:r>
              <a:rPr lang="hu-HU" dirty="0" smtClean="0"/>
              <a:t> független, azonos eloszlású valószínűségű változók értékei: 1-gramm-(</a:t>
            </a:r>
            <a:r>
              <a:rPr lang="hu-HU" dirty="0" err="1" smtClean="0"/>
              <a:t>unigramm-</a:t>
            </a:r>
            <a:r>
              <a:rPr lang="hu-HU" dirty="0" smtClean="0"/>
              <a:t>)</a:t>
            </a:r>
            <a:r>
              <a:rPr lang="hu-HU" dirty="0" err="1" smtClean="0"/>
              <a:t>model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06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Trie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Az </a:t>
            </a:r>
            <a:r>
              <a:rPr lang="hu-HU" dirty="0" err="1" smtClean="0"/>
              <a:t>n-gramm-nyelvmodellek</a:t>
            </a:r>
            <a:r>
              <a:rPr lang="hu-HU" dirty="0" smtClean="0"/>
              <a:t> számítógépben történő ábrázolására általában a </a:t>
            </a:r>
            <a:r>
              <a:rPr lang="hu-HU" dirty="0" err="1" smtClean="0"/>
              <a:t>trie</a:t>
            </a:r>
            <a:r>
              <a:rPr lang="hu-HU" dirty="0" smtClean="0"/>
              <a:t> (ejtsd: </a:t>
            </a:r>
            <a:r>
              <a:rPr lang="hu-HU" dirty="0" err="1" smtClean="0"/>
              <a:t>trí</a:t>
            </a:r>
            <a:r>
              <a:rPr lang="hu-HU" dirty="0" smtClean="0"/>
              <a:t>) adatszerkezetet használják.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trie</a:t>
            </a:r>
            <a:r>
              <a:rPr lang="hu-HU" dirty="0" smtClean="0"/>
              <a:t> egyetlen gyökércsúccsal rendelkező fa.</a:t>
            </a:r>
          </a:p>
          <a:p>
            <a:pPr lvl="1"/>
            <a:r>
              <a:rPr lang="hu-HU" dirty="0" smtClean="0"/>
              <a:t>Minden irányított éle egy-egy </a:t>
            </a:r>
            <a:r>
              <a:rPr lang="hu-HU" dirty="0" err="1" smtClean="0"/>
              <a:t>tokennel</a:t>
            </a:r>
            <a:r>
              <a:rPr lang="hu-HU" dirty="0" smtClean="0"/>
              <a:t> van felcímkézve.</a:t>
            </a:r>
          </a:p>
          <a:p>
            <a:pPr lvl="1"/>
            <a:r>
              <a:rPr lang="hu-HU" dirty="0" smtClean="0"/>
              <a:t>A csúcsok az adott </a:t>
            </a:r>
            <a:r>
              <a:rPr lang="hu-HU" dirty="0" err="1" smtClean="0"/>
              <a:t>token</a:t>
            </a:r>
            <a:r>
              <a:rPr lang="hu-HU" dirty="0" smtClean="0"/>
              <a:t> előfordulásainak számát tartalmazzák a szülőcsúcshoz tartozó </a:t>
            </a:r>
            <a:r>
              <a:rPr lang="hu-HU" dirty="0" err="1" smtClean="0"/>
              <a:t>tokent</a:t>
            </a:r>
            <a:r>
              <a:rPr lang="hu-HU" dirty="0" smtClean="0"/>
              <a:t> (a csúcshoz vezető él címkéjeként szereplő </a:t>
            </a:r>
            <a:r>
              <a:rPr lang="hu-HU" dirty="0" err="1" smtClean="0"/>
              <a:t>tokent</a:t>
            </a:r>
            <a:r>
              <a:rPr lang="hu-HU" dirty="0" smtClean="0"/>
              <a:t>) követően.</a:t>
            </a:r>
          </a:p>
          <a:p>
            <a:pPr lvl="2"/>
            <a:r>
              <a:rPr lang="hu-HU" dirty="0" smtClean="0"/>
              <a:t>A gyökércsúcs a teljes korpusz </a:t>
            </a:r>
            <a:r>
              <a:rPr lang="hu-HU" dirty="0" err="1" smtClean="0"/>
              <a:t>tokenszámát</a:t>
            </a:r>
            <a:r>
              <a:rPr lang="hu-HU" dirty="0" smtClean="0"/>
              <a:t> tartalmazza.</a:t>
            </a:r>
          </a:p>
          <a:p>
            <a:pPr lvl="1"/>
            <a:r>
              <a:rPr lang="hu-HU" dirty="0" smtClean="0"/>
              <a:t>Ily módon egy n mélységű fával egy </a:t>
            </a:r>
            <a:r>
              <a:rPr lang="hu-HU" dirty="0" err="1" smtClean="0"/>
              <a:t>n-dimenziós</a:t>
            </a:r>
            <a:r>
              <a:rPr lang="hu-HU" dirty="0" smtClean="0"/>
              <a:t> mátrixszerű struktúrát tudunk ábrázolni, amely egy </a:t>
            </a:r>
            <a:r>
              <a:rPr lang="hu-HU" dirty="0" err="1" smtClean="0"/>
              <a:t>n-gramm-modellt</a:t>
            </a:r>
            <a:r>
              <a:rPr lang="hu-HU" dirty="0" smtClean="0"/>
              <a:t> fejez ki.</a:t>
            </a:r>
          </a:p>
          <a:p>
            <a:pPr lvl="2"/>
            <a:r>
              <a:rPr lang="hu-HU" dirty="0" smtClean="0"/>
              <a:t>A becsült átmenet-valószínűségeket minden szinten kiszámíthatjuk, vagy csak az utolsó előtti szinten (csak az utóbbi kell az </a:t>
            </a:r>
            <a:r>
              <a:rPr lang="hu-HU" dirty="0" err="1" smtClean="0"/>
              <a:t>n-gramm-modellhez</a:t>
            </a:r>
            <a:r>
              <a:rPr lang="hu-HU" dirty="0" smtClean="0"/>
              <a:t>).</a:t>
            </a:r>
          </a:p>
          <a:p>
            <a:r>
              <a:rPr lang="hu-HU" dirty="0" smtClean="0"/>
              <a:t>Valamit kezdeni kell a 0 átmenet-valószínűségekkel: </a:t>
            </a:r>
            <a:r>
              <a:rPr lang="hu-HU" b="1" dirty="0" smtClean="0"/>
              <a:t>simítás</a:t>
            </a:r>
          </a:p>
          <a:p>
            <a:pPr lvl="1"/>
            <a:r>
              <a:rPr lang="hu-HU" dirty="0" smtClean="0"/>
              <a:t>Nem szeretnénk, hogy a modellünk azt </a:t>
            </a:r>
            <a:r>
              <a:rPr lang="hu-HU" dirty="0" err="1" smtClean="0"/>
              <a:t>prediktálja</a:t>
            </a:r>
            <a:r>
              <a:rPr lang="hu-HU" dirty="0" smtClean="0"/>
              <a:t>, hogy pl. egy </a:t>
            </a:r>
            <a:r>
              <a:rPr lang="hu-HU" dirty="0" err="1" smtClean="0"/>
              <a:t>bigramm</a:t>
            </a:r>
            <a:r>
              <a:rPr lang="hu-HU" dirty="0" smtClean="0"/>
              <a:t> lehetetlen, ha történetesen nem fordult elő a korpuszunkban.</a:t>
            </a:r>
          </a:p>
          <a:p>
            <a:pPr lvl="1"/>
            <a:r>
              <a:rPr lang="hu-HU" dirty="0" smtClean="0"/>
              <a:t>Alacsony, de nem nulla valószínűséget célszerű rendelni az ilyen eseményekhez.</a:t>
            </a:r>
          </a:p>
        </p:txBody>
      </p:sp>
    </p:spTree>
    <p:extLst>
      <p:ext uri="{BB962C8B-B14F-4D97-AF65-F5344CB8AC3E}">
        <p14:creationId xmlns:p14="http://schemas.microsoft.com/office/powerpoint/2010/main" val="3331953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Simítás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sz="3100" dirty="0" smtClean="0"/>
              <a:t>Legegyszerűbb megoldás: </a:t>
            </a:r>
            <a:r>
              <a:rPr lang="hu-HU" sz="3100" b="1" dirty="0" smtClean="0"/>
              <a:t>adjunk 1-et </a:t>
            </a:r>
            <a:r>
              <a:rPr lang="hu-HU" sz="3100" dirty="0" smtClean="0"/>
              <a:t>a szótár összes eleméhez kapcsolódóan a korpuszban </a:t>
            </a:r>
            <a:r>
              <a:rPr lang="hu-HU" sz="3100" b="1" dirty="0" smtClean="0"/>
              <a:t>megfigyelt </a:t>
            </a:r>
            <a:r>
              <a:rPr lang="hu-HU" sz="3100" b="1" dirty="0" err="1" smtClean="0"/>
              <a:t>n-gramm-előfordulások</a:t>
            </a:r>
            <a:r>
              <a:rPr lang="hu-HU" sz="3100" b="1" dirty="0" smtClean="0"/>
              <a:t> számához</a:t>
            </a:r>
          </a:p>
          <a:p>
            <a:pPr lvl="1"/>
            <a:r>
              <a:rPr lang="hu-HU" sz="2600" dirty="0" smtClean="0"/>
              <a:t>1-ből 2 lesz, 0-ből 1, stb.</a:t>
            </a:r>
          </a:p>
          <a:p>
            <a:pPr lvl="1"/>
            <a:r>
              <a:rPr lang="hu-HU" sz="2600" dirty="0" smtClean="0"/>
              <a:t>hozzáadunk egy plusz sort és oszlopot az ún. </a:t>
            </a:r>
            <a:r>
              <a:rPr lang="hu-HU" sz="2600" dirty="0" err="1" smtClean="0"/>
              <a:t>OOV</a:t>
            </a:r>
            <a:r>
              <a:rPr lang="hu-HU" sz="2600" dirty="0" smtClean="0"/>
              <a:t> (out of </a:t>
            </a:r>
            <a:r>
              <a:rPr lang="hu-HU" sz="2600" dirty="0" err="1" smtClean="0"/>
              <a:t>vocabulary</a:t>
            </a:r>
            <a:r>
              <a:rPr lang="hu-HU" sz="2600" dirty="0" smtClean="0"/>
              <a:t>) </a:t>
            </a:r>
            <a:r>
              <a:rPr lang="hu-HU" sz="2600" dirty="0" err="1" smtClean="0"/>
              <a:t>tokenek</a:t>
            </a:r>
            <a:r>
              <a:rPr lang="hu-HU" sz="2600" dirty="0" smtClean="0"/>
              <a:t> számára, ezek száma is 1 lesz</a:t>
            </a:r>
          </a:p>
          <a:p>
            <a:pPr lvl="1"/>
            <a:r>
              <a:rPr lang="hu-HU" sz="2600" dirty="0" smtClean="0"/>
              <a:t>Probléma: ha minden </a:t>
            </a:r>
            <a:r>
              <a:rPr lang="hu-HU" sz="2600" dirty="0" err="1" smtClean="0"/>
              <a:t>n-gramm-előfordulásszámhoz</a:t>
            </a:r>
            <a:r>
              <a:rPr lang="hu-HU" sz="2600" dirty="0" smtClean="0"/>
              <a:t> 1-et adunk, ez drasztikusan túlbecsüli a valószínűtlen események valószínűségét</a:t>
            </a:r>
          </a:p>
          <a:p>
            <a:r>
              <a:rPr lang="hu-HU" sz="3100" dirty="0" smtClean="0"/>
              <a:t>Helyesebb megoldás: </a:t>
            </a:r>
            <a:r>
              <a:rPr lang="hu-HU" sz="3100" b="1" dirty="0" smtClean="0"/>
              <a:t>csökkentsük a ténylegesen megfigyelt </a:t>
            </a:r>
            <a:r>
              <a:rPr lang="hu-HU" sz="3100" b="1" dirty="0" err="1" smtClean="0"/>
              <a:t>előfordulásszámokat</a:t>
            </a:r>
            <a:r>
              <a:rPr lang="hu-HU" sz="3100" b="1" dirty="0" smtClean="0"/>
              <a:t> </a:t>
            </a:r>
            <a:r>
              <a:rPr lang="hu-HU" sz="3100" dirty="0" smtClean="0"/>
              <a:t>valamely mértékben, pl. 10%-kal, majd </a:t>
            </a:r>
            <a:r>
              <a:rPr lang="hu-HU" sz="3100" b="1" dirty="0" smtClean="0"/>
              <a:t>az így kapott számot egyenletesen osszuk szét </a:t>
            </a:r>
            <a:r>
              <a:rPr lang="hu-HU" sz="3100" dirty="0" smtClean="0"/>
              <a:t>a meg nem figyelt, 0 számú </a:t>
            </a:r>
            <a:r>
              <a:rPr lang="hu-HU" sz="3100" dirty="0" err="1" smtClean="0"/>
              <a:t>n-grammok</a:t>
            </a:r>
            <a:r>
              <a:rPr lang="hu-HU" sz="3100" dirty="0" smtClean="0"/>
              <a:t> között</a:t>
            </a:r>
          </a:p>
          <a:p>
            <a:pPr lvl="1"/>
            <a:r>
              <a:rPr lang="hu-HU" sz="2500" dirty="0" smtClean="0"/>
              <a:t>Például: V = 1000, a korpuszban szerepel 20 000 </a:t>
            </a:r>
            <a:r>
              <a:rPr lang="hu-HU" sz="2500" dirty="0" err="1" smtClean="0"/>
              <a:t>n-gramm</a:t>
            </a:r>
            <a:r>
              <a:rPr lang="hu-HU" sz="2500" dirty="0" smtClean="0"/>
              <a:t>, ezek 10 000 </a:t>
            </a:r>
            <a:r>
              <a:rPr lang="hu-HU" sz="2500" dirty="0" err="1" smtClean="0"/>
              <a:t>n-gramm-típus</a:t>
            </a:r>
            <a:r>
              <a:rPr lang="hu-HU" sz="2500" dirty="0" smtClean="0"/>
              <a:t> között oszlanak meg; a megfigyelt számot csökkentjük 10%-kal, ezt a 2 000-et szétosztjuk a 990 000 meg nem figyelt </a:t>
            </a:r>
            <a:r>
              <a:rPr lang="hu-HU" sz="2500" dirty="0" err="1" smtClean="0"/>
              <a:t>bigramm</a:t>
            </a:r>
            <a:r>
              <a:rPr lang="hu-HU" sz="2500" dirty="0" smtClean="0"/>
              <a:t> között</a:t>
            </a:r>
          </a:p>
          <a:p>
            <a:r>
              <a:rPr lang="hu-HU" sz="3100" dirty="0" smtClean="0"/>
              <a:t>Ennél is jobb: </a:t>
            </a:r>
            <a:r>
              <a:rPr lang="hu-HU" sz="3100" b="1" dirty="0" smtClean="0"/>
              <a:t>ne egyenletesen </a:t>
            </a:r>
            <a:r>
              <a:rPr lang="hu-HU" sz="3100" dirty="0" smtClean="0"/>
              <a:t>osszuk szét, hanem </a:t>
            </a:r>
            <a:r>
              <a:rPr lang="hu-HU" sz="3100" b="1" dirty="0" smtClean="0"/>
              <a:t>differenciáltan</a:t>
            </a:r>
            <a:r>
              <a:rPr lang="hu-HU" sz="3100" dirty="0" smtClean="0"/>
              <a:t>, pl. </a:t>
            </a:r>
            <a:r>
              <a:rPr lang="hu-HU" sz="3100" dirty="0" err="1" smtClean="0"/>
              <a:t>unigramm-gyakoriság</a:t>
            </a:r>
            <a:r>
              <a:rPr lang="hu-HU" sz="3100" dirty="0" smtClean="0"/>
              <a:t>, szófajok közötti átmenet-valószínűség vagy egyéb hasonló tényezők szerint súlyozva</a:t>
            </a:r>
          </a:p>
          <a:p>
            <a:pPr lvl="1"/>
            <a:r>
              <a:rPr lang="hu-HU" sz="2500" dirty="0" smtClean="0"/>
              <a:t>Példa: </a:t>
            </a:r>
            <a:r>
              <a:rPr lang="hu-HU" sz="2500" i="1" dirty="0" smtClean="0"/>
              <a:t>a lánynál</a:t>
            </a:r>
            <a:r>
              <a:rPr lang="hu-HU" sz="2500" dirty="0" smtClean="0"/>
              <a:t> nem fordul elő a korpuszban, de az </a:t>
            </a:r>
            <a:r>
              <a:rPr lang="hu-HU" sz="2500" i="1" dirty="0" smtClean="0"/>
              <a:t>a</a:t>
            </a:r>
            <a:r>
              <a:rPr lang="hu-HU" sz="2500" dirty="0" smtClean="0"/>
              <a:t>, és a </a:t>
            </a:r>
            <a:r>
              <a:rPr lang="hu-HU" sz="2500" i="1" dirty="0" smtClean="0"/>
              <a:t>lánynál </a:t>
            </a:r>
            <a:r>
              <a:rPr lang="hu-HU" sz="2500" dirty="0" smtClean="0"/>
              <a:t>is gyakori </a:t>
            </a:r>
            <a:r>
              <a:rPr lang="hu-HU" sz="2500" dirty="0" err="1" smtClean="0"/>
              <a:t>unigramm</a:t>
            </a:r>
            <a:r>
              <a:rPr lang="hu-HU" sz="2500" dirty="0" smtClean="0"/>
              <a:t>, ezért a kombinációjukhoz sokkal magasabb </a:t>
            </a:r>
            <a:r>
              <a:rPr lang="hu-HU" sz="2500" dirty="0" err="1" smtClean="0"/>
              <a:t>előfordulásszámot</a:t>
            </a:r>
            <a:r>
              <a:rPr lang="hu-HU" sz="2500" dirty="0" smtClean="0"/>
              <a:t> rendeljünk, mint ahhoz, hogy </a:t>
            </a:r>
            <a:r>
              <a:rPr lang="hu-HU" sz="2500" i="1" dirty="0" err="1" smtClean="0"/>
              <a:t>sordély</a:t>
            </a:r>
            <a:r>
              <a:rPr lang="hu-HU" sz="2500" i="1" dirty="0" smtClean="0"/>
              <a:t> csuszamodott, </a:t>
            </a:r>
            <a:r>
              <a:rPr lang="hu-HU" sz="2500" dirty="0" smtClean="0"/>
              <a:t>amelyek egyenként ritkák</a:t>
            </a:r>
          </a:p>
          <a:p>
            <a:r>
              <a:rPr lang="hu-HU" sz="3100" dirty="0" smtClean="0"/>
              <a:t>Ugyanakkor: bár jó, ha matematikailag helyes modellünk van, nem sokat ártunk azzal, ha a nagyon ritka eseményekhez nem kis </a:t>
            </a:r>
            <a:r>
              <a:rPr lang="hu-HU" sz="3100" dirty="0" err="1" smtClean="0"/>
              <a:t>előfordulásszámot</a:t>
            </a:r>
            <a:r>
              <a:rPr lang="hu-HU" sz="3100" dirty="0" smtClean="0"/>
              <a:t> rendelünk, és ezek alapján számítunk relatív valószínűséget, hanem a meg nem figyelt eseményekhez egyszerűen nagyon alacsony feltételes valószínűséget rendelünk anélkül, hogy túlgondolnánk, még ha az egyes valószínűségek összege így nem is lesz feltétlenül 1</a:t>
            </a:r>
          </a:p>
          <a:p>
            <a:pPr lvl="1"/>
            <a:r>
              <a:rPr lang="hu-HU" sz="2500" dirty="0" smtClean="0"/>
              <a:t>A gyakorlatban a lebegőpontos számítás pontatlansága miatt eleve soha nem lesz pont 1 az összeg akkor sem, ha elvileg annak kellene matematikailag lennie.</a:t>
            </a:r>
          </a:p>
        </p:txBody>
      </p:sp>
    </p:spTree>
    <p:extLst>
      <p:ext uri="{BB962C8B-B14F-4D97-AF65-F5344CB8AC3E}">
        <p14:creationId xmlns:p14="http://schemas.microsoft.com/office/powerpoint/2010/main" val="354273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Backoff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Általában minél magasabb rendű egy nyelvmodell, </a:t>
            </a:r>
            <a:r>
              <a:rPr lang="hu-HU" b="1" dirty="0" smtClean="0"/>
              <a:t>annál pontosabban </a:t>
            </a:r>
            <a:r>
              <a:rPr lang="hu-HU" dirty="0" smtClean="0"/>
              <a:t>tudjuk vele közelíteni a korpuszban </a:t>
            </a:r>
            <a:r>
              <a:rPr lang="hu-HU" b="1" dirty="0" smtClean="0"/>
              <a:t>megfigyelt </a:t>
            </a:r>
            <a:r>
              <a:rPr lang="hu-HU" dirty="0" err="1" smtClean="0"/>
              <a:t>n-grammok</a:t>
            </a:r>
            <a:r>
              <a:rPr lang="hu-HU" dirty="0" smtClean="0"/>
              <a:t> valószínűségét.</a:t>
            </a:r>
          </a:p>
          <a:p>
            <a:pPr lvl="1"/>
            <a:r>
              <a:rPr lang="hu-HU" b="1" dirty="0" smtClean="0"/>
              <a:t>Minél magasabb rendű </a:t>
            </a:r>
            <a:r>
              <a:rPr lang="hu-HU" b="1" dirty="0" err="1" smtClean="0"/>
              <a:t>n-gramm-modellt</a:t>
            </a:r>
            <a:r>
              <a:rPr lang="hu-HU" b="1" dirty="0" smtClean="0"/>
              <a:t> </a:t>
            </a:r>
            <a:r>
              <a:rPr lang="hu-HU" dirty="0" smtClean="0"/>
              <a:t>akarunk készíteni, </a:t>
            </a:r>
            <a:r>
              <a:rPr lang="hu-HU" b="1" dirty="0" smtClean="0"/>
              <a:t>annál nagyobb korpuszra </a:t>
            </a:r>
            <a:r>
              <a:rPr lang="hu-HU" dirty="0" smtClean="0"/>
              <a:t>van szükség ahhoz, hogy jól tudjuk közelíteni a megfigyelt események valószínűségét a meg nem figyeltekhez viszonyítva.</a:t>
            </a:r>
          </a:p>
          <a:p>
            <a:pPr lvl="2"/>
            <a:r>
              <a:rPr lang="hu-HU" dirty="0" smtClean="0"/>
              <a:t>Minél kisebb a korpusz, annál inkább túlbecsüljük a megfigyelt </a:t>
            </a:r>
            <a:r>
              <a:rPr lang="hu-HU" dirty="0" err="1" smtClean="0"/>
              <a:t>n-grammok</a:t>
            </a:r>
            <a:r>
              <a:rPr lang="hu-HU" dirty="0" smtClean="0"/>
              <a:t> valószínűségét, és alábecsüljük a meg nem figyeltekét.</a:t>
            </a:r>
          </a:p>
          <a:p>
            <a:pPr lvl="1"/>
            <a:r>
              <a:rPr lang="hu-HU" b="1" dirty="0" smtClean="0"/>
              <a:t>Minél magasabb rendű a modell, annál ritkább</a:t>
            </a:r>
            <a:r>
              <a:rPr lang="hu-HU" dirty="0" smtClean="0"/>
              <a:t>, és ebben a korpusz méretének a növelése sem nagyon segít.</a:t>
            </a:r>
          </a:p>
          <a:p>
            <a:pPr lvl="2"/>
            <a:r>
              <a:rPr lang="hu-HU" dirty="0" smtClean="0"/>
              <a:t>ritka modell: a megfigyelt </a:t>
            </a:r>
            <a:r>
              <a:rPr lang="hu-HU" dirty="0" err="1" smtClean="0"/>
              <a:t>n-grammok</a:t>
            </a:r>
            <a:r>
              <a:rPr lang="hu-HU" dirty="0" smtClean="0"/>
              <a:t> aránya nagyon alacsony az összes lehetséges </a:t>
            </a:r>
            <a:r>
              <a:rPr lang="hu-HU" dirty="0" err="1" smtClean="0"/>
              <a:t>n-grammhoz</a:t>
            </a:r>
            <a:r>
              <a:rPr lang="hu-HU" dirty="0" smtClean="0"/>
              <a:t> képest.</a:t>
            </a:r>
          </a:p>
          <a:p>
            <a:r>
              <a:rPr lang="hu-HU" dirty="0" smtClean="0"/>
              <a:t>Megoldás: ne csak 5-gramm-modellt készítsünk, hanem 4-gramm-, 3-gramm, 2-gramm és 1-gramm-modellt is.</a:t>
            </a:r>
          </a:p>
          <a:p>
            <a:r>
              <a:rPr lang="hu-HU" b="1" dirty="0" err="1" smtClean="0"/>
              <a:t>Backoff-mechanizmus</a:t>
            </a:r>
            <a:r>
              <a:rPr lang="hu-HU" b="1" dirty="0" smtClean="0"/>
              <a:t> </a:t>
            </a:r>
            <a:r>
              <a:rPr lang="hu-HU" dirty="0" smtClean="0"/>
              <a:t>(visszalépés, meghátrálás): Ha egy konkrét magasabb rendű </a:t>
            </a:r>
            <a:r>
              <a:rPr lang="hu-HU" dirty="0" err="1" smtClean="0"/>
              <a:t>n-gramm</a:t>
            </a:r>
            <a:r>
              <a:rPr lang="hu-HU" dirty="0" smtClean="0"/>
              <a:t> valószínűségét akarjuk becsülni, de nem fordult elő a korpuszban, lépjünk össze a következő legmagasabb rendű modellre</a:t>
            </a:r>
          </a:p>
          <a:p>
            <a:pPr lvl="1"/>
            <a:r>
              <a:rPr lang="hu-HU" dirty="0" smtClean="0"/>
              <a:t>Ha egy 5-grammot nem figyeltünk meg, becsüljük a valószínűségét két 4-gramm valószínűségének szorzatával</a:t>
            </a:r>
          </a:p>
          <a:p>
            <a:pPr lvl="1"/>
            <a:r>
              <a:rPr lang="hu-HU" dirty="0" smtClean="0"/>
              <a:t>Ha egy 4-grammot nem figyeltünk meg, lépjünk vissza a 3-gramm-modellre, és így tovább szükség esetén az 1-gramm-modellig</a:t>
            </a:r>
          </a:p>
        </p:txBody>
      </p:sp>
    </p:spTree>
    <p:extLst>
      <p:ext uri="{BB962C8B-B14F-4D97-AF65-F5344CB8AC3E}">
        <p14:creationId xmlns:p14="http://schemas.microsoft.com/office/powerpoint/2010/main" val="401265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err="1" smtClean="0"/>
              <a:t>N-gramm-nyelvmodellek</a:t>
            </a:r>
            <a:r>
              <a:rPr lang="hu-HU" sz="4000" dirty="0" smtClean="0"/>
              <a:t> alkalmazása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 múltban a legfontosabb alkalmazási területük a szavak címkézése volt, pl. szófaji címkékkel</a:t>
            </a:r>
          </a:p>
          <a:p>
            <a:r>
              <a:rPr lang="hu-HU" dirty="0" smtClean="0"/>
              <a:t>Ezekre speciális </a:t>
            </a:r>
            <a:r>
              <a:rPr lang="hu-HU" dirty="0" err="1" smtClean="0"/>
              <a:t>Markov-modellt</a:t>
            </a:r>
            <a:r>
              <a:rPr lang="hu-HU" dirty="0" smtClean="0"/>
              <a:t> használtak, amely két valószínűséget kombinált:</a:t>
            </a:r>
          </a:p>
          <a:p>
            <a:pPr lvl="1"/>
            <a:r>
              <a:rPr lang="hu-HU" dirty="0" smtClean="0"/>
              <a:t>minden </a:t>
            </a:r>
            <a:r>
              <a:rPr lang="hu-HU" dirty="0" err="1" smtClean="0"/>
              <a:t>tokenalakra</a:t>
            </a:r>
            <a:r>
              <a:rPr lang="hu-HU" dirty="0" smtClean="0"/>
              <a:t> annak valószínűségét, hogy hozzá egy bizonyos címke tartozik</a:t>
            </a:r>
          </a:p>
          <a:p>
            <a:pPr lvl="1"/>
            <a:r>
              <a:rPr lang="hu-HU" dirty="0" smtClean="0"/>
              <a:t>a címkék közötti átmenet-valószínűségeket</a:t>
            </a:r>
          </a:p>
          <a:p>
            <a:pPr lvl="1"/>
            <a:r>
              <a:rPr lang="hu-HU" dirty="0" smtClean="0"/>
              <a:t>minden lépésben az egyes címkék valószínűségét ismerjük (az előző lépésbeli valószínűségek és a jelen </a:t>
            </a:r>
            <a:r>
              <a:rPr lang="hu-HU" dirty="0" err="1" smtClean="0"/>
              <a:t>token</a:t>
            </a:r>
            <a:r>
              <a:rPr lang="hu-HU" dirty="0" smtClean="0"/>
              <a:t> alakja </a:t>
            </a:r>
            <a:r>
              <a:rPr lang="hu-HU" dirty="0" err="1" smtClean="0"/>
              <a:t>függvényéban</a:t>
            </a:r>
            <a:r>
              <a:rPr lang="hu-HU" dirty="0" smtClean="0"/>
              <a:t>)</a:t>
            </a:r>
            <a:r>
              <a:rPr lang="hu-HU" dirty="0"/>
              <a:t>;</a:t>
            </a:r>
            <a:r>
              <a:rPr lang="hu-HU" dirty="0" smtClean="0"/>
              <a:t> a cél az összességében maximális valószínűségi címkesorozat megtalálása dinamikus programozással</a:t>
            </a:r>
          </a:p>
          <a:p>
            <a:r>
              <a:rPr lang="hu-HU" dirty="0" smtClean="0"/>
              <a:t>Az ilyen </a:t>
            </a:r>
            <a:r>
              <a:rPr lang="hu-HU" dirty="0" err="1" smtClean="0"/>
              <a:t>Markov-modellt</a:t>
            </a:r>
            <a:r>
              <a:rPr lang="hu-HU" dirty="0" smtClean="0"/>
              <a:t>, amelyben nem tudjuk, hogy a rendszer mely állapotban van az egyes időpontokban, hanem csak az állapotok valószínűségeit ismerjük, rejtett </a:t>
            </a:r>
            <a:r>
              <a:rPr lang="hu-HU" dirty="0" err="1" smtClean="0"/>
              <a:t>Markov-modellnek</a:t>
            </a:r>
            <a:r>
              <a:rPr lang="hu-HU" dirty="0" smtClean="0"/>
              <a:t> nevezik (</a:t>
            </a:r>
            <a:r>
              <a:rPr lang="hu-HU" dirty="0" err="1" smtClean="0"/>
              <a:t>Hidden</a:t>
            </a:r>
            <a:r>
              <a:rPr lang="hu-HU" dirty="0" smtClean="0"/>
              <a:t> </a:t>
            </a:r>
            <a:r>
              <a:rPr lang="hu-HU" dirty="0" err="1" smtClean="0"/>
              <a:t>Markov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, HMM)</a:t>
            </a:r>
          </a:p>
          <a:p>
            <a:pPr lvl="1"/>
            <a:r>
              <a:rPr lang="hu-HU" dirty="0" smtClean="0"/>
              <a:t>rejtett, mert a pillanatnyi állapotot nem ismerjük</a:t>
            </a:r>
          </a:p>
        </p:txBody>
      </p:sp>
    </p:spTree>
    <p:extLst>
      <p:ext uri="{BB962C8B-B14F-4D97-AF65-F5344CB8AC3E}">
        <p14:creationId xmlns:p14="http://schemas.microsoft.com/office/powerpoint/2010/main" val="89714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err="1" smtClean="0"/>
              <a:t>N-gramm-nyelvmodellek</a:t>
            </a:r>
            <a:r>
              <a:rPr lang="hu-HU" sz="4000" dirty="0" smtClean="0"/>
              <a:t> alkalmazása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sz="3000" dirty="0" smtClean="0"/>
              <a:t>Általában egy </a:t>
            </a:r>
            <a:r>
              <a:rPr lang="hu-HU" sz="3000" dirty="0" err="1" smtClean="0"/>
              <a:t>n-gramm-modellel</a:t>
            </a:r>
            <a:r>
              <a:rPr lang="hu-HU" sz="3000" dirty="0" smtClean="0"/>
              <a:t> meg tudjuk becsülni egy teljes eseménysorozat összesített valószínűségét</a:t>
            </a:r>
          </a:p>
          <a:p>
            <a:pPr lvl="1"/>
            <a:r>
              <a:rPr lang="hu-HU" sz="2700" dirty="0" smtClean="0"/>
              <a:t>időpontonként kikeressük a modellből az adott időpontra vonatkozó átmenet-valószínűséget</a:t>
            </a:r>
          </a:p>
          <a:p>
            <a:pPr lvl="1"/>
            <a:r>
              <a:rPr lang="hu-HU" sz="2700" dirty="0" smtClean="0"/>
              <a:t>a teljes sorozat valószínűsége a lépésenkénti átmenet-valószínűségek sorozata</a:t>
            </a:r>
          </a:p>
          <a:p>
            <a:pPr lvl="1"/>
            <a:r>
              <a:rPr lang="hu-HU" sz="2700" dirty="0" smtClean="0"/>
              <a:t>egy átmenet-valószínűség általában kis tört szám, pl. 0,003, ennek nagyságrendje e-3</a:t>
            </a:r>
          </a:p>
          <a:p>
            <a:pPr lvl="1"/>
            <a:r>
              <a:rPr lang="hu-HU" sz="2700" dirty="0" smtClean="0"/>
              <a:t>ha csak 20 ilyet összeszorzunk, nagyon kis, e-60 nagyságrendű számot kapunk</a:t>
            </a:r>
          </a:p>
          <a:p>
            <a:pPr lvl="1"/>
            <a:r>
              <a:rPr lang="hu-HU" sz="2700" dirty="0" smtClean="0"/>
              <a:t>a lebegőpontos aritmetika képtelen ilyen kis számokkal számolni</a:t>
            </a:r>
          </a:p>
          <a:p>
            <a:pPr lvl="2"/>
            <a:r>
              <a:rPr lang="hu-HU" sz="2300" dirty="0" smtClean="0"/>
              <a:t>a legkisebb kifejezhető </a:t>
            </a:r>
            <a:r>
              <a:rPr lang="hu-HU" sz="2300" dirty="0" err="1" smtClean="0"/>
              <a:t>float</a:t>
            </a:r>
            <a:r>
              <a:rPr lang="hu-HU" sz="2300" dirty="0" smtClean="0"/>
              <a:t> 32 biten e-38 nagyságrendű, 64 biten e-308</a:t>
            </a:r>
          </a:p>
          <a:p>
            <a:pPr lvl="1"/>
            <a:r>
              <a:rPr lang="hu-HU" sz="2700" dirty="0" smtClean="0"/>
              <a:t>ezért a valószínűségek helyett azok tetszőleges alapú logaritmusával számolunk, pl. log</a:t>
            </a:r>
            <a:r>
              <a:rPr lang="hu-HU" sz="2700" baseline="-25000" dirty="0" smtClean="0"/>
              <a:t>10</a:t>
            </a:r>
            <a:r>
              <a:rPr lang="hu-HU" sz="2700" dirty="0" smtClean="0"/>
              <a:t>(0,003) = -2,5229</a:t>
            </a:r>
          </a:p>
          <a:p>
            <a:r>
              <a:rPr lang="hu-HU" sz="3000" dirty="0" smtClean="0"/>
              <a:t>Valószínűségek szorzatának számítása helyett a logaritmusok összegeként számoljuk egy </a:t>
            </a:r>
            <a:r>
              <a:rPr lang="hu-HU" sz="3000" dirty="0" err="1" smtClean="0"/>
              <a:t>tokensorozat</a:t>
            </a:r>
            <a:r>
              <a:rPr lang="hu-HU" sz="3000" dirty="0" smtClean="0"/>
              <a:t> teljes valószínűségét</a:t>
            </a:r>
          </a:p>
          <a:p>
            <a:pPr lvl="1"/>
            <a:r>
              <a:rPr lang="hu-HU" sz="2700" dirty="0" smtClean="0"/>
              <a:t>0 és 1 közötti valós szám logaritmusa mindig negatív szám, így a logaritmusok összege is az lesz</a:t>
            </a:r>
          </a:p>
          <a:p>
            <a:pPr lvl="1"/>
            <a:r>
              <a:rPr lang="hu-HU" sz="2700" dirty="0" smtClean="0"/>
              <a:t>minél kisebb ennek abszolút értéke, annál valószínűbb a sorozat</a:t>
            </a:r>
          </a:p>
          <a:p>
            <a:r>
              <a:rPr lang="hu-HU" sz="3000" dirty="0"/>
              <a:t>M</a:t>
            </a:r>
            <a:r>
              <a:rPr lang="hu-HU" sz="3000" dirty="0" smtClean="0"/>
              <a:t>iért probléma, ha egyes átmenetek valószínűsége 0?</a:t>
            </a:r>
          </a:p>
          <a:p>
            <a:pPr lvl="1"/>
            <a:r>
              <a:rPr lang="hu-HU" sz="2700" dirty="0" smtClean="0"/>
              <a:t>Bárhol megjelenő egyetlen 0 valószínűség az egész sorozat valószínűségét lenullázza (akkor is, ha a többi átmenet valószínűsége viszonylag magas)</a:t>
            </a:r>
          </a:p>
          <a:p>
            <a:pPr lvl="1"/>
            <a:r>
              <a:rPr lang="hu-HU" sz="2700" dirty="0" smtClean="0"/>
              <a:t>a 0-nak nincs logaritmusa, így a valószínűségek logaritmusának összege nem számolható</a:t>
            </a:r>
          </a:p>
        </p:txBody>
      </p:sp>
    </p:spTree>
    <p:extLst>
      <p:ext uri="{BB962C8B-B14F-4D97-AF65-F5344CB8AC3E}">
        <p14:creationId xmlns:p14="http://schemas.microsoft.com/office/powerpoint/2010/main" val="317208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Meglepőség és </a:t>
            </a:r>
            <a:r>
              <a:rPr lang="hu-HU" dirty="0" err="1" smtClean="0"/>
              <a:t>perplexitás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Annak mértékét, hogy mennyire valószínűtlen egy </a:t>
            </a:r>
            <a:r>
              <a:rPr lang="hu-HU" dirty="0" err="1" smtClean="0"/>
              <a:t>token</a:t>
            </a:r>
            <a:r>
              <a:rPr lang="hu-HU" dirty="0" smtClean="0"/>
              <a:t> megjelenése adott kontextusban, gyakran </a:t>
            </a:r>
            <a:r>
              <a:rPr lang="hu-HU" i="1" dirty="0" err="1" smtClean="0"/>
              <a:t>suprisal</a:t>
            </a:r>
            <a:r>
              <a:rPr lang="hu-HU" i="1" dirty="0" smtClean="0"/>
              <a:t> </a:t>
            </a:r>
            <a:r>
              <a:rPr lang="hu-HU" dirty="0" smtClean="0"/>
              <a:t>(„meglepőség”) néven említik. Definíciója:</a:t>
            </a:r>
          </a:p>
          <a:p>
            <a:pPr marL="457200" lvl="1" indent="0">
              <a:buNone/>
            </a:pPr>
            <a:r>
              <a:rPr lang="hu-HU" dirty="0" smtClean="0"/>
              <a:t> </a:t>
            </a:r>
          </a:p>
          <a:p>
            <a:pPr lvl="1"/>
            <a:r>
              <a:rPr lang="hu-HU" dirty="0" smtClean="0"/>
              <a:t>Minél kevésbé valószínű egy szó, annál nagyobb a meglepősége.</a:t>
            </a:r>
          </a:p>
          <a:p>
            <a:r>
              <a:rPr lang="hu-HU" dirty="0" smtClean="0"/>
              <a:t>Ezzel rokon mérték a </a:t>
            </a:r>
            <a:r>
              <a:rPr lang="hu-HU" dirty="0" err="1" smtClean="0"/>
              <a:t>perplexitás</a:t>
            </a:r>
            <a:r>
              <a:rPr lang="hu-HU" dirty="0" smtClean="0"/>
              <a:t> (PP alább), amely egy teljes </a:t>
            </a:r>
            <a:r>
              <a:rPr lang="hu-HU" dirty="0" err="1" smtClean="0"/>
              <a:t>tokensorozat</a:t>
            </a:r>
            <a:r>
              <a:rPr lang="hu-HU" dirty="0" smtClean="0"/>
              <a:t> átlagos meglepőségét írja le:</a:t>
            </a:r>
          </a:p>
          <a:p>
            <a:endParaRPr lang="hu-HU" dirty="0"/>
          </a:p>
          <a:p>
            <a:r>
              <a:rPr lang="hu-HU" dirty="0" smtClean="0"/>
              <a:t>Vegyük észre, hogy a feltételes valószínűségek láncszabálya:</a:t>
            </a:r>
          </a:p>
          <a:p>
            <a:endParaRPr lang="hu-HU" dirty="0" smtClean="0"/>
          </a:p>
          <a:p>
            <a:endParaRPr lang="hu-HU" dirty="0" smtClean="0"/>
          </a:p>
          <a:p>
            <a:r>
              <a:rPr lang="hu-HU" dirty="0" smtClean="0"/>
              <a:t>Ebből következően:</a:t>
            </a:r>
          </a:p>
          <a:p>
            <a:endParaRPr lang="hu-HU" dirty="0"/>
          </a:p>
          <a:p>
            <a:endParaRPr lang="hu-HU" dirty="0" smtClean="0"/>
          </a:p>
          <a:p>
            <a:endParaRPr lang="hu-HU" dirty="0" smtClean="0"/>
          </a:p>
          <a:p>
            <a:r>
              <a:rPr lang="hu-HU" dirty="0" smtClean="0"/>
              <a:t>Az exponenciális függvény argumentuma a sorozat átlagos meglepősége, azaz a </a:t>
            </a:r>
            <a:r>
              <a:rPr lang="hu-HU" dirty="0" err="1" smtClean="0"/>
              <a:t>perplexitás</a:t>
            </a:r>
            <a:r>
              <a:rPr lang="hu-HU" dirty="0" smtClean="0"/>
              <a:t> egyenlő az exponenciális skálán vett átlagos meglepőséggel.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087072"/>
            <a:ext cx="3420069" cy="26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441" y="3027153"/>
            <a:ext cx="3168352" cy="298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750" y="3573016"/>
            <a:ext cx="3435095" cy="602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509120"/>
            <a:ext cx="5920282" cy="593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925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Perplexitás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Amikor egy nyelvmodellt tanítunk egy korpuszon, a nyelvmodell a </a:t>
            </a:r>
            <a:r>
              <a:rPr lang="hu-HU" b="1" dirty="0" smtClean="0"/>
              <a:t>tanítókorpusz </a:t>
            </a:r>
            <a:r>
              <a:rPr lang="hu-HU" b="1" dirty="0" err="1" smtClean="0"/>
              <a:t>perplexitását</a:t>
            </a:r>
            <a:r>
              <a:rPr lang="hu-HU" b="1" dirty="0" smtClean="0"/>
              <a:t> tanulja meg minimalizálni</a:t>
            </a:r>
          </a:p>
          <a:p>
            <a:pPr lvl="1"/>
            <a:r>
              <a:rPr lang="hu-HU" dirty="0" smtClean="0"/>
              <a:t>függetlenül attól, hogy statisztikai (azaz </a:t>
            </a:r>
            <a:r>
              <a:rPr lang="hu-HU" dirty="0" err="1" smtClean="0"/>
              <a:t>n-gramm-</a:t>
            </a:r>
            <a:r>
              <a:rPr lang="hu-HU" dirty="0" smtClean="0"/>
              <a:t>) vagy neurális nyelvmodellről (</a:t>
            </a:r>
            <a:r>
              <a:rPr lang="hu-HU" dirty="0" err="1" smtClean="0"/>
              <a:t>rekurrens</a:t>
            </a:r>
            <a:r>
              <a:rPr lang="hu-HU" dirty="0" smtClean="0"/>
              <a:t>, </a:t>
            </a:r>
            <a:r>
              <a:rPr lang="hu-HU" dirty="0" err="1" smtClean="0"/>
              <a:t>transzformer</a:t>
            </a:r>
            <a:r>
              <a:rPr lang="hu-HU" dirty="0" smtClean="0"/>
              <a:t> stb.) van szó</a:t>
            </a:r>
          </a:p>
          <a:p>
            <a:pPr lvl="1"/>
            <a:r>
              <a:rPr lang="hu-HU" dirty="0" smtClean="0"/>
              <a:t>A nyelvmodell akkor </a:t>
            </a:r>
            <a:r>
              <a:rPr lang="hu-HU" b="1" dirty="0" smtClean="0"/>
              <a:t>hasznos</a:t>
            </a:r>
            <a:r>
              <a:rPr lang="hu-HU" dirty="0" smtClean="0"/>
              <a:t>, ha nemcsak a tanítókorpusz </a:t>
            </a:r>
            <a:r>
              <a:rPr lang="hu-HU" dirty="0" err="1" smtClean="0"/>
              <a:t>perplexitását</a:t>
            </a:r>
            <a:r>
              <a:rPr lang="hu-HU" dirty="0" smtClean="0"/>
              <a:t> minimalizálja, hanem az adott nyelvből vett bármely másik szövegét is.</a:t>
            </a:r>
          </a:p>
          <a:p>
            <a:pPr lvl="2"/>
            <a:r>
              <a:rPr lang="hu-HU" dirty="0" smtClean="0"/>
              <a:t>másképp megfogalmazva: ha a modell a tanítókorpuszon túl más szövegekre is érvényes, azaz sikeresen általánosít</a:t>
            </a:r>
          </a:p>
          <a:p>
            <a:pPr lvl="2"/>
            <a:r>
              <a:rPr lang="hu-HU" dirty="0" smtClean="0"/>
              <a:t>a simítás, </a:t>
            </a:r>
            <a:r>
              <a:rPr lang="hu-HU" dirty="0" err="1" smtClean="0"/>
              <a:t>backoff</a:t>
            </a:r>
            <a:r>
              <a:rPr lang="hu-HU" dirty="0" smtClean="0"/>
              <a:t> és hasonló módszerek az </a:t>
            </a:r>
            <a:r>
              <a:rPr lang="hu-HU" b="1" dirty="0" smtClean="0"/>
              <a:t>általánosításban segítik a modellt</a:t>
            </a:r>
            <a:r>
              <a:rPr lang="hu-HU" dirty="0" smtClean="0"/>
              <a:t>, a tanítókorpusz </a:t>
            </a:r>
            <a:r>
              <a:rPr lang="hu-HU" dirty="0" err="1" smtClean="0"/>
              <a:t>perplexitását</a:t>
            </a:r>
            <a:r>
              <a:rPr lang="hu-HU" dirty="0" smtClean="0"/>
              <a:t> nem javítják (sőt rontják)</a:t>
            </a:r>
          </a:p>
        </p:txBody>
      </p:sp>
    </p:spTree>
    <p:extLst>
      <p:ext uri="{BB962C8B-B14F-4D97-AF65-F5344CB8AC3E}">
        <p14:creationId xmlns:p14="http://schemas.microsoft.com/office/powerpoint/2010/main" val="72958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Perplexitás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Szemléletes értelmezése: a </a:t>
            </a:r>
            <a:r>
              <a:rPr lang="hu-HU" dirty="0" err="1" smtClean="0"/>
              <a:t>perplexitás</a:t>
            </a:r>
            <a:r>
              <a:rPr lang="hu-HU" dirty="0" smtClean="0"/>
              <a:t> (</a:t>
            </a:r>
            <a:r>
              <a:rPr lang="en-GB" dirty="0"/>
              <a:t>≈</a:t>
            </a:r>
            <a:r>
              <a:rPr lang="hu-HU" dirty="0" smtClean="0"/>
              <a:t> meglepőség) azt fejezi ki, mennyire valószínű, hogy a </a:t>
            </a:r>
            <a:r>
              <a:rPr lang="hu-HU" dirty="0" err="1" smtClean="0"/>
              <a:t>tokensorozat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modell által leírt nyelvből származó minta</a:t>
            </a:r>
          </a:p>
          <a:p>
            <a:pPr lvl="1"/>
            <a:r>
              <a:rPr lang="hu-HU" dirty="0" smtClean="0"/>
              <a:t>minél alacsonyabb a </a:t>
            </a:r>
            <a:r>
              <a:rPr lang="hu-HU" dirty="0" err="1" smtClean="0"/>
              <a:t>perplexitás</a:t>
            </a:r>
            <a:r>
              <a:rPr lang="hu-HU" dirty="0" smtClean="0"/>
              <a:t>, annál valószínűbb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perplexitás</a:t>
            </a:r>
            <a:r>
              <a:rPr lang="hu-HU" dirty="0" smtClean="0"/>
              <a:t> két szempontból is fontos szerepet játszik a nyelvmodellezésben:</a:t>
            </a:r>
          </a:p>
          <a:p>
            <a:pPr lvl="1"/>
            <a:r>
              <a:rPr lang="hu-HU" dirty="0" smtClean="0"/>
              <a:t>Ha </a:t>
            </a:r>
            <a:r>
              <a:rPr lang="hu-HU" b="1" dirty="0" smtClean="0"/>
              <a:t>egyazon tesztkorpusz </a:t>
            </a:r>
            <a:r>
              <a:rPr lang="hu-HU" dirty="0" smtClean="0"/>
              <a:t>(nem a tanításukhoz használt korpusz) </a:t>
            </a:r>
            <a:r>
              <a:rPr lang="hu-HU" dirty="0" err="1" smtClean="0"/>
              <a:t>perplexitását</a:t>
            </a:r>
            <a:r>
              <a:rPr lang="hu-HU" dirty="0" smtClean="0"/>
              <a:t> mérjük meg több különböző nyelvmodellel, a korpusz tényleges </a:t>
            </a:r>
            <a:r>
              <a:rPr lang="hu-HU" dirty="0" err="1" smtClean="0"/>
              <a:t>tokenjeinek</a:t>
            </a:r>
            <a:r>
              <a:rPr lang="hu-HU" dirty="0" smtClean="0"/>
              <a:t> sorozatát sikeresebben </a:t>
            </a:r>
            <a:r>
              <a:rPr lang="hu-HU" dirty="0" err="1" smtClean="0"/>
              <a:t>prediktáló</a:t>
            </a:r>
            <a:r>
              <a:rPr lang="hu-HU" dirty="0" smtClean="0"/>
              <a:t> modell adja az alacsonyabb </a:t>
            </a:r>
            <a:r>
              <a:rPr lang="hu-HU" dirty="0" err="1" smtClean="0"/>
              <a:t>perplexitást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Gyakorlatilag ez azt jelenti, hogy ha egy modell ugyanazon korpuszon alacsonyabb </a:t>
            </a:r>
            <a:r>
              <a:rPr lang="hu-HU" dirty="0" err="1" smtClean="0"/>
              <a:t>perplexitást</a:t>
            </a:r>
            <a:r>
              <a:rPr lang="hu-HU" dirty="0" smtClean="0"/>
              <a:t> mér egy másik modellnél, akkor </a:t>
            </a:r>
            <a:r>
              <a:rPr lang="hu-HU" b="1" dirty="0" smtClean="0"/>
              <a:t>ez a modell jobb a másiknál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Ha </a:t>
            </a:r>
            <a:r>
              <a:rPr lang="hu-HU" b="1" dirty="0" smtClean="0"/>
              <a:t>egyazon modellel két különböző szöveg (vagy korpusz) </a:t>
            </a:r>
            <a:r>
              <a:rPr lang="hu-HU" dirty="0" err="1" smtClean="0"/>
              <a:t>perplexitását</a:t>
            </a:r>
            <a:r>
              <a:rPr lang="hu-HU" dirty="0" smtClean="0"/>
              <a:t> hasonlítjuk össze, ebből a szövegek minőségéről tudunk meg valamit</a:t>
            </a:r>
          </a:p>
          <a:p>
            <a:pPr lvl="2"/>
            <a:r>
              <a:rPr lang="hu-HU" dirty="0" smtClean="0"/>
              <a:t>az alacsony </a:t>
            </a:r>
            <a:r>
              <a:rPr lang="hu-HU" dirty="0" err="1" smtClean="0"/>
              <a:t>perplexitás</a:t>
            </a:r>
            <a:r>
              <a:rPr lang="hu-HU" dirty="0" smtClean="0"/>
              <a:t> azt jelenti, hogy a szöveg megjósolható, a szavak a modell által várt sorrendben következnek egymás után</a:t>
            </a:r>
          </a:p>
          <a:p>
            <a:pPr lvl="2"/>
            <a:r>
              <a:rPr lang="hu-HU" dirty="0" smtClean="0"/>
              <a:t>a magas </a:t>
            </a:r>
            <a:r>
              <a:rPr lang="hu-HU" dirty="0" err="1" smtClean="0"/>
              <a:t>perplexitás</a:t>
            </a:r>
            <a:r>
              <a:rPr lang="hu-HU" dirty="0" smtClean="0"/>
              <a:t> különböző dolgokra utalhat</a:t>
            </a:r>
          </a:p>
        </p:txBody>
      </p:sp>
    </p:spTree>
    <p:extLst>
      <p:ext uri="{BB962C8B-B14F-4D97-AF65-F5344CB8AC3E}">
        <p14:creationId xmlns:p14="http://schemas.microsoft.com/office/powerpoint/2010/main" val="86921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Perplexitás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b="1" dirty="0" smtClean="0"/>
              <a:t>Magas </a:t>
            </a:r>
            <a:r>
              <a:rPr lang="hu-HU" b="1" dirty="0" err="1" smtClean="0"/>
              <a:t>perplexitás</a:t>
            </a:r>
            <a:r>
              <a:rPr lang="hu-HU" b="1" dirty="0" smtClean="0"/>
              <a:t> forrásai:</a:t>
            </a:r>
          </a:p>
          <a:p>
            <a:pPr lvl="1"/>
            <a:r>
              <a:rPr lang="hu-HU" dirty="0" smtClean="0"/>
              <a:t>a szöveg más nyelven íródott, mint amit a modell ismer</a:t>
            </a:r>
          </a:p>
          <a:p>
            <a:pPr lvl="1"/>
            <a:r>
              <a:rPr lang="hu-HU" dirty="0" smtClean="0"/>
              <a:t>alapvető nyelvtani hibák (pl. alany és állítmány rossz egyeztetése)</a:t>
            </a:r>
          </a:p>
          <a:p>
            <a:pPr lvl="1"/>
            <a:r>
              <a:rPr lang="hu-HU" dirty="0" smtClean="0"/>
              <a:t>alapvető szóhasználati hibák (szavak hibás jelentésben való használata)</a:t>
            </a:r>
          </a:p>
          <a:p>
            <a:pPr lvl="1"/>
            <a:r>
              <a:rPr lang="hu-HU" dirty="0" smtClean="0"/>
              <a:t>koszos szöveg (pl. HTML-kód nem lett eltávolítva, OCR-hibák)</a:t>
            </a:r>
          </a:p>
          <a:p>
            <a:pPr lvl="1"/>
            <a:r>
              <a:rPr lang="hu-HU" dirty="0" smtClean="0"/>
              <a:t>nem valódi szöveg, hanem pl. táblázat, számok stb. (eleve megjósolhatatlan)</a:t>
            </a:r>
          </a:p>
          <a:p>
            <a:pPr lvl="1"/>
            <a:r>
              <a:rPr lang="hu-HU" dirty="0" smtClean="0"/>
              <a:t>speciális terminológia és téma, amelyen nem lett tanítva a modell</a:t>
            </a:r>
          </a:p>
          <a:p>
            <a:pPr lvl="1"/>
            <a:r>
              <a:rPr lang="hu-HU" dirty="0" smtClean="0"/>
              <a:t>stílus: a szerző ritka szavakat használ a stilisztikai hatás kedvéért (irodalmi szöveg)</a:t>
            </a:r>
          </a:p>
          <a:p>
            <a:pPr lvl="1"/>
            <a:r>
              <a:rPr lang="hu-HU" dirty="0" smtClean="0"/>
              <a:t>esztétikai érték (szépség)?</a:t>
            </a:r>
          </a:p>
          <a:p>
            <a:pPr lvl="1"/>
            <a:r>
              <a:rPr lang="hu-HU" dirty="0" smtClean="0"/>
              <a:t>igazság, tényszerűség?</a:t>
            </a:r>
          </a:p>
          <a:p>
            <a:r>
              <a:rPr lang="hu-HU" dirty="0" smtClean="0"/>
              <a:t>A magas </a:t>
            </a:r>
            <a:r>
              <a:rPr lang="hu-HU" dirty="0" err="1" smtClean="0"/>
              <a:t>perplexitás</a:t>
            </a:r>
            <a:r>
              <a:rPr lang="hu-HU" dirty="0" smtClean="0"/>
              <a:t> általában koszos, hibás szövegre utal, amelyre nem számít a modell</a:t>
            </a:r>
          </a:p>
          <a:p>
            <a:r>
              <a:rPr lang="hu-HU" dirty="0" smtClean="0"/>
              <a:t>Ennek köszönhetően a magas </a:t>
            </a:r>
            <a:r>
              <a:rPr lang="hu-HU" dirty="0" err="1" smtClean="0"/>
              <a:t>perplexitás</a:t>
            </a:r>
            <a:r>
              <a:rPr lang="hu-HU" dirty="0" smtClean="0"/>
              <a:t> felhasználható arra, hogy kiszűrjük a szemetet a feldolgozandó szövegből.</a:t>
            </a:r>
          </a:p>
        </p:txBody>
      </p:sp>
    </p:spTree>
    <p:extLst>
      <p:ext uri="{BB962C8B-B14F-4D97-AF65-F5344CB8AC3E}">
        <p14:creationId xmlns:p14="http://schemas.microsoft.com/office/powerpoint/2010/main" val="295151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2269</Words>
  <Application>Microsoft Office PowerPoint</Application>
  <PresentationFormat>Diavetítés a képernyőre (4:3 oldalarány)</PresentationFormat>
  <Paragraphs>173</Paragraphs>
  <Slides>17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18" baseType="lpstr">
      <vt:lpstr>Office-téma</vt:lpstr>
      <vt:lpstr>Természetes nyelvek feldolgozása Valószínűségi nyelvmodellezés</vt:lpstr>
      <vt:lpstr>Probléma</vt:lpstr>
      <vt:lpstr>A nyelv mint sztochasztikus folyamat</vt:lpstr>
      <vt:lpstr>Markov-láncok</vt:lpstr>
      <vt:lpstr>Maximum likelihood-becslés</vt:lpstr>
      <vt:lpstr>Maximum likelihood-becslés</vt:lpstr>
      <vt:lpstr>Maximum likelihood-becslés</vt:lpstr>
      <vt:lpstr>N-gramm-nyelvmodellek</vt:lpstr>
      <vt:lpstr>Trie</vt:lpstr>
      <vt:lpstr>Simítás</vt:lpstr>
      <vt:lpstr>Backoff</vt:lpstr>
      <vt:lpstr>N-gramm-nyelvmodellek alkalmazása</vt:lpstr>
      <vt:lpstr>N-gramm-nyelvmodellek alkalmazása</vt:lpstr>
      <vt:lpstr>Meglepőség és perplexitás</vt:lpstr>
      <vt:lpstr>Perplexitás</vt:lpstr>
      <vt:lpstr>Perplexitás</vt:lpstr>
      <vt:lpstr>Perplexitás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Természetes nyelvek feldolgozása Valószínűségi nyelvmodellezés</dc:title>
  <dc:creator>Anonim</dc:creator>
  <cp:lastModifiedBy>Anonim</cp:lastModifiedBy>
  <cp:revision>22</cp:revision>
  <dcterms:created xsi:type="dcterms:W3CDTF">2025-11-27T21:04:48Z</dcterms:created>
  <dcterms:modified xsi:type="dcterms:W3CDTF">2025-11-28T00:58:17Z</dcterms:modified>
</cp:coreProperties>
</file>